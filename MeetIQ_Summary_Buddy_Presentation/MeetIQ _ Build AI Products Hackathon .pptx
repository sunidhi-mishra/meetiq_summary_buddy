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5143500" cx="9144000"/>
  <p:notesSz cx="6858000" cy="9144000"/>
  <p:embeddedFontLst>
    <p:embeddedFont>
      <p:font typeface="Roboto"/>
      <p:regular r:id="rId23"/>
      <p:bold r:id="rId24"/>
      <p:italic r:id="rId25"/>
      <p:boldItalic r:id="rId26"/>
    </p:embeddedFont>
    <p:embeddedFont>
      <p:font typeface="Inter"/>
      <p:regular r:id="rId27"/>
      <p:bold r:id="rId28"/>
      <p:italic r:id="rId29"/>
      <p:boldItalic r:id="rId30"/>
    </p:embeddedFont>
    <p:embeddedFont>
      <p:font typeface="Roboto Mono"/>
      <p:regular r:id="rId31"/>
      <p:bold r:id="rId32"/>
      <p:italic r:id="rId33"/>
      <p:boldItalic r:id="rId34"/>
    </p:embeddedFont>
    <p:embeddedFont>
      <p:font typeface="JetBrains Mon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76A7EA2-FE08-439B-A426-083CC1B6AA19}">
  <a:tblStyle styleId="{176A7EA2-FE08-439B-A426-083CC1B6AA1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Inter-bold.fntdata"/><Relationship Id="rId27" Type="http://schemas.openxmlformats.org/officeDocument/2006/relationships/font" Target="fonts/Inter-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Inter-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Mono-regular.fntdata"/><Relationship Id="rId30" Type="http://schemas.openxmlformats.org/officeDocument/2006/relationships/font" Target="fonts/Inter-boldItalic.fntdata"/><Relationship Id="rId11" Type="http://schemas.openxmlformats.org/officeDocument/2006/relationships/slide" Target="slides/slide4.xml"/><Relationship Id="rId33" Type="http://schemas.openxmlformats.org/officeDocument/2006/relationships/font" Target="fonts/RobotoMono-italic.fntdata"/><Relationship Id="rId10" Type="http://schemas.openxmlformats.org/officeDocument/2006/relationships/slide" Target="slides/slide3.xml"/><Relationship Id="rId32" Type="http://schemas.openxmlformats.org/officeDocument/2006/relationships/font" Target="fonts/RobotoMono-bold.fntdata"/><Relationship Id="rId13" Type="http://schemas.openxmlformats.org/officeDocument/2006/relationships/slide" Target="slides/slide6.xml"/><Relationship Id="rId35" Type="http://schemas.openxmlformats.org/officeDocument/2006/relationships/font" Target="fonts/JetBrainsMono-regular.fntdata"/><Relationship Id="rId12" Type="http://schemas.openxmlformats.org/officeDocument/2006/relationships/slide" Target="slides/slide5.xml"/><Relationship Id="rId34" Type="http://schemas.openxmlformats.org/officeDocument/2006/relationships/font" Target="fonts/RobotoMono-boldItalic.fntdata"/><Relationship Id="rId15" Type="http://schemas.openxmlformats.org/officeDocument/2006/relationships/slide" Target="slides/slide8.xml"/><Relationship Id="rId37" Type="http://schemas.openxmlformats.org/officeDocument/2006/relationships/font" Target="fonts/JetBrainsMono-italic.fntdata"/><Relationship Id="rId14" Type="http://schemas.openxmlformats.org/officeDocument/2006/relationships/slide" Target="slides/slide7.xml"/><Relationship Id="rId36" Type="http://schemas.openxmlformats.org/officeDocument/2006/relationships/font" Target="fonts/JetBrainsMono-bold.fntdata"/><Relationship Id="rId17" Type="http://schemas.openxmlformats.org/officeDocument/2006/relationships/slide" Target="slides/slide10.xml"/><Relationship Id="rId16" Type="http://schemas.openxmlformats.org/officeDocument/2006/relationships/slide" Target="slides/slide9.xml"/><Relationship Id="rId38" Type="http://schemas.openxmlformats.org/officeDocument/2006/relationships/font" Target="fonts/JetBrainsMono-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h472429ba7c60cfc8_0_3: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h472429ba7c60cfc8_0_3: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100"/>
              <a:buNone/>
            </a:pPr>
            <a:r>
              <a:t/>
            </a:r>
            <a:endParaRPr sz="900"/>
          </a:p>
        </p:txBody>
      </p:sp>
      <p:sp>
        <p:nvSpPr>
          <p:cNvPr id="55" name="Google Shape;55;h472429ba7c60cfc8_0_3: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0" i="0" lang="en" sz="900" u="none" cap="none" strike="noStrike">
                <a:solidFill>
                  <a:srgbClr val="000000"/>
                </a:solidFill>
                <a:latin typeface="Arial"/>
                <a:ea typeface="Arial"/>
                <a:cs typeface="Arial"/>
                <a:sym typeface="Arial"/>
              </a:rPr>
              <a:t>‹#›</a:t>
            </a:fld>
            <a:endParaRPr b="0" i="0" sz="9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bac5a8bd3_3_64: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g3fbac5a8bd3_3_64: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Steps, not screens. Push teams to include internal steps the user never sees.</a:t>
            </a:r>
            <a:endParaRPr sz="900"/>
          </a:p>
        </p:txBody>
      </p:sp>
      <p:sp>
        <p:nvSpPr>
          <p:cNvPr id="72" name="Google Shape;72;g3fbac5a8bd3_3_64: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bb501cc09_0_23: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g3fbb501cc09_0_23: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Two rows, deliberately. If a team needs a third row they have taken on too much.</a:t>
            </a:r>
            <a:endParaRPr sz="900"/>
          </a:p>
        </p:txBody>
      </p:sp>
      <p:sp>
        <p:nvSpPr>
          <p:cNvPr id="151" name="Google Shape;151;g3fbb501cc09_0_23: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h472429ba7c60cfc8_0_23: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h472429ba7c60cfc8_0_23: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A single prompt doing four jobs works in the demo and cannot be edited afterwards.</a:t>
            </a:r>
            <a:endParaRPr sz="900"/>
          </a:p>
        </p:txBody>
      </p:sp>
      <p:sp>
        <p:nvSpPr>
          <p:cNvPr id="171" name="Google Shape;171;h472429ba7c60cfc8_0_23: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fbb501cc09_0_136: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g3fbb501cc09_0_136: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Block 4 is greyed on purpose. Tools have not been taught yet.</a:t>
            </a:r>
            <a:endParaRPr sz="900"/>
          </a:p>
        </p:txBody>
      </p:sp>
      <p:sp>
        <p:nvSpPr>
          <p:cNvPr id="211" name="Google Shape;211;g3fbb501cc09_0_136: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fbac5a8bd3_3_215: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g3fbac5a8bd3_3_215: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Block 4 is greyed on purpose. Tools have not been taught yet.</a:t>
            </a:r>
            <a:endParaRPr sz="900"/>
          </a:p>
        </p:txBody>
      </p:sp>
      <p:sp>
        <p:nvSpPr>
          <p:cNvPr id="244" name="Google Shape;244;g3fbac5a8bd3_3_215: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bac5a8bd3_3_249: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g3fbac5a8bd3_3_249: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All four arrive together. Most teams write one and forget the other three.</a:t>
            </a:r>
            <a:endParaRPr sz="900"/>
          </a:p>
        </p:txBody>
      </p:sp>
      <p:sp>
        <p:nvSpPr>
          <p:cNvPr id="277" name="Google Shape;277;g3fbac5a8bd3_3_249: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fbac5a8bd3_3_281: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g3fbac5a8bd3_3_281: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A blank E is the most expensive box on the slide.</a:t>
            </a:r>
            <a:endParaRPr sz="900"/>
          </a:p>
        </p:txBody>
      </p:sp>
      <p:sp>
        <p:nvSpPr>
          <p:cNvPr id="308" name="Google Shape;308;g3fbac5a8bd3_3_281: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fbac5a8bd3_3_316: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g3fbac5a8bd3_3_316: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The fourth column is the honest one.</a:t>
            </a:r>
            <a:endParaRPr sz="900"/>
          </a:p>
        </p:txBody>
      </p:sp>
      <p:sp>
        <p:nvSpPr>
          <p:cNvPr id="343" name="Google Shape;343;g3fbac5a8bd3_3_316: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fbac5a8bd3_3_361: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g3fbac5a8bd3_3_361: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The most useful page for designing the next hackathon. Push teams to fill it honestly.</a:t>
            </a:r>
            <a:endParaRPr sz="900"/>
          </a:p>
        </p:txBody>
      </p:sp>
      <p:sp>
        <p:nvSpPr>
          <p:cNvPr id="399" name="Google Shape;399;g3fbac5a8bd3_3_361: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fbac5a8bd3_3_380: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g3fbac5a8bd3_3_380: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Option A teams answer no to both. That is a legitimate answer, not a failure.</a:t>
            </a:r>
            <a:endParaRPr sz="900"/>
          </a:p>
        </p:txBody>
      </p:sp>
      <p:sp>
        <p:nvSpPr>
          <p:cNvPr id="413" name="Google Shape;413;g3fbac5a8bd3_3_380: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fbac5a8bd3_3_416: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g3fbac5a8bd3_3_416: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Open the link on a phone on mobile data.</a:t>
            </a:r>
            <a:endParaRPr sz="900"/>
          </a:p>
        </p:txBody>
      </p:sp>
      <p:sp>
        <p:nvSpPr>
          <p:cNvPr id="464" name="Google Shape;464;g3fbac5a8bd3_3_416: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fbb501cc09_0_309: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g3fbb501cc09_0_309: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Leaving a hole unplugged on purpose is a good answer. Not having noticed it is not.</a:t>
            </a:r>
            <a:endParaRPr sz="900"/>
          </a:p>
        </p:txBody>
      </p:sp>
      <p:sp>
        <p:nvSpPr>
          <p:cNvPr id="489" name="Google Shape;489;g3fbb501cc09_0_309: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fbac5a8bd3_3_443: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g3fbac5a8bd3_3_443: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Leaving a hole unplugged on purpose is a good answer. Not having noticed it is not.</a:t>
            </a:r>
            <a:endParaRPr sz="900"/>
          </a:p>
        </p:txBody>
      </p:sp>
      <p:sp>
        <p:nvSpPr>
          <p:cNvPr id="512" name="Google Shape;512;g3fbac5a8bd3_3_443: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h472429ba7c60cfc8_0_11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h472429ba7c60cfc8_0_11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100"/>
              <a:buNone/>
            </a:pPr>
            <a:r>
              <a:t/>
            </a:r>
            <a:endParaRPr sz="900"/>
          </a:p>
        </p:txBody>
      </p:sp>
      <p:sp>
        <p:nvSpPr>
          <p:cNvPr id="522" name="Google Shape;522;h472429ba7c60cfc8_0_11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0" i="0" lang="en" sz="900" u="none" cap="none" strike="noStrike">
                <a:solidFill>
                  <a:srgbClr val="000000"/>
                </a:solidFill>
                <a:latin typeface="Arial"/>
                <a:ea typeface="Arial"/>
                <a:cs typeface="Arial"/>
                <a:sym typeface="Arial"/>
              </a:rPr>
              <a:t>‹#›</a:t>
            </a:fld>
            <a:endParaRPr b="0" i="0" sz="9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meetiq-summary-buddy.lovable.app/" TargetMode="External"/><Relationship Id="rId4" Type="http://schemas.openxmlformats.org/officeDocument/2006/relationships/hyperlink" Target="https://meetiq-summary-buddy.lovable.app/"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hyperlink" Target="https://meetiq-summary-buddy.lovable.app/"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hyperlink" Target="https://meetiq-summary-buddy.lovable.app/" TargetMode="External"/><Relationship Id="rId4" Type="http://schemas.openxmlformats.org/officeDocument/2006/relationships/hyperlink" Target="https://meetiq-summary-buddy.lovable.app/" TargetMode="External"/><Relationship Id="rId5" Type="http://schemas.openxmlformats.org/officeDocument/2006/relationships/hyperlink" Target="https://meetiq-summary-buddy.lovable.ap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2E"/>
        </a:solidFill>
      </p:bgPr>
    </p:bg>
    <p:spTree>
      <p:nvGrpSpPr>
        <p:cNvPr id="56" name="Shape 56"/>
        <p:cNvGrpSpPr/>
        <p:nvPr/>
      </p:nvGrpSpPr>
      <p:grpSpPr>
        <a:xfrm>
          <a:off x="0" y="0"/>
          <a:ext cx="0" cy="0"/>
          <a:chOff x="0" y="0"/>
          <a:chExt cx="0" cy="0"/>
        </a:xfrm>
      </p:grpSpPr>
      <p:sp>
        <p:nvSpPr>
          <p:cNvPr id="57" name="Google Shape;57;p15"/>
          <p:cNvSpPr/>
          <p:nvPr/>
        </p:nvSpPr>
        <p:spPr>
          <a:xfrm>
            <a:off x="457200" y="342900"/>
            <a:ext cx="716100" cy="142800"/>
          </a:xfrm>
          <a:prstGeom prst="rect">
            <a:avLst/>
          </a:prstGeom>
          <a:noFill/>
          <a:ln>
            <a:noFill/>
          </a:ln>
        </p:spPr>
        <p:txBody>
          <a:bodyPr anchorCtr="0" anchor="t" bIns="12700" lIns="12700" spcFirstLastPara="1" rIns="12700" wrap="square" tIns="12700">
            <a:noAutofit/>
          </a:bodyPr>
          <a:lstStyle/>
          <a:p>
            <a:pPr indent="0" lvl="0" marL="0" marR="0" rtl="0" algn="l">
              <a:lnSpc>
                <a:spcPct val="83333"/>
              </a:lnSpc>
              <a:spcBef>
                <a:spcPts val="0"/>
              </a:spcBef>
              <a:spcAft>
                <a:spcPts val="0"/>
              </a:spcAft>
              <a:buClr>
                <a:srgbClr val="C4B5FD"/>
              </a:buClr>
              <a:buSzPts val="1000"/>
              <a:buFont typeface="Inter"/>
              <a:buNone/>
            </a:pPr>
            <a:r>
              <a:rPr b="1" i="0" lang="en" sz="1000" u="none" cap="none" strike="noStrike">
                <a:solidFill>
                  <a:srgbClr val="C4B5FD"/>
                </a:solidFill>
                <a:latin typeface="Inter"/>
                <a:ea typeface="Inter"/>
                <a:cs typeface="Inter"/>
                <a:sym typeface="Inter"/>
              </a:rPr>
              <a:t>MeetIQ</a:t>
            </a:r>
            <a:endParaRPr b="0" i="0" sz="1000" u="none" cap="none" strike="noStrike">
              <a:solidFill>
                <a:schemeClr val="dk1"/>
              </a:solidFill>
              <a:latin typeface="Calibri"/>
              <a:ea typeface="Calibri"/>
              <a:cs typeface="Calibri"/>
              <a:sym typeface="Calibri"/>
            </a:endParaRPr>
          </a:p>
        </p:txBody>
      </p:sp>
      <p:sp>
        <p:nvSpPr>
          <p:cNvPr id="58" name="Google Shape;58;p15"/>
          <p:cNvSpPr/>
          <p:nvPr/>
        </p:nvSpPr>
        <p:spPr>
          <a:xfrm>
            <a:off x="457200" y="1367969"/>
            <a:ext cx="571500" cy="33300"/>
          </a:xfrm>
          <a:prstGeom prst="rect">
            <a:avLst/>
          </a:prstGeom>
          <a:solidFill>
            <a:srgbClr val="7C3AED"/>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5"/>
          <p:cNvSpPr/>
          <p:nvPr/>
        </p:nvSpPr>
        <p:spPr>
          <a:xfrm>
            <a:off x="457200" y="1610856"/>
            <a:ext cx="8476500" cy="1176600"/>
          </a:xfrm>
          <a:prstGeom prst="rect">
            <a:avLst/>
          </a:prstGeom>
          <a:noFill/>
          <a:ln>
            <a:noFill/>
          </a:ln>
        </p:spPr>
        <p:txBody>
          <a:bodyPr anchorCtr="0" anchor="t" bIns="12700" lIns="12700" spcFirstLastPara="1" rIns="12700" wrap="square" tIns="12700">
            <a:noAutofit/>
          </a:bodyPr>
          <a:lstStyle/>
          <a:p>
            <a:pPr indent="0" lvl="0" marL="0" marR="0" rtl="0" algn="l">
              <a:lnSpc>
                <a:spcPct val="81230"/>
              </a:lnSpc>
              <a:spcBef>
                <a:spcPts val="0"/>
              </a:spcBef>
              <a:spcAft>
                <a:spcPts val="0"/>
              </a:spcAft>
              <a:buClr>
                <a:srgbClr val="FFFFFF"/>
              </a:buClr>
              <a:buSzPts val="4700"/>
              <a:buFont typeface="Inter"/>
              <a:buNone/>
            </a:pPr>
            <a:r>
              <a:rPr b="1" i="0" lang="en" sz="4700" u="none" cap="none" strike="noStrike">
                <a:solidFill>
                  <a:srgbClr val="FFFFFF"/>
                </a:solidFill>
                <a:latin typeface="Inter"/>
                <a:ea typeface="Inter"/>
                <a:cs typeface="Inter"/>
                <a:sym typeface="Inter"/>
              </a:rPr>
              <a:t>MeetIQ</a:t>
            </a:r>
            <a:endParaRPr b="0" i="0" sz="4700" u="none" cap="none" strike="noStrike">
              <a:solidFill>
                <a:schemeClr val="dk1"/>
              </a:solidFill>
              <a:latin typeface="Calibri"/>
              <a:ea typeface="Calibri"/>
              <a:cs typeface="Calibri"/>
              <a:sym typeface="Calibri"/>
            </a:endParaRPr>
          </a:p>
        </p:txBody>
      </p:sp>
      <p:sp>
        <p:nvSpPr>
          <p:cNvPr id="60" name="Google Shape;60;p15"/>
          <p:cNvSpPr/>
          <p:nvPr/>
        </p:nvSpPr>
        <p:spPr>
          <a:xfrm>
            <a:off x="457200" y="2939713"/>
            <a:ext cx="6181800" cy="237600"/>
          </a:xfrm>
          <a:prstGeom prst="rect">
            <a:avLst/>
          </a:prstGeom>
          <a:noFill/>
          <a:ln>
            <a:noFill/>
          </a:ln>
        </p:spPr>
        <p:txBody>
          <a:bodyPr anchorCtr="0" anchor="t" bIns="12700" lIns="12700" spcFirstLastPara="1" rIns="12700" wrap="square" tIns="12700">
            <a:noAutofit/>
          </a:bodyPr>
          <a:lstStyle/>
          <a:p>
            <a:pPr indent="0" lvl="0" marL="0" marR="0" rtl="0" algn="l">
              <a:lnSpc>
                <a:spcPct val="112500"/>
              </a:lnSpc>
              <a:spcBef>
                <a:spcPts val="0"/>
              </a:spcBef>
              <a:spcAft>
                <a:spcPts val="0"/>
              </a:spcAft>
              <a:buClr>
                <a:srgbClr val="EDE9FE"/>
              </a:buClr>
              <a:buSzPts val="1300"/>
              <a:buFont typeface="Inter"/>
              <a:buNone/>
            </a:pPr>
            <a:r>
              <a:rPr lang="en" sz="1300">
                <a:solidFill>
                  <a:srgbClr val="EDE9FE"/>
                </a:solidFill>
                <a:latin typeface="Inter"/>
                <a:ea typeface="Inter"/>
                <a:cs typeface="Inter"/>
                <a:sym typeface="Inter"/>
              </a:rPr>
              <a:t>AI meeting accountability — from spec to shipped</a:t>
            </a:r>
            <a:endParaRPr b="0" i="0" sz="1300" u="none" cap="none" strike="noStrike">
              <a:solidFill>
                <a:schemeClr val="dk1"/>
              </a:solidFill>
              <a:latin typeface="Calibri"/>
              <a:ea typeface="Calibri"/>
              <a:cs typeface="Calibri"/>
              <a:sym typeface="Calibri"/>
            </a:endParaRPr>
          </a:p>
        </p:txBody>
      </p:sp>
      <p:sp>
        <p:nvSpPr>
          <p:cNvPr id="61" name="Google Shape;61;p15"/>
          <p:cNvSpPr/>
          <p:nvPr/>
        </p:nvSpPr>
        <p:spPr>
          <a:xfrm>
            <a:off x="457200" y="3244037"/>
            <a:ext cx="5788200" cy="419100"/>
          </a:xfrm>
          <a:prstGeom prst="rect">
            <a:avLst/>
          </a:prstGeom>
          <a:noFill/>
          <a:ln>
            <a:noFill/>
          </a:ln>
        </p:spPr>
        <p:txBody>
          <a:bodyPr anchorCtr="0" anchor="t" bIns="12700" lIns="12700" spcFirstLastPara="1" rIns="12700" wrap="square" tIns="12700">
            <a:noAutofit/>
          </a:bodyPr>
          <a:lstStyle/>
          <a:p>
            <a:pPr indent="0" lvl="0" marL="0" marR="0" rtl="0" algn="l">
              <a:lnSpc>
                <a:spcPct val="125000"/>
              </a:lnSpc>
              <a:spcBef>
                <a:spcPts val="0"/>
              </a:spcBef>
              <a:spcAft>
                <a:spcPts val="0"/>
              </a:spcAft>
              <a:buClr>
                <a:srgbClr val="6B7280"/>
              </a:buClr>
              <a:buSzPts val="1100"/>
              <a:buFont typeface="Inter"/>
              <a:buNone/>
            </a:pPr>
            <a:r>
              <a:rPr b="0" i="0" lang="en" sz="1100" u="none" cap="none" strike="noStrike">
                <a:solidFill>
                  <a:srgbClr val="6B7280"/>
                </a:solidFill>
                <a:latin typeface="Inter"/>
                <a:ea typeface="Inter"/>
                <a:cs typeface="Inter"/>
                <a:sym typeface="Inter"/>
              </a:rPr>
              <a:t>Paste a transcript. Get decisions, action items, and commitments — classified, cited, and ready to act on.</a:t>
            </a:r>
            <a:endParaRPr b="0" i="0" sz="1100" u="none" cap="none" strike="noStrike">
              <a:solidFill>
                <a:schemeClr val="dk1"/>
              </a:solidFill>
              <a:latin typeface="Calibri"/>
              <a:ea typeface="Calibri"/>
              <a:cs typeface="Calibri"/>
              <a:sym typeface="Calibri"/>
            </a:endParaRPr>
          </a:p>
        </p:txBody>
      </p:sp>
      <p:sp>
        <p:nvSpPr>
          <p:cNvPr id="62" name="Google Shape;62;p15"/>
          <p:cNvSpPr/>
          <p:nvPr/>
        </p:nvSpPr>
        <p:spPr>
          <a:xfrm>
            <a:off x="457200" y="4545330"/>
            <a:ext cx="1322100" cy="255300"/>
          </a:xfrm>
          <a:prstGeom prst="rect">
            <a:avLst/>
          </a:prstGeom>
          <a:no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5"/>
          <p:cNvSpPr/>
          <p:nvPr/>
        </p:nvSpPr>
        <p:spPr>
          <a:xfrm>
            <a:off x="575310" y="4625340"/>
            <a:ext cx="1125600" cy="114300"/>
          </a:xfrm>
          <a:prstGeom prst="rect">
            <a:avLst/>
          </a:prstGeom>
          <a:noFill/>
          <a:ln>
            <a:noFill/>
          </a:ln>
        </p:spPr>
        <p:txBody>
          <a:bodyPr anchorCtr="0" anchor="ctr" bIns="12700" lIns="12700" spcFirstLastPara="1" rIns="12700" wrap="square" tIns="12700">
            <a:noAutofit/>
          </a:bodyPr>
          <a:lstStyle/>
          <a:p>
            <a:pPr indent="0" lvl="0" marL="0" marR="0" rtl="0" algn="l">
              <a:lnSpc>
                <a:spcPct val="73529"/>
              </a:lnSpc>
              <a:spcBef>
                <a:spcPts val="0"/>
              </a:spcBef>
              <a:spcAft>
                <a:spcPts val="0"/>
              </a:spcAft>
              <a:buClr>
                <a:srgbClr val="C4B5FD"/>
              </a:buClr>
              <a:buSzPts val="800"/>
              <a:buFont typeface="JetBrains Mono"/>
              <a:buNone/>
            </a:pPr>
            <a:r>
              <a:t/>
            </a:r>
            <a:endParaRPr b="0" i="0" sz="800" u="none" cap="none" strike="noStrike">
              <a:solidFill>
                <a:schemeClr val="dk1"/>
              </a:solidFill>
              <a:latin typeface="Calibri"/>
              <a:ea typeface="Calibri"/>
              <a:cs typeface="Calibri"/>
              <a:sym typeface="Calibri"/>
            </a:endParaRPr>
          </a:p>
        </p:txBody>
      </p:sp>
      <p:sp>
        <p:nvSpPr>
          <p:cNvPr id="64" name="Google Shape;64;p15"/>
          <p:cNvSpPr/>
          <p:nvPr/>
        </p:nvSpPr>
        <p:spPr>
          <a:xfrm>
            <a:off x="1845945" y="4545330"/>
            <a:ext cx="1249800" cy="255300"/>
          </a:xfrm>
          <a:prstGeom prst="rect">
            <a:avLst/>
          </a:prstGeom>
          <a:no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5"/>
          <p:cNvSpPr/>
          <p:nvPr/>
        </p:nvSpPr>
        <p:spPr>
          <a:xfrm>
            <a:off x="1964055" y="4625340"/>
            <a:ext cx="1051500" cy="114300"/>
          </a:xfrm>
          <a:prstGeom prst="rect">
            <a:avLst/>
          </a:prstGeom>
          <a:noFill/>
          <a:ln>
            <a:noFill/>
          </a:ln>
        </p:spPr>
        <p:txBody>
          <a:bodyPr anchorCtr="0" anchor="ctr" bIns="12700" lIns="12700" spcFirstLastPara="1" rIns="12700" wrap="square" tIns="12700">
            <a:noAutofit/>
          </a:bodyPr>
          <a:lstStyle/>
          <a:p>
            <a:pPr indent="0" lvl="0" marL="0" marR="0" rtl="0" algn="l">
              <a:lnSpc>
                <a:spcPct val="73529"/>
              </a:lnSpc>
              <a:spcBef>
                <a:spcPts val="0"/>
              </a:spcBef>
              <a:spcAft>
                <a:spcPts val="0"/>
              </a:spcAft>
              <a:buClr>
                <a:srgbClr val="C4B5FD"/>
              </a:buClr>
              <a:buSzPts val="800"/>
              <a:buFont typeface="JetBrains Mono"/>
              <a:buNone/>
            </a:pPr>
            <a:r>
              <a:t/>
            </a:r>
            <a:endParaRPr b="0" i="0" sz="800" u="none" cap="none" strike="noStrike">
              <a:solidFill>
                <a:schemeClr val="dk1"/>
              </a:solidFill>
              <a:latin typeface="Calibri"/>
              <a:ea typeface="Calibri"/>
              <a:cs typeface="Calibri"/>
              <a:sym typeface="Calibri"/>
            </a:endParaRPr>
          </a:p>
        </p:txBody>
      </p:sp>
      <p:sp>
        <p:nvSpPr>
          <p:cNvPr id="66" name="Google Shape;66;p15"/>
          <p:cNvSpPr/>
          <p:nvPr/>
        </p:nvSpPr>
        <p:spPr>
          <a:xfrm>
            <a:off x="3162300" y="4545330"/>
            <a:ext cx="1394400" cy="255300"/>
          </a:xfrm>
          <a:prstGeom prst="rect">
            <a:avLst/>
          </a:prstGeom>
          <a:no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5"/>
          <p:cNvSpPr/>
          <p:nvPr/>
        </p:nvSpPr>
        <p:spPr>
          <a:xfrm>
            <a:off x="3280410" y="4625340"/>
            <a:ext cx="1200000" cy="114300"/>
          </a:xfrm>
          <a:prstGeom prst="rect">
            <a:avLst/>
          </a:prstGeom>
          <a:noFill/>
          <a:ln>
            <a:noFill/>
          </a:ln>
        </p:spPr>
        <p:txBody>
          <a:bodyPr anchorCtr="0" anchor="ctr" bIns="12700" lIns="12700" spcFirstLastPara="1" rIns="12700" wrap="square" tIns="12700">
            <a:noAutofit/>
          </a:bodyPr>
          <a:lstStyle/>
          <a:p>
            <a:pPr indent="0" lvl="0" marL="0" marR="0" rtl="0" algn="l">
              <a:lnSpc>
                <a:spcPct val="73529"/>
              </a:lnSpc>
              <a:spcBef>
                <a:spcPts val="0"/>
              </a:spcBef>
              <a:spcAft>
                <a:spcPts val="0"/>
              </a:spcAft>
              <a:buClr>
                <a:srgbClr val="C4B5FD"/>
              </a:buClr>
              <a:buSzPts val="800"/>
              <a:buFont typeface="JetBrains Mono"/>
              <a:buNone/>
            </a:pPr>
            <a:r>
              <a:t/>
            </a:r>
            <a:endParaRPr b="0" i="0" sz="800" u="none" cap="none" strike="noStrike">
              <a:solidFill>
                <a:schemeClr val="dk1"/>
              </a:solidFill>
              <a:latin typeface="Calibri"/>
              <a:ea typeface="Calibri"/>
              <a:cs typeface="Calibri"/>
              <a:sym typeface="Calibri"/>
            </a:endParaRPr>
          </a:p>
        </p:txBody>
      </p:sp>
      <p:sp>
        <p:nvSpPr>
          <p:cNvPr id="68" name="Google Shape;68;p15"/>
          <p:cNvSpPr/>
          <p:nvPr/>
        </p:nvSpPr>
        <p:spPr>
          <a:xfrm>
            <a:off x="586277" y="4604736"/>
            <a:ext cx="3336000" cy="138000"/>
          </a:xfrm>
          <a:prstGeom prst="rect">
            <a:avLst/>
          </a:prstGeom>
          <a:noFill/>
          <a:ln>
            <a:noFill/>
          </a:ln>
        </p:spPr>
        <p:txBody>
          <a:bodyPr anchorCtr="0" anchor="t" bIns="12700" lIns="12700" spcFirstLastPara="1" rIns="12700" wrap="square" tIns="12700">
            <a:noAutofit/>
          </a:bodyPr>
          <a:lstStyle/>
          <a:p>
            <a:pPr indent="0" lvl="0" marL="0" marR="0" rtl="0" algn="l">
              <a:lnSpc>
                <a:spcPct val="76220"/>
              </a:lnSpc>
              <a:spcBef>
                <a:spcPts val="0"/>
              </a:spcBef>
              <a:spcAft>
                <a:spcPts val="0"/>
              </a:spcAft>
              <a:buClr>
                <a:srgbClr val="6B7280"/>
              </a:buClr>
              <a:buSzPts val="900"/>
              <a:buFont typeface="JetBrains Mono"/>
              <a:buNone/>
            </a:pPr>
            <a:r>
              <a:rPr lang="en" sz="900">
                <a:solidFill>
                  <a:schemeClr val="lt1"/>
                </a:solidFill>
              </a:rPr>
              <a:t>Live URL: </a:t>
            </a:r>
            <a:r>
              <a:rPr lang="en" sz="900" u="sng">
                <a:solidFill>
                  <a:schemeClr val="hlink"/>
                </a:solidFill>
                <a:latin typeface="JetBrains Mono"/>
                <a:ea typeface="JetBrains Mono"/>
                <a:cs typeface="JetBrains Mono"/>
                <a:sym typeface="JetBrains Mono"/>
                <a:hlinkClick r:id="rId3"/>
              </a:rPr>
              <a:t>h</a:t>
            </a:r>
            <a:r>
              <a:rPr lang="en" sz="900" u="sng">
                <a:solidFill>
                  <a:schemeClr val="hlink"/>
                </a:solidFill>
                <a:latin typeface="JetBrains Mono"/>
                <a:ea typeface="JetBrains Mono"/>
                <a:cs typeface="JetBrains Mono"/>
                <a:sym typeface="JetBrains Mono"/>
                <a:hlinkClick r:id="rId4"/>
              </a:rPr>
              <a:t>ttps://meetiq-summary-buddy.lovable.app/</a:t>
            </a:r>
            <a:endParaRPr sz="900">
              <a:solidFill>
                <a:srgbClr val="6B7280"/>
              </a:solidFill>
              <a:latin typeface="JetBrains Mono"/>
              <a:ea typeface="JetBrains Mono"/>
              <a:cs typeface="JetBrains Mono"/>
              <a:sym typeface="JetBrains Mono"/>
            </a:endParaRPr>
          </a:p>
          <a:p>
            <a:pPr indent="0" lvl="0" marL="0" marR="0" rtl="0" algn="l">
              <a:lnSpc>
                <a:spcPct val="76220"/>
              </a:lnSpc>
              <a:spcBef>
                <a:spcPts val="0"/>
              </a:spcBef>
              <a:spcAft>
                <a:spcPts val="0"/>
              </a:spcAft>
              <a:buClr>
                <a:srgbClr val="6B7280"/>
              </a:buClr>
              <a:buSzPts val="900"/>
              <a:buFont typeface="JetBrains Mono"/>
              <a:buNone/>
            </a:pPr>
            <a:r>
              <a:t/>
            </a:r>
            <a:endParaRPr sz="900">
              <a:solidFill>
                <a:srgbClr val="6B7280"/>
              </a:solidFill>
              <a:latin typeface="JetBrains Mono"/>
              <a:ea typeface="JetBrains Mono"/>
              <a:cs typeface="JetBrains Mono"/>
              <a:sym typeface="JetBrains Mo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C"/>
        </a:solidFill>
      </p:bgPr>
    </p:bg>
    <p:spTree>
      <p:nvGrpSpPr>
        <p:cNvPr id="73" name="Shape 73"/>
        <p:cNvGrpSpPr/>
        <p:nvPr/>
      </p:nvGrpSpPr>
      <p:grpSpPr>
        <a:xfrm>
          <a:off x="0" y="0"/>
          <a:ext cx="0" cy="0"/>
          <a:chOff x="0" y="0"/>
          <a:chExt cx="0" cy="0"/>
        </a:xfrm>
      </p:grpSpPr>
      <p:sp>
        <p:nvSpPr>
          <p:cNvPr id="74" name="Google Shape;74;p16"/>
          <p:cNvSpPr/>
          <p:nvPr/>
        </p:nvSpPr>
        <p:spPr>
          <a:xfrm>
            <a:off x="457200" y="528638"/>
            <a:ext cx="9052560" cy="320218"/>
          </a:xfrm>
          <a:prstGeom prst="rect">
            <a:avLst/>
          </a:prstGeom>
          <a:noFill/>
          <a:ln>
            <a:noFill/>
          </a:ln>
        </p:spPr>
        <p:txBody>
          <a:bodyPr anchorCtr="0" anchor="t" bIns="12700" lIns="12700" spcFirstLastPara="1" rIns="12700" wrap="square" tIns="12700">
            <a:noAutofit/>
          </a:bodyPr>
          <a:lstStyle/>
          <a:p>
            <a:pPr indent="0" lvl="0" marL="0" marR="0" rtl="0" algn="l">
              <a:lnSpc>
                <a:spcPct val="84096"/>
              </a:lnSpc>
              <a:spcBef>
                <a:spcPts val="0"/>
              </a:spcBef>
              <a:spcAft>
                <a:spcPts val="0"/>
              </a:spcAft>
              <a:buClr>
                <a:srgbClr val="1F2937"/>
              </a:buClr>
              <a:buSzPts val="2300"/>
              <a:buFont typeface="Inter"/>
              <a:buNone/>
            </a:pPr>
            <a:r>
              <a:rPr b="1" i="0" lang="en" sz="2300" u="none" cap="none" strike="noStrike">
                <a:solidFill>
                  <a:srgbClr val="1F2937"/>
                </a:solidFill>
                <a:latin typeface="Inter"/>
                <a:ea typeface="Inter"/>
                <a:cs typeface="Inter"/>
                <a:sym typeface="Inter"/>
              </a:rPr>
              <a:t>The workflow, written as steps</a:t>
            </a:r>
            <a:endParaRPr b="0" i="0" sz="2300" u="none" cap="none" strike="noStrike">
              <a:solidFill>
                <a:schemeClr val="dk1"/>
              </a:solidFill>
              <a:latin typeface="Calibri"/>
              <a:ea typeface="Calibri"/>
              <a:cs typeface="Calibri"/>
              <a:sym typeface="Calibri"/>
            </a:endParaRPr>
          </a:p>
        </p:txBody>
      </p:sp>
      <p:sp>
        <p:nvSpPr>
          <p:cNvPr id="75" name="Google Shape;75;p16"/>
          <p:cNvSpPr/>
          <p:nvPr/>
        </p:nvSpPr>
        <p:spPr>
          <a:xfrm>
            <a:off x="457200" y="906006"/>
            <a:ext cx="6810375" cy="191691"/>
          </a:xfrm>
          <a:prstGeom prst="rect">
            <a:avLst/>
          </a:prstGeom>
          <a:noFill/>
          <a:ln>
            <a:noFill/>
          </a:ln>
        </p:spPr>
        <p:txBody>
          <a:bodyPr anchorCtr="0" anchor="t" bIns="12700" lIns="12700" spcFirstLastPara="1" rIns="12700" wrap="square" tIns="12700">
            <a:noAutofit/>
          </a:bodyPr>
          <a:lstStyle/>
          <a:p>
            <a:pPr indent="0" lvl="0" marL="0" rtl="0" algn="l">
              <a:lnSpc>
                <a:spcPct val="119243"/>
              </a:lnSpc>
              <a:spcBef>
                <a:spcPts val="0"/>
              </a:spcBef>
              <a:spcAft>
                <a:spcPts val="0"/>
              </a:spcAft>
              <a:buClr>
                <a:srgbClr val="4B5563"/>
              </a:buClr>
              <a:buSzPts val="900"/>
              <a:buFont typeface="Inter"/>
              <a:buNone/>
            </a:pPr>
            <a:r>
              <a:rPr lang="en" sz="900">
                <a:solidFill>
                  <a:srgbClr val="4B5563"/>
                </a:solidFill>
                <a:latin typeface="Inter"/>
                <a:ea typeface="Inter"/>
                <a:cs typeface="Inter"/>
                <a:sym typeface="Inter"/>
              </a:rPr>
              <a:t>Eight steps mapped. Five were manual (H). Two AI holes identified.</a:t>
            </a:r>
            <a:endParaRPr sz="900">
              <a:solidFill>
                <a:schemeClr val="dk1"/>
              </a:solidFill>
              <a:latin typeface="Calibri"/>
              <a:ea typeface="Calibri"/>
              <a:cs typeface="Calibri"/>
              <a:sym typeface="Calibri"/>
            </a:endParaRPr>
          </a:p>
          <a:p>
            <a:pPr indent="0" lvl="0" marL="0" marR="0" rtl="0" algn="l">
              <a:lnSpc>
                <a:spcPct val="119243"/>
              </a:lnSpc>
              <a:spcBef>
                <a:spcPts val="0"/>
              </a:spcBef>
              <a:spcAft>
                <a:spcPts val="0"/>
              </a:spcAft>
              <a:buClr>
                <a:srgbClr val="4B5563"/>
              </a:buClr>
              <a:buSzPts val="900"/>
              <a:buFont typeface="Inter"/>
              <a:buNone/>
            </a:pPr>
            <a:r>
              <a:t/>
            </a:r>
            <a:endParaRPr sz="900">
              <a:solidFill>
                <a:schemeClr val="dk1"/>
              </a:solidFill>
              <a:latin typeface="Calibri"/>
              <a:ea typeface="Calibri"/>
              <a:cs typeface="Calibri"/>
              <a:sym typeface="Calibri"/>
            </a:endParaRPr>
          </a:p>
        </p:txBody>
      </p:sp>
      <p:sp>
        <p:nvSpPr>
          <p:cNvPr id="76" name="Google Shape;76;p16"/>
          <p:cNvSpPr/>
          <p:nvPr/>
        </p:nvSpPr>
        <p:spPr>
          <a:xfrm>
            <a:off x="457200" y="1221522"/>
            <a:ext cx="8229600" cy="2610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7" name="Google Shape;77;p16"/>
          <p:cNvSpPr/>
          <p:nvPr/>
        </p:nvSpPr>
        <p:spPr>
          <a:xfrm>
            <a:off x="461010" y="1225331"/>
            <a:ext cx="8221980" cy="365760"/>
          </a:xfrm>
          <a:prstGeom prst="rect">
            <a:avLst/>
          </a:prstGeom>
          <a:solidFill>
            <a:srgbClr val="F5F3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8" name="Google Shape;78;p16"/>
          <p:cNvSpPr/>
          <p:nvPr/>
        </p:nvSpPr>
        <p:spPr>
          <a:xfrm>
            <a:off x="461010" y="1587282"/>
            <a:ext cx="8221980" cy="4763"/>
          </a:xfrm>
          <a:prstGeom prst="rect">
            <a:avLst/>
          </a:prstGeom>
          <a:solidFill>
            <a:srgbClr val="E5E7E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9" name="Google Shape;79;p16"/>
          <p:cNvSpPr/>
          <p:nvPr/>
        </p:nvSpPr>
        <p:spPr>
          <a:xfrm>
            <a:off x="565785" y="1292007"/>
            <a:ext cx="257175" cy="2476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a:t>
            </a:r>
            <a:endParaRPr b="0" i="0" sz="900" u="none" cap="none" strike="noStrike">
              <a:solidFill>
                <a:schemeClr val="dk1"/>
              </a:solidFill>
              <a:latin typeface="Calibri"/>
              <a:ea typeface="Calibri"/>
              <a:cs typeface="Calibri"/>
              <a:sym typeface="Calibri"/>
            </a:endParaRPr>
          </a:p>
        </p:txBody>
      </p:sp>
      <p:sp>
        <p:nvSpPr>
          <p:cNvPr id="80" name="Google Shape;80;p16"/>
          <p:cNvSpPr/>
          <p:nvPr/>
        </p:nvSpPr>
        <p:spPr>
          <a:xfrm>
            <a:off x="994410" y="1292007"/>
            <a:ext cx="4383844" cy="2476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THE STEP</a:t>
            </a:r>
            <a:endParaRPr b="0" i="0" sz="900" u="none" cap="none" strike="noStrike">
              <a:solidFill>
                <a:schemeClr val="dk1"/>
              </a:solidFill>
              <a:latin typeface="Calibri"/>
              <a:ea typeface="Calibri"/>
              <a:cs typeface="Calibri"/>
              <a:sym typeface="Calibri"/>
            </a:endParaRPr>
          </a:p>
        </p:txBody>
      </p:sp>
      <p:sp>
        <p:nvSpPr>
          <p:cNvPr id="81" name="Google Shape;81;p16"/>
          <p:cNvSpPr/>
          <p:nvPr/>
        </p:nvSpPr>
        <p:spPr>
          <a:xfrm>
            <a:off x="5454016" y="1292007"/>
            <a:ext cx="2341245" cy="2476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WHO DOES IT TODAY</a:t>
            </a:r>
            <a:endParaRPr b="0" i="0" sz="900" u="none" cap="none" strike="noStrike">
              <a:solidFill>
                <a:schemeClr val="dk1"/>
              </a:solidFill>
              <a:latin typeface="Calibri"/>
              <a:ea typeface="Calibri"/>
              <a:cs typeface="Calibri"/>
              <a:sym typeface="Calibri"/>
            </a:endParaRPr>
          </a:p>
        </p:txBody>
      </p:sp>
      <p:sp>
        <p:nvSpPr>
          <p:cNvPr id="82" name="Google Shape;82;p16"/>
          <p:cNvSpPr/>
          <p:nvPr/>
        </p:nvSpPr>
        <p:spPr>
          <a:xfrm>
            <a:off x="7930516" y="1292007"/>
            <a:ext cx="685800" cy="2476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H / M / A</a:t>
            </a:r>
            <a:endParaRPr b="0" i="0" sz="900" u="none" cap="none" strike="noStrike">
              <a:solidFill>
                <a:schemeClr val="dk1"/>
              </a:solidFill>
              <a:latin typeface="Calibri"/>
              <a:ea typeface="Calibri"/>
              <a:cs typeface="Calibri"/>
              <a:sym typeface="Calibri"/>
            </a:endParaRPr>
          </a:p>
        </p:txBody>
      </p:sp>
      <p:sp>
        <p:nvSpPr>
          <p:cNvPr id="83" name="Google Shape;83;p16"/>
          <p:cNvSpPr/>
          <p:nvPr/>
        </p:nvSpPr>
        <p:spPr>
          <a:xfrm>
            <a:off x="461010" y="1867317"/>
            <a:ext cx="8221980" cy="4763"/>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4" name="Google Shape;84;p16"/>
          <p:cNvSpPr/>
          <p:nvPr/>
        </p:nvSpPr>
        <p:spPr>
          <a:xfrm>
            <a:off x="565785" y="1591092"/>
            <a:ext cx="257175" cy="295275"/>
          </a:xfrm>
          <a:prstGeom prst="rect">
            <a:avLst/>
          </a:prstGeom>
          <a:noFill/>
          <a:ln>
            <a:noFill/>
          </a:ln>
        </p:spPr>
        <p:txBody>
          <a:bodyPr anchorCtr="0" anchor="ctr" bIns="12700" lIns="12700" spcFirstLastPara="1" rIns="12700" wrap="square" tIns="12700">
            <a:noAutofit/>
          </a:bodyPr>
          <a:lstStyle/>
          <a:p>
            <a:pPr indent="0" lvl="0" marL="0" marR="0" rtl="0" algn="l">
              <a:lnSpc>
                <a:spcPct val="74468"/>
              </a:lnSpc>
              <a:spcBef>
                <a:spcPts val="0"/>
              </a:spcBef>
              <a:spcAft>
                <a:spcPts val="0"/>
              </a:spcAft>
              <a:buClr>
                <a:srgbClr val="7C3AED"/>
              </a:buClr>
              <a:buSzPts val="1100"/>
              <a:buFont typeface="JetBrains Mono"/>
              <a:buNone/>
            </a:pPr>
            <a:r>
              <a:rPr b="1" i="0" lang="en" sz="1100" u="none" cap="none" strike="noStrike">
                <a:solidFill>
                  <a:srgbClr val="7C3AED"/>
                </a:solidFill>
                <a:latin typeface="JetBrains Mono"/>
                <a:ea typeface="JetBrains Mono"/>
                <a:cs typeface="JetBrains Mono"/>
                <a:sym typeface="JetBrains Mono"/>
              </a:rPr>
              <a:t>1</a:t>
            </a:r>
            <a:endParaRPr b="0" i="0" sz="1100" u="none" cap="none" strike="noStrike">
              <a:solidFill>
                <a:schemeClr val="dk1"/>
              </a:solidFill>
              <a:latin typeface="Calibri"/>
              <a:ea typeface="Calibri"/>
              <a:cs typeface="Calibri"/>
              <a:sym typeface="Calibri"/>
            </a:endParaRPr>
          </a:p>
        </p:txBody>
      </p:sp>
      <p:sp>
        <p:nvSpPr>
          <p:cNvPr id="85" name="Google Shape;85;p16"/>
          <p:cNvSpPr/>
          <p:nvPr/>
        </p:nvSpPr>
        <p:spPr>
          <a:xfrm>
            <a:off x="889635" y="1591092"/>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6" name="Google Shape;86;p16"/>
          <p:cNvSpPr/>
          <p:nvPr/>
        </p:nvSpPr>
        <p:spPr>
          <a:xfrm>
            <a:off x="5349241" y="1591092"/>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7" name="Google Shape;87;p16"/>
          <p:cNvSpPr/>
          <p:nvPr/>
        </p:nvSpPr>
        <p:spPr>
          <a:xfrm>
            <a:off x="7825741" y="1591092"/>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8" name="Google Shape;88;p16"/>
          <p:cNvSpPr/>
          <p:nvPr/>
        </p:nvSpPr>
        <p:spPr>
          <a:xfrm>
            <a:off x="822950" y="1871125"/>
            <a:ext cx="4531200" cy="27990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lang="en" sz="1000">
                <a:solidFill>
                  <a:schemeClr val="dk1"/>
                </a:solidFill>
              </a:rPr>
              <a:t>Download the complete meeting transcript from the approved meeting app </a:t>
            </a:r>
            <a:endParaRPr sz="1300"/>
          </a:p>
        </p:txBody>
      </p:sp>
      <p:sp>
        <p:nvSpPr>
          <p:cNvPr id="89" name="Google Shape;89;p16"/>
          <p:cNvSpPr/>
          <p:nvPr/>
        </p:nvSpPr>
        <p:spPr>
          <a:xfrm>
            <a:off x="461010" y="2147352"/>
            <a:ext cx="8221980" cy="4763"/>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0" name="Google Shape;90;p16"/>
          <p:cNvSpPr/>
          <p:nvPr/>
        </p:nvSpPr>
        <p:spPr>
          <a:xfrm>
            <a:off x="565785" y="1871127"/>
            <a:ext cx="257175" cy="295275"/>
          </a:xfrm>
          <a:prstGeom prst="rect">
            <a:avLst/>
          </a:prstGeom>
          <a:noFill/>
          <a:ln>
            <a:noFill/>
          </a:ln>
        </p:spPr>
        <p:txBody>
          <a:bodyPr anchorCtr="0" anchor="ctr" bIns="12700" lIns="12700" spcFirstLastPara="1" rIns="12700" wrap="square" tIns="12700">
            <a:noAutofit/>
          </a:bodyPr>
          <a:lstStyle/>
          <a:p>
            <a:pPr indent="0" lvl="0" marL="0" marR="0" rtl="0" algn="l">
              <a:lnSpc>
                <a:spcPct val="74468"/>
              </a:lnSpc>
              <a:spcBef>
                <a:spcPts val="0"/>
              </a:spcBef>
              <a:spcAft>
                <a:spcPts val="0"/>
              </a:spcAft>
              <a:buClr>
                <a:srgbClr val="7C3AED"/>
              </a:buClr>
              <a:buSzPts val="1100"/>
              <a:buFont typeface="JetBrains Mono"/>
              <a:buNone/>
            </a:pPr>
            <a:r>
              <a:rPr b="1" i="0" lang="en" sz="1100" u="none" cap="none" strike="noStrike">
                <a:solidFill>
                  <a:srgbClr val="7C3AED"/>
                </a:solidFill>
                <a:latin typeface="JetBrains Mono"/>
                <a:ea typeface="JetBrains Mono"/>
                <a:cs typeface="JetBrains Mono"/>
                <a:sym typeface="JetBrains Mono"/>
              </a:rPr>
              <a:t>2</a:t>
            </a:r>
            <a:endParaRPr b="0" i="0" sz="1100" u="none" cap="none" strike="noStrike">
              <a:solidFill>
                <a:schemeClr val="dk1"/>
              </a:solidFill>
              <a:latin typeface="Calibri"/>
              <a:ea typeface="Calibri"/>
              <a:cs typeface="Calibri"/>
              <a:sym typeface="Calibri"/>
            </a:endParaRPr>
          </a:p>
        </p:txBody>
      </p:sp>
      <p:sp>
        <p:nvSpPr>
          <p:cNvPr id="91" name="Google Shape;91;p16"/>
          <p:cNvSpPr/>
          <p:nvPr/>
        </p:nvSpPr>
        <p:spPr>
          <a:xfrm>
            <a:off x="889635" y="1871127"/>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2" name="Google Shape;92;p16"/>
          <p:cNvSpPr/>
          <p:nvPr/>
        </p:nvSpPr>
        <p:spPr>
          <a:xfrm>
            <a:off x="5349241" y="1871127"/>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3" name="Google Shape;93;p16"/>
          <p:cNvSpPr/>
          <p:nvPr/>
        </p:nvSpPr>
        <p:spPr>
          <a:xfrm>
            <a:off x="7825741" y="1871127"/>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4" name="Google Shape;94;p16"/>
          <p:cNvSpPr/>
          <p:nvPr/>
        </p:nvSpPr>
        <p:spPr>
          <a:xfrm>
            <a:off x="461010" y="2427387"/>
            <a:ext cx="8221980" cy="4763"/>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5" name="Google Shape;95;p16"/>
          <p:cNvSpPr/>
          <p:nvPr/>
        </p:nvSpPr>
        <p:spPr>
          <a:xfrm>
            <a:off x="565785" y="2151162"/>
            <a:ext cx="257175" cy="295275"/>
          </a:xfrm>
          <a:prstGeom prst="rect">
            <a:avLst/>
          </a:prstGeom>
          <a:noFill/>
          <a:ln>
            <a:noFill/>
          </a:ln>
        </p:spPr>
        <p:txBody>
          <a:bodyPr anchorCtr="0" anchor="ctr" bIns="12700" lIns="12700" spcFirstLastPara="1" rIns="12700" wrap="square" tIns="12700">
            <a:noAutofit/>
          </a:bodyPr>
          <a:lstStyle/>
          <a:p>
            <a:pPr indent="0" lvl="0" marL="0" marR="0" rtl="0" algn="l">
              <a:lnSpc>
                <a:spcPct val="74468"/>
              </a:lnSpc>
              <a:spcBef>
                <a:spcPts val="0"/>
              </a:spcBef>
              <a:spcAft>
                <a:spcPts val="0"/>
              </a:spcAft>
              <a:buClr>
                <a:srgbClr val="7C3AED"/>
              </a:buClr>
              <a:buSzPts val="1100"/>
              <a:buFont typeface="JetBrains Mono"/>
              <a:buNone/>
            </a:pPr>
            <a:r>
              <a:rPr b="1" i="0" lang="en" sz="1100" u="none" cap="none" strike="noStrike">
                <a:solidFill>
                  <a:srgbClr val="7C3AED"/>
                </a:solidFill>
                <a:latin typeface="JetBrains Mono"/>
                <a:ea typeface="JetBrains Mono"/>
                <a:cs typeface="JetBrains Mono"/>
                <a:sym typeface="JetBrains Mono"/>
              </a:rPr>
              <a:t>3</a:t>
            </a:r>
            <a:endParaRPr b="0" i="0" sz="1100" u="none" cap="none" strike="noStrike">
              <a:solidFill>
                <a:schemeClr val="dk1"/>
              </a:solidFill>
              <a:latin typeface="Calibri"/>
              <a:ea typeface="Calibri"/>
              <a:cs typeface="Calibri"/>
              <a:sym typeface="Calibri"/>
            </a:endParaRPr>
          </a:p>
        </p:txBody>
      </p:sp>
      <p:sp>
        <p:nvSpPr>
          <p:cNvPr id="96" name="Google Shape;96;p16"/>
          <p:cNvSpPr/>
          <p:nvPr/>
        </p:nvSpPr>
        <p:spPr>
          <a:xfrm>
            <a:off x="889635" y="2151162"/>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7" name="Google Shape;97;p16"/>
          <p:cNvSpPr/>
          <p:nvPr/>
        </p:nvSpPr>
        <p:spPr>
          <a:xfrm>
            <a:off x="5349241" y="2151162"/>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8" name="Google Shape;98;p16"/>
          <p:cNvSpPr/>
          <p:nvPr/>
        </p:nvSpPr>
        <p:spPr>
          <a:xfrm>
            <a:off x="7825741" y="2151162"/>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9" name="Google Shape;99;p16"/>
          <p:cNvSpPr/>
          <p:nvPr/>
        </p:nvSpPr>
        <p:spPr>
          <a:xfrm>
            <a:off x="461010" y="2707422"/>
            <a:ext cx="8221980" cy="4763"/>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0" name="Google Shape;100;p16"/>
          <p:cNvSpPr/>
          <p:nvPr/>
        </p:nvSpPr>
        <p:spPr>
          <a:xfrm>
            <a:off x="565785" y="2431197"/>
            <a:ext cx="257175" cy="295275"/>
          </a:xfrm>
          <a:prstGeom prst="rect">
            <a:avLst/>
          </a:prstGeom>
          <a:noFill/>
          <a:ln>
            <a:noFill/>
          </a:ln>
        </p:spPr>
        <p:txBody>
          <a:bodyPr anchorCtr="0" anchor="ctr" bIns="12700" lIns="12700" spcFirstLastPara="1" rIns="12700" wrap="square" tIns="12700">
            <a:noAutofit/>
          </a:bodyPr>
          <a:lstStyle/>
          <a:p>
            <a:pPr indent="0" lvl="0" marL="0" marR="0" rtl="0" algn="l">
              <a:lnSpc>
                <a:spcPct val="74468"/>
              </a:lnSpc>
              <a:spcBef>
                <a:spcPts val="0"/>
              </a:spcBef>
              <a:spcAft>
                <a:spcPts val="0"/>
              </a:spcAft>
              <a:buClr>
                <a:srgbClr val="7C3AED"/>
              </a:buClr>
              <a:buSzPts val="1100"/>
              <a:buFont typeface="JetBrains Mono"/>
              <a:buNone/>
            </a:pPr>
            <a:r>
              <a:rPr b="1" i="0" lang="en" sz="1100" u="none" cap="none" strike="noStrike">
                <a:solidFill>
                  <a:srgbClr val="7C3AED"/>
                </a:solidFill>
                <a:latin typeface="JetBrains Mono"/>
                <a:ea typeface="JetBrains Mono"/>
                <a:cs typeface="JetBrains Mono"/>
                <a:sym typeface="JetBrains Mono"/>
              </a:rPr>
              <a:t>4</a:t>
            </a:r>
            <a:endParaRPr b="0" i="0" sz="1100" u="none" cap="none" strike="noStrike">
              <a:solidFill>
                <a:schemeClr val="dk1"/>
              </a:solidFill>
              <a:latin typeface="Calibri"/>
              <a:ea typeface="Calibri"/>
              <a:cs typeface="Calibri"/>
              <a:sym typeface="Calibri"/>
            </a:endParaRPr>
          </a:p>
        </p:txBody>
      </p:sp>
      <p:sp>
        <p:nvSpPr>
          <p:cNvPr id="101" name="Google Shape;101;p16"/>
          <p:cNvSpPr/>
          <p:nvPr/>
        </p:nvSpPr>
        <p:spPr>
          <a:xfrm>
            <a:off x="889635" y="2431197"/>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2" name="Google Shape;102;p16"/>
          <p:cNvSpPr/>
          <p:nvPr/>
        </p:nvSpPr>
        <p:spPr>
          <a:xfrm>
            <a:off x="5349241" y="2431197"/>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3" name="Google Shape;103;p16"/>
          <p:cNvSpPr/>
          <p:nvPr/>
        </p:nvSpPr>
        <p:spPr>
          <a:xfrm>
            <a:off x="7825741" y="2431197"/>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4" name="Google Shape;104;p16"/>
          <p:cNvSpPr/>
          <p:nvPr/>
        </p:nvSpPr>
        <p:spPr>
          <a:xfrm>
            <a:off x="461010" y="2987457"/>
            <a:ext cx="8221980" cy="4763"/>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5" name="Google Shape;105;p16"/>
          <p:cNvSpPr/>
          <p:nvPr/>
        </p:nvSpPr>
        <p:spPr>
          <a:xfrm>
            <a:off x="565785" y="2711232"/>
            <a:ext cx="257175" cy="295275"/>
          </a:xfrm>
          <a:prstGeom prst="rect">
            <a:avLst/>
          </a:prstGeom>
          <a:noFill/>
          <a:ln>
            <a:noFill/>
          </a:ln>
        </p:spPr>
        <p:txBody>
          <a:bodyPr anchorCtr="0" anchor="ctr" bIns="12700" lIns="12700" spcFirstLastPara="1" rIns="12700" wrap="square" tIns="12700">
            <a:noAutofit/>
          </a:bodyPr>
          <a:lstStyle/>
          <a:p>
            <a:pPr indent="0" lvl="0" marL="0" marR="0" rtl="0" algn="l">
              <a:lnSpc>
                <a:spcPct val="74468"/>
              </a:lnSpc>
              <a:spcBef>
                <a:spcPts val="0"/>
              </a:spcBef>
              <a:spcAft>
                <a:spcPts val="0"/>
              </a:spcAft>
              <a:buClr>
                <a:srgbClr val="7C3AED"/>
              </a:buClr>
              <a:buSzPts val="1100"/>
              <a:buFont typeface="JetBrains Mono"/>
              <a:buNone/>
            </a:pPr>
            <a:r>
              <a:rPr b="1" i="0" lang="en" sz="1100" u="none" cap="none" strike="noStrike">
                <a:solidFill>
                  <a:srgbClr val="7C3AED"/>
                </a:solidFill>
                <a:latin typeface="JetBrains Mono"/>
                <a:ea typeface="JetBrains Mono"/>
                <a:cs typeface="JetBrains Mono"/>
                <a:sym typeface="JetBrains Mono"/>
              </a:rPr>
              <a:t>5</a:t>
            </a:r>
            <a:endParaRPr b="0" i="0" sz="1100" u="none" cap="none" strike="noStrike">
              <a:solidFill>
                <a:schemeClr val="dk1"/>
              </a:solidFill>
              <a:latin typeface="Calibri"/>
              <a:ea typeface="Calibri"/>
              <a:cs typeface="Calibri"/>
              <a:sym typeface="Calibri"/>
            </a:endParaRPr>
          </a:p>
        </p:txBody>
      </p:sp>
      <p:sp>
        <p:nvSpPr>
          <p:cNvPr id="106" name="Google Shape;106;p16"/>
          <p:cNvSpPr/>
          <p:nvPr/>
        </p:nvSpPr>
        <p:spPr>
          <a:xfrm>
            <a:off x="889635" y="2711232"/>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7" name="Google Shape;107;p16"/>
          <p:cNvSpPr/>
          <p:nvPr/>
        </p:nvSpPr>
        <p:spPr>
          <a:xfrm>
            <a:off x="5349241" y="2711232"/>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8" name="Google Shape;108;p16"/>
          <p:cNvSpPr/>
          <p:nvPr/>
        </p:nvSpPr>
        <p:spPr>
          <a:xfrm>
            <a:off x="7825741" y="2711232"/>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9" name="Google Shape;109;p16"/>
          <p:cNvSpPr/>
          <p:nvPr/>
        </p:nvSpPr>
        <p:spPr>
          <a:xfrm>
            <a:off x="461010" y="2991267"/>
            <a:ext cx="8221980" cy="280035"/>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0" name="Google Shape;110;p16"/>
          <p:cNvSpPr/>
          <p:nvPr/>
        </p:nvSpPr>
        <p:spPr>
          <a:xfrm>
            <a:off x="461010" y="3267492"/>
            <a:ext cx="8221980" cy="4763"/>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1" name="Google Shape;111;p16"/>
          <p:cNvSpPr/>
          <p:nvPr/>
        </p:nvSpPr>
        <p:spPr>
          <a:xfrm>
            <a:off x="565785" y="2991267"/>
            <a:ext cx="257175" cy="295275"/>
          </a:xfrm>
          <a:prstGeom prst="rect">
            <a:avLst/>
          </a:prstGeom>
          <a:noFill/>
          <a:ln>
            <a:noFill/>
          </a:ln>
        </p:spPr>
        <p:txBody>
          <a:bodyPr anchorCtr="0" anchor="ctr" bIns="12700" lIns="12700" spcFirstLastPara="1" rIns="12700" wrap="square" tIns="12700">
            <a:noAutofit/>
          </a:bodyPr>
          <a:lstStyle/>
          <a:p>
            <a:pPr indent="0" lvl="0" marL="0" marR="0" rtl="0" algn="l">
              <a:lnSpc>
                <a:spcPct val="74468"/>
              </a:lnSpc>
              <a:spcBef>
                <a:spcPts val="0"/>
              </a:spcBef>
              <a:spcAft>
                <a:spcPts val="0"/>
              </a:spcAft>
              <a:buClr>
                <a:srgbClr val="7C3AED"/>
              </a:buClr>
              <a:buSzPts val="1100"/>
              <a:buFont typeface="JetBrains Mono"/>
              <a:buNone/>
            </a:pPr>
            <a:r>
              <a:rPr b="1" i="0" lang="en" sz="1100" u="none" cap="none" strike="noStrike">
                <a:solidFill>
                  <a:srgbClr val="7C3AED"/>
                </a:solidFill>
                <a:latin typeface="JetBrains Mono"/>
                <a:ea typeface="JetBrains Mono"/>
                <a:cs typeface="JetBrains Mono"/>
                <a:sym typeface="JetBrains Mono"/>
              </a:rPr>
              <a:t>6</a:t>
            </a:r>
            <a:endParaRPr b="0" i="0" sz="1100" u="none" cap="none" strike="noStrike">
              <a:solidFill>
                <a:schemeClr val="dk1"/>
              </a:solidFill>
              <a:latin typeface="Calibri"/>
              <a:ea typeface="Calibri"/>
              <a:cs typeface="Calibri"/>
              <a:sym typeface="Calibri"/>
            </a:endParaRPr>
          </a:p>
        </p:txBody>
      </p:sp>
      <p:sp>
        <p:nvSpPr>
          <p:cNvPr id="112" name="Google Shape;112;p16"/>
          <p:cNvSpPr/>
          <p:nvPr/>
        </p:nvSpPr>
        <p:spPr>
          <a:xfrm>
            <a:off x="889635" y="2991267"/>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3" name="Google Shape;113;p16"/>
          <p:cNvSpPr/>
          <p:nvPr/>
        </p:nvSpPr>
        <p:spPr>
          <a:xfrm>
            <a:off x="5349241" y="2991267"/>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4" name="Google Shape;114;p16"/>
          <p:cNvSpPr/>
          <p:nvPr/>
        </p:nvSpPr>
        <p:spPr>
          <a:xfrm>
            <a:off x="7825741" y="2991267"/>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5" name="Google Shape;115;p16"/>
          <p:cNvSpPr/>
          <p:nvPr/>
        </p:nvSpPr>
        <p:spPr>
          <a:xfrm>
            <a:off x="461010" y="3547527"/>
            <a:ext cx="8221980" cy="4763"/>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6" name="Google Shape;116;p16"/>
          <p:cNvSpPr/>
          <p:nvPr/>
        </p:nvSpPr>
        <p:spPr>
          <a:xfrm>
            <a:off x="565785" y="3271302"/>
            <a:ext cx="257175" cy="295275"/>
          </a:xfrm>
          <a:prstGeom prst="rect">
            <a:avLst/>
          </a:prstGeom>
          <a:noFill/>
          <a:ln>
            <a:noFill/>
          </a:ln>
        </p:spPr>
        <p:txBody>
          <a:bodyPr anchorCtr="0" anchor="ctr" bIns="12700" lIns="12700" spcFirstLastPara="1" rIns="12700" wrap="square" tIns="12700">
            <a:noAutofit/>
          </a:bodyPr>
          <a:lstStyle/>
          <a:p>
            <a:pPr indent="0" lvl="0" marL="0" marR="0" rtl="0" algn="l">
              <a:lnSpc>
                <a:spcPct val="74468"/>
              </a:lnSpc>
              <a:spcBef>
                <a:spcPts val="0"/>
              </a:spcBef>
              <a:spcAft>
                <a:spcPts val="0"/>
              </a:spcAft>
              <a:buClr>
                <a:srgbClr val="7C3AED"/>
              </a:buClr>
              <a:buSzPts val="1100"/>
              <a:buFont typeface="JetBrains Mono"/>
              <a:buNone/>
            </a:pPr>
            <a:r>
              <a:rPr b="1" i="0" lang="en" sz="1100" u="none" cap="none" strike="noStrike">
                <a:solidFill>
                  <a:srgbClr val="7C3AED"/>
                </a:solidFill>
                <a:latin typeface="JetBrains Mono"/>
                <a:ea typeface="JetBrains Mono"/>
                <a:cs typeface="JetBrains Mono"/>
                <a:sym typeface="JetBrains Mono"/>
              </a:rPr>
              <a:t>7</a:t>
            </a:r>
            <a:endParaRPr b="0" i="0" sz="1100" u="none" cap="none" strike="noStrike">
              <a:solidFill>
                <a:schemeClr val="dk1"/>
              </a:solidFill>
              <a:latin typeface="Calibri"/>
              <a:ea typeface="Calibri"/>
              <a:cs typeface="Calibri"/>
              <a:sym typeface="Calibri"/>
            </a:endParaRPr>
          </a:p>
        </p:txBody>
      </p:sp>
      <p:sp>
        <p:nvSpPr>
          <p:cNvPr id="117" name="Google Shape;117;p16"/>
          <p:cNvSpPr/>
          <p:nvPr/>
        </p:nvSpPr>
        <p:spPr>
          <a:xfrm>
            <a:off x="889635" y="3271302"/>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8" name="Google Shape;118;p16"/>
          <p:cNvSpPr/>
          <p:nvPr/>
        </p:nvSpPr>
        <p:spPr>
          <a:xfrm>
            <a:off x="5349241" y="3271302"/>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9" name="Google Shape;119;p16"/>
          <p:cNvSpPr/>
          <p:nvPr/>
        </p:nvSpPr>
        <p:spPr>
          <a:xfrm>
            <a:off x="7825741" y="3271302"/>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0" name="Google Shape;120;p16"/>
          <p:cNvSpPr/>
          <p:nvPr/>
        </p:nvSpPr>
        <p:spPr>
          <a:xfrm>
            <a:off x="461010" y="3551337"/>
            <a:ext cx="8221980" cy="276225"/>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lang="en"/>
              <a:t>        </a:t>
            </a:r>
            <a:endParaRPr/>
          </a:p>
        </p:txBody>
      </p:sp>
      <p:sp>
        <p:nvSpPr>
          <p:cNvPr id="121" name="Google Shape;121;p16"/>
          <p:cNvSpPr/>
          <p:nvPr/>
        </p:nvSpPr>
        <p:spPr>
          <a:xfrm>
            <a:off x="565785" y="3551337"/>
            <a:ext cx="257175" cy="295275"/>
          </a:xfrm>
          <a:prstGeom prst="rect">
            <a:avLst/>
          </a:prstGeom>
          <a:noFill/>
          <a:ln>
            <a:noFill/>
          </a:ln>
        </p:spPr>
        <p:txBody>
          <a:bodyPr anchorCtr="0" anchor="ctr" bIns="12700" lIns="12700" spcFirstLastPara="1" rIns="12700" wrap="square" tIns="12700">
            <a:noAutofit/>
          </a:bodyPr>
          <a:lstStyle/>
          <a:p>
            <a:pPr indent="0" lvl="0" marL="0" marR="0" rtl="0" algn="l">
              <a:lnSpc>
                <a:spcPct val="74468"/>
              </a:lnSpc>
              <a:spcBef>
                <a:spcPts val="0"/>
              </a:spcBef>
              <a:spcAft>
                <a:spcPts val="0"/>
              </a:spcAft>
              <a:buClr>
                <a:srgbClr val="7C3AED"/>
              </a:buClr>
              <a:buSzPts val="1100"/>
              <a:buFont typeface="JetBrains Mono"/>
              <a:buNone/>
            </a:pPr>
            <a:r>
              <a:rPr b="1" i="0" lang="en" sz="1100" u="none" cap="none" strike="noStrike">
                <a:solidFill>
                  <a:srgbClr val="7C3AED"/>
                </a:solidFill>
                <a:latin typeface="JetBrains Mono"/>
                <a:ea typeface="JetBrains Mono"/>
                <a:cs typeface="JetBrains Mono"/>
                <a:sym typeface="JetBrains Mono"/>
              </a:rPr>
              <a:t>8</a:t>
            </a:r>
            <a:endParaRPr b="0" i="0" sz="1100" u="none" cap="none" strike="noStrike">
              <a:solidFill>
                <a:schemeClr val="dk1"/>
              </a:solidFill>
              <a:latin typeface="Calibri"/>
              <a:ea typeface="Calibri"/>
              <a:cs typeface="Calibri"/>
              <a:sym typeface="Calibri"/>
            </a:endParaRPr>
          </a:p>
        </p:txBody>
      </p:sp>
      <p:sp>
        <p:nvSpPr>
          <p:cNvPr id="122" name="Google Shape;122;p16"/>
          <p:cNvSpPr/>
          <p:nvPr/>
        </p:nvSpPr>
        <p:spPr>
          <a:xfrm>
            <a:off x="889635" y="3551337"/>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3" name="Google Shape;123;p16"/>
          <p:cNvSpPr/>
          <p:nvPr/>
        </p:nvSpPr>
        <p:spPr>
          <a:xfrm>
            <a:off x="5349241" y="3551337"/>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4" name="Google Shape;124;p16"/>
          <p:cNvSpPr/>
          <p:nvPr/>
        </p:nvSpPr>
        <p:spPr>
          <a:xfrm>
            <a:off x="7825741" y="3551337"/>
            <a:ext cx="4763" cy="276225"/>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5" name="Google Shape;125;p16"/>
          <p:cNvSpPr/>
          <p:nvPr/>
        </p:nvSpPr>
        <p:spPr>
          <a:xfrm>
            <a:off x="872426" y="1622575"/>
            <a:ext cx="4208100" cy="24780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Clr>
                <a:schemeClr val="dk1"/>
              </a:buClr>
              <a:buSzPts val="1100"/>
              <a:buFont typeface="Arial"/>
              <a:buNone/>
            </a:pPr>
            <a:r>
              <a:rPr lang="en" sz="1000">
                <a:solidFill>
                  <a:schemeClr val="dk1"/>
                </a:solidFill>
              </a:rPr>
              <a:t>Join the confidential meeting without third-party meeting assistants </a:t>
            </a:r>
            <a:endParaRPr sz="1000"/>
          </a:p>
        </p:txBody>
      </p:sp>
      <p:sp>
        <p:nvSpPr>
          <p:cNvPr id="126" name="Google Shape;126;p16"/>
          <p:cNvSpPr/>
          <p:nvPr/>
        </p:nvSpPr>
        <p:spPr>
          <a:xfrm>
            <a:off x="839926" y="2147425"/>
            <a:ext cx="4317900" cy="27990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lang="en" sz="1000">
                <a:solidFill>
                  <a:schemeClr val="dk1"/>
                </a:solidFill>
              </a:rPr>
              <a:t>Keep the transcript within approved systems because third-party tools cannot store or analyze it </a:t>
            </a:r>
            <a:endParaRPr sz="1300"/>
          </a:p>
        </p:txBody>
      </p:sp>
      <p:sp>
        <p:nvSpPr>
          <p:cNvPr id="127" name="Google Shape;127;p16"/>
          <p:cNvSpPr/>
          <p:nvPr/>
        </p:nvSpPr>
        <p:spPr>
          <a:xfrm>
            <a:off x="851198" y="2433100"/>
            <a:ext cx="4229400" cy="27990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lang="en" sz="1000">
                <a:solidFill>
                  <a:schemeClr val="dk1"/>
                </a:solidFill>
              </a:rPr>
              <a:t>Read through the transcript and identify important moments, decisions, and commitments </a:t>
            </a:r>
            <a:endParaRPr sz="1300"/>
          </a:p>
        </p:txBody>
      </p:sp>
      <p:sp>
        <p:nvSpPr>
          <p:cNvPr id="128" name="Google Shape;128;p16"/>
          <p:cNvSpPr/>
          <p:nvPr/>
        </p:nvSpPr>
        <p:spPr>
          <a:xfrm>
            <a:off x="885949" y="2703125"/>
            <a:ext cx="4411200" cy="27990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lang="en" sz="1000">
                <a:solidFill>
                  <a:schemeClr val="dk1"/>
                </a:solidFill>
              </a:rPr>
              <a:t>Identify owners and deadlines from the discussion </a:t>
            </a:r>
            <a:endParaRPr sz="1300"/>
          </a:p>
        </p:txBody>
      </p:sp>
      <p:sp>
        <p:nvSpPr>
          <p:cNvPr id="129" name="Google Shape;129;p16"/>
          <p:cNvSpPr/>
          <p:nvPr/>
        </p:nvSpPr>
        <p:spPr>
          <a:xfrm>
            <a:off x="889370" y="3004500"/>
            <a:ext cx="4383900" cy="27990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lang="en" sz="1000">
                <a:solidFill>
                  <a:schemeClr val="dk1"/>
                </a:solidFill>
              </a:rPr>
              <a:t>Separate confirmed commitments from passing remarks </a:t>
            </a:r>
            <a:endParaRPr sz="1300"/>
          </a:p>
        </p:txBody>
      </p:sp>
      <p:sp>
        <p:nvSpPr>
          <p:cNvPr id="130" name="Google Shape;130;p16"/>
          <p:cNvSpPr/>
          <p:nvPr/>
        </p:nvSpPr>
        <p:spPr>
          <a:xfrm>
            <a:off x="885006" y="3266650"/>
            <a:ext cx="4133100" cy="27990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lang="en" sz="1000">
                <a:solidFill>
                  <a:schemeClr val="dk1"/>
                </a:solidFill>
              </a:rPr>
              <a:t>Organize findings into meeting notes and an accountability report </a:t>
            </a:r>
            <a:endParaRPr sz="1300"/>
          </a:p>
        </p:txBody>
      </p:sp>
      <p:sp>
        <p:nvSpPr>
          <p:cNvPr id="131" name="Google Shape;131;p16"/>
          <p:cNvSpPr/>
          <p:nvPr/>
        </p:nvSpPr>
        <p:spPr>
          <a:xfrm>
            <a:off x="880558" y="3560200"/>
            <a:ext cx="3597900" cy="27990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lang="en" sz="1000">
                <a:solidFill>
                  <a:schemeClr val="dk1"/>
                </a:solidFill>
              </a:rPr>
              <a:t>Share the notes and follow up on outstanding actions </a:t>
            </a:r>
            <a:endParaRPr sz="1300"/>
          </a:p>
        </p:txBody>
      </p:sp>
      <p:sp>
        <p:nvSpPr>
          <p:cNvPr id="132" name="Google Shape;132;p16"/>
          <p:cNvSpPr/>
          <p:nvPr/>
        </p:nvSpPr>
        <p:spPr>
          <a:xfrm>
            <a:off x="8066154" y="1587275"/>
            <a:ext cx="386700" cy="24780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lang="en" sz="1100">
                <a:solidFill>
                  <a:schemeClr val="dk1"/>
                </a:solidFill>
              </a:rPr>
              <a:t>H </a:t>
            </a:r>
            <a:endParaRPr sz="1100"/>
          </a:p>
        </p:txBody>
      </p:sp>
      <p:sp>
        <p:nvSpPr>
          <p:cNvPr id="133" name="Google Shape;133;p16"/>
          <p:cNvSpPr/>
          <p:nvPr/>
        </p:nvSpPr>
        <p:spPr>
          <a:xfrm>
            <a:off x="8067103" y="1867284"/>
            <a:ext cx="386700" cy="24780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lang="en" sz="1100">
                <a:solidFill>
                  <a:schemeClr val="dk1"/>
                </a:solidFill>
              </a:rPr>
              <a:t>M </a:t>
            </a:r>
            <a:endParaRPr sz="1100"/>
          </a:p>
        </p:txBody>
      </p:sp>
      <p:sp>
        <p:nvSpPr>
          <p:cNvPr id="134" name="Google Shape;134;p16"/>
          <p:cNvSpPr/>
          <p:nvPr/>
        </p:nvSpPr>
        <p:spPr>
          <a:xfrm>
            <a:off x="8066153" y="2147331"/>
            <a:ext cx="386700" cy="24780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lang="en" sz="1100">
                <a:solidFill>
                  <a:schemeClr val="dk1"/>
                </a:solidFill>
              </a:rPr>
              <a:t>M </a:t>
            </a:r>
            <a:endParaRPr sz="1100"/>
          </a:p>
        </p:txBody>
      </p:sp>
      <p:sp>
        <p:nvSpPr>
          <p:cNvPr id="135" name="Google Shape;135;p16"/>
          <p:cNvSpPr/>
          <p:nvPr/>
        </p:nvSpPr>
        <p:spPr>
          <a:xfrm>
            <a:off x="8068957" y="2418115"/>
            <a:ext cx="386700" cy="24780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b="1" lang="en" sz="1100">
                <a:solidFill>
                  <a:srgbClr val="7C3AED"/>
                </a:solidFill>
              </a:rPr>
              <a:t>A</a:t>
            </a:r>
            <a:r>
              <a:rPr b="1" lang="en" sz="1100">
                <a:solidFill>
                  <a:srgbClr val="7C3AED"/>
                </a:solidFill>
              </a:rPr>
              <a:t> </a:t>
            </a:r>
            <a:endParaRPr b="1" sz="1100">
              <a:solidFill>
                <a:srgbClr val="7C3AED"/>
              </a:solidFill>
            </a:endParaRPr>
          </a:p>
        </p:txBody>
      </p:sp>
      <p:sp>
        <p:nvSpPr>
          <p:cNvPr id="136" name="Google Shape;136;p16"/>
          <p:cNvSpPr/>
          <p:nvPr/>
        </p:nvSpPr>
        <p:spPr>
          <a:xfrm>
            <a:off x="8064251" y="2729201"/>
            <a:ext cx="386700" cy="24780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Clr>
                <a:schemeClr val="dk1"/>
              </a:buClr>
              <a:buSzPts val="1100"/>
              <a:buFont typeface="Arial"/>
              <a:buNone/>
            </a:pPr>
            <a:r>
              <a:rPr b="1" lang="en" sz="1100">
                <a:solidFill>
                  <a:srgbClr val="7C3AED"/>
                </a:solidFill>
              </a:rPr>
              <a:t>A </a:t>
            </a:r>
            <a:endParaRPr sz="1100"/>
          </a:p>
        </p:txBody>
      </p:sp>
      <p:sp>
        <p:nvSpPr>
          <p:cNvPr id="137" name="Google Shape;137;p16"/>
          <p:cNvSpPr/>
          <p:nvPr/>
        </p:nvSpPr>
        <p:spPr>
          <a:xfrm>
            <a:off x="8064999" y="2983527"/>
            <a:ext cx="386700" cy="24780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Clr>
                <a:schemeClr val="dk1"/>
              </a:buClr>
              <a:buSzPts val="1100"/>
              <a:buFont typeface="Arial"/>
              <a:buNone/>
            </a:pPr>
            <a:r>
              <a:rPr b="1" lang="en" sz="1100">
                <a:solidFill>
                  <a:srgbClr val="7C3AED"/>
                </a:solidFill>
              </a:rPr>
              <a:t>A </a:t>
            </a:r>
            <a:endParaRPr sz="1100"/>
          </a:p>
        </p:txBody>
      </p:sp>
      <p:sp>
        <p:nvSpPr>
          <p:cNvPr id="138" name="Google Shape;138;p16"/>
          <p:cNvSpPr/>
          <p:nvPr/>
        </p:nvSpPr>
        <p:spPr>
          <a:xfrm>
            <a:off x="8060904" y="3256257"/>
            <a:ext cx="386700" cy="24780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Clr>
                <a:schemeClr val="dk1"/>
              </a:buClr>
              <a:buSzPts val="1100"/>
              <a:buFont typeface="Arial"/>
              <a:buNone/>
            </a:pPr>
            <a:r>
              <a:rPr b="1" lang="en" sz="1100">
                <a:solidFill>
                  <a:srgbClr val="7C3AED"/>
                </a:solidFill>
              </a:rPr>
              <a:t>A </a:t>
            </a:r>
            <a:endParaRPr sz="1100"/>
          </a:p>
        </p:txBody>
      </p:sp>
      <p:sp>
        <p:nvSpPr>
          <p:cNvPr id="139" name="Google Shape;139;p16"/>
          <p:cNvSpPr/>
          <p:nvPr/>
        </p:nvSpPr>
        <p:spPr>
          <a:xfrm>
            <a:off x="8060826" y="3533375"/>
            <a:ext cx="386700" cy="24780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lang="en" sz="1100">
                <a:solidFill>
                  <a:schemeClr val="dk1"/>
                </a:solidFill>
              </a:rPr>
              <a:t>M</a:t>
            </a:r>
            <a:endParaRPr sz="1100"/>
          </a:p>
        </p:txBody>
      </p:sp>
      <p:sp>
        <p:nvSpPr>
          <p:cNvPr id="140" name="Google Shape;140;p16"/>
          <p:cNvSpPr txBox="1"/>
          <p:nvPr/>
        </p:nvSpPr>
        <p:spPr>
          <a:xfrm>
            <a:off x="5393375" y="1600988"/>
            <a:ext cx="2633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Human </a:t>
            </a:r>
            <a:endParaRPr/>
          </a:p>
        </p:txBody>
      </p:sp>
      <p:sp>
        <p:nvSpPr>
          <p:cNvPr id="141" name="Google Shape;141;p16"/>
          <p:cNvSpPr txBox="1"/>
          <p:nvPr/>
        </p:nvSpPr>
        <p:spPr>
          <a:xfrm>
            <a:off x="5399140" y="1882925"/>
            <a:ext cx="2633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Meeting app </a:t>
            </a:r>
            <a:endParaRPr sz="900"/>
          </a:p>
        </p:txBody>
      </p:sp>
      <p:sp>
        <p:nvSpPr>
          <p:cNvPr id="142" name="Google Shape;142;p16"/>
          <p:cNvSpPr txBox="1"/>
          <p:nvPr/>
        </p:nvSpPr>
        <p:spPr>
          <a:xfrm>
            <a:off x="5394775" y="2154200"/>
            <a:ext cx="263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Human / company systems </a:t>
            </a:r>
            <a:endParaRPr sz="900"/>
          </a:p>
          <a:p>
            <a:pPr indent="0" lvl="0" marL="0" rtl="0" algn="l">
              <a:spcBef>
                <a:spcPts val="0"/>
              </a:spcBef>
              <a:spcAft>
                <a:spcPts val="0"/>
              </a:spcAft>
              <a:buNone/>
            </a:pPr>
            <a:r>
              <a:t/>
            </a:r>
            <a:endParaRPr sz="900"/>
          </a:p>
        </p:txBody>
      </p:sp>
      <p:sp>
        <p:nvSpPr>
          <p:cNvPr id="143" name="Google Shape;143;p16"/>
          <p:cNvSpPr txBox="1"/>
          <p:nvPr/>
        </p:nvSpPr>
        <p:spPr>
          <a:xfrm>
            <a:off x="5403204" y="2437088"/>
            <a:ext cx="2633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Human </a:t>
            </a:r>
            <a:endParaRPr sz="900"/>
          </a:p>
        </p:txBody>
      </p:sp>
      <p:sp>
        <p:nvSpPr>
          <p:cNvPr id="144" name="Google Shape;144;p16"/>
          <p:cNvSpPr txBox="1"/>
          <p:nvPr/>
        </p:nvSpPr>
        <p:spPr>
          <a:xfrm>
            <a:off x="5391299" y="2712738"/>
            <a:ext cx="2633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Human </a:t>
            </a:r>
            <a:endParaRPr sz="900"/>
          </a:p>
        </p:txBody>
      </p:sp>
      <p:sp>
        <p:nvSpPr>
          <p:cNvPr id="145" name="Google Shape;145;p16"/>
          <p:cNvSpPr txBox="1"/>
          <p:nvPr/>
        </p:nvSpPr>
        <p:spPr>
          <a:xfrm>
            <a:off x="5398591" y="2994200"/>
            <a:ext cx="2633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Human </a:t>
            </a:r>
            <a:endParaRPr sz="900"/>
          </a:p>
        </p:txBody>
      </p:sp>
      <p:sp>
        <p:nvSpPr>
          <p:cNvPr id="146" name="Google Shape;146;p16"/>
          <p:cNvSpPr txBox="1"/>
          <p:nvPr/>
        </p:nvSpPr>
        <p:spPr>
          <a:xfrm>
            <a:off x="5398553" y="3281413"/>
            <a:ext cx="2633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Human </a:t>
            </a:r>
            <a:endParaRPr sz="900"/>
          </a:p>
        </p:txBody>
      </p:sp>
      <p:sp>
        <p:nvSpPr>
          <p:cNvPr id="147" name="Google Shape;147;p16"/>
          <p:cNvSpPr txBox="1"/>
          <p:nvPr/>
        </p:nvSpPr>
        <p:spPr>
          <a:xfrm>
            <a:off x="5390704" y="3558553"/>
            <a:ext cx="2633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Human / existing tools </a:t>
            </a:r>
            <a:endParaRPr sz="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C"/>
        </a:solidFill>
      </p:bgPr>
    </p:bg>
    <p:spTree>
      <p:nvGrpSpPr>
        <p:cNvPr id="152" name="Shape 152"/>
        <p:cNvGrpSpPr/>
        <p:nvPr/>
      </p:nvGrpSpPr>
      <p:grpSpPr>
        <a:xfrm>
          <a:off x="0" y="0"/>
          <a:ext cx="0" cy="0"/>
          <a:chOff x="0" y="0"/>
          <a:chExt cx="0" cy="0"/>
        </a:xfrm>
      </p:grpSpPr>
      <p:sp>
        <p:nvSpPr>
          <p:cNvPr id="153" name="Google Shape;153;p17"/>
          <p:cNvSpPr/>
          <p:nvPr/>
        </p:nvSpPr>
        <p:spPr>
          <a:xfrm>
            <a:off x="457200" y="528638"/>
            <a:ext cx="9052500" cy="320100"/>
          </a:xfrm>
          <a:prstGeom prst="rect">
            <a:avLst/>
          </a:prstGeom>
          <a:noFill/>
          <a:ln>
            <a:noFill/>
          </a:ln>
        </p:spPr>
        <p:txBody>
          <a:bodyPr anchorCtr="0" anchor="t" bIns="12700" lIns="12700" spcFirstLastPara="1" rIns="12700" wrap="square" tIns="12700">
            <a:noAutofit/>
          </a:bodyPr>
          <a:lstStyle/>
          <a:p>
            <a:pPr indent="0" lvl="0" marL="0" marR="0" rtl="0" algn="l">
              <a:lnSpc>
                <a:spcPct val="84096"/>
              </a:lnSpc>
              <a:spcBef>
                <a:spcPts val="0"/>
              </a:spcBef>
              <a:spcAft>
                <a:spcPts val="0"/>
              </a:spcAft>
              <a:buClr>
                <a:srgbClr val="1F2937"/>
              </a:buClr>
              <a:buSzPts val="2300"/>
              <a:buFont typeface="Inter"/>
              <a:buNone/>
            </a:pPr>
            <a:r>
              <a:rPr b="1" i="0" lang="en" sz="2300" u="none" cap="none" strike="noStrike">
                <a:solidFill>
                  <a:srgbClr val="1F2937"/>
                </a:solidFill>
                <a:latin typeface="Inter"/>
                <a:ea typeface="Inter"/>
                <a:cs typeface="Inter"/>
                <a:sym typeface="Inter"/>
              </a:rPr>
              <a:t>The AI holes you are plugging</a:t>
            </a:r>
            <a:endParaRPr b="0" i="0" sz="2300" u="none" cap="none" strike="noStrike">
              <a:solidFill>
                <a:schemeClr val="dk1"/>
              </a:solidFill>
              <a:latin typeface="Calibri"/>
              <a:ea typeface="Calibri"/>
              <a:cs typeface="Calibri"/>
              <a:sym typeface="Calibri"/>
            </a:endParaRPr>
          </a:p>
        </p:txBody>
      </p:sp>
      <p:graphicFrame>
        <p:nvGraphicFramePr>
          <p:cNvPr id="154" name="Google Shape;154;p17"/>
          <p:cNvGraphicFramePr/>
          <p:nvPr/>
        </p:nvGraphicFramePr>
        <p:xfrm>
          <a:off x="457200" y="1154950"/>
          <a:ext cx="3000000" cy="3000000"/>
        </p:xfrm>
        <a:graphic>
          <a:graphicData uri="http://schemas.openxmlformats.org/drawingml/2006/table">
            <a:tbl>
              <a:tblPr>
                <a:noFill/>
                <a:tableStyleId>{176A7EA2-FE08-439B-A426-083CC1B6AA19}</a:tableStyleId>
              </a:tblPr>
              <a:tblGrid>
                <a:gridCol w="587850"/>
                <a:gridCol w="1658400"/>
                <a:gridCol w="3279450"/>
                <a:gridCol w="606800"/>
                <a:gridCol w="1044150"/>
                <a:gridCol w="910550"/>
              </a:tblGrid>
              <a:tr h="346825">
                <a:tc>
                  <a:txBody>
                    <a:bodyPr/>
                    <a:lstStyle/>
                    <a:p>
                      <a:pPr indent="0" lvl="0" marL="0" rtl="0" algn="ctr">
                        <a:lnSpc>
                          <a:spcPct val="75000"/>
                        </a:lnSpc>
                        <a:spcBef>
                          <a:spcPts val="0"/>
                        </a:spcBef>
                        <a:spcAft>
                          <a:spcPts val="0"/>
                        </a:spcAft>
                        <a:buNone/>
                      </a:pPr>
                      <a:r>
                        <a:rPr b="1" lang="en" sz="900">
                          <a:solidFill>
                            <a:srgbClr val="5B21B6"/>
                          </a:solidFill>
                          <a:latin typeface="JetBrains Mono"/>
                          <a:ea typeface="JetBrains Mono"/>
                          <a:cs typeface="JetBrains Mono"/>
                          <a:sym typeface="JetBrains Mono"/>
                        </a:rPr>
                        <a:t>HOLE</a:t>
                      </a:r>
                      <a:endParaRPr/>
                    </a:p>
                  </a:txBody>
                  <a:tcPr marT="91425" marB="91425" marR="91425" marL="91425"/>
                </a:tc>
                <a:tc>
                  <a:txBody>
                    <a:bodyPr/>
                    <a:lstStyle/>
                    <a:p>
                      <a:pPr indent="0" lvl="0" marL="0" rtl="0" algn="ctr">
                        <a:lnSpc>
                          <a:spcPct val="75000"/>
                        </a:lnSpc>
                        <a:spcBef>
                          <a:spcPts val="0"/>
                        </a:spcBef>
                        <a:spcAft>
                          <a:spcPts val="0"/>
                        </a:spcAft>
                        <a:buNone/>
                      </a:pPr>
                      <a:r>
                        <a:rPr b="1" lang="en" sz="900">
                          <a:solidFill>
                            <a:srgbClr val="5B21B6"/>
                          </a:solidFill>
                          <a:latin typeface="JetBrains Mono"/>
                          <a:ea typeface="JetBrains Mono"/>
                          <a:cs typeface="JetBrains Mono"/>
                          <a:sym typeface="JetBrains Mono"/>
                        </a:rPr>
                        <a:t>WHICH OF THE SEVEN</a:t>
                      </a:r>
                      <a:endParaRPr/>
                    </a:p>
                  </a:txBody>
                  <a:tcPr marT="91425" marB="91425" marR="91425" marL="91425"/>
                </a:tc>
                <a:tc>
                  <a:txBody>
                    <a:bodyPr/>
                    <a:lstStyle/>
                    <a:p>
                      <a:pPr indent="0" lvl="0" marL="0" rtl="0" algn="ctr">
                        <a:lnSpc>
                          <a:spcPct val="75000"/>
                        </a:lnSpc>
                        <a:spcBef>
                          <a:spcPts val="0"/>
                        </a:spcBef>
                        <a:spcAft>
                          <a:spcPts val="0"/>
                        </a:spcAft>
                        <a:buClr>
                          <a:srgbClr val="5B21B6"/>
                        </a:buClr>
                        <a:buSzPts val="900"/>
                        <a:buFont typeface="JetBrains Mono"/>
                        <a:buNone/>
                      </a:pPr>
                      <a:r>
                        <a:rPr b="1" lang="en" sz="900">
                          <a:solidFill>
                            <a:srgbClr val="5B21B6"/>
                          </a:solidFill>
                          <a:latin typeface="JetBrains Mono"/>
                          <a:ea typeface="JetBrains Mono"/>
                          <a:cs typeface="JetBrains Mono"/>
                          <a:sym typeface="JetBrains Mono"/>
                        </a:rPr>
                        <a:t>THE STEP IT REPLACES</a:t>
                      </a:r>
                      <a:endParaRPr sz="900">
                        <a:solidFill>
                          <a:schemeClr val="dk1"/>
                        </a:solidFill>
                        <a:latin typeface="Calibri"/>
                        <a:ea typeface="Calibri"/>
                        <a:cs typeface="Calibri"/>
                        <a:sym typeface="Calibri"/>
                      </a:endParaRPr>
                    </a:p>
                    <a:p>
                      <a:pPr indent="0" lvl="0" marL="0" rtl="0" algn="ctr">
                        <a:spcBef>
                          <a:spcPts val="0"/>
                        </a:spcBef>
                        <a:spcAft>
                          <a:spcPts val="0"/>
                        </a:spcAft>
                        <a:buNone/>
                      </a:pPr>
                      <a:r>
                        <a:t/>
                      </a:r>
                      <a:endParaRPr/>
                    </a:p>
                  </a:txBody>
                  <a:tcPr marT="91425" marB="91425" marR="91425" marL="91425"/>
                </a:tc>
                <a:tc>
                  <a:txBody>
                    <a:bodyPr/>
                    <a:lstStyle/>
                    <a:p>
                      <a:pPr indent="0" lvl="0" marL="0" rtl="0" algn="ctr">
                        <a:lnSpc>
                          <a:spcPct val="75000"/>
                        </a:lnSpc>
                        <a:spcBef>
                          <a:spcPts val="0"/>
                        </a:spcBef>
                        <a:spcAft>
                          <a:spcPts val="0"/>
                        </a:spcAft>
                        <a:buClr>
                          <a:srgbClr val="5B21B6"/>
                        </a:buClr>
                        <a:buSzPts val="900"/>
                        <a:buFont typeface="JetBrains Mono"/>
                        <a:buNone/>
                      </a:pPr>
                      <a:r>
                        <a:rPr b="1" lang="en" sz="900">
                          <a:solidFill>
                            <a:srgbClr val="5B21B6"/>
                          </a:solidFill>
                          <a:latin typeface="JetBrains Mono"/>
                          <a:ea typeface="JetBrains Mono"/>
                          <a:cs typeface="JetBrains Mono"/>
                          <a:sym typeface="JetBrains Mono"/>
                        </a:rPr>
                        <a:t>TEMP</a:t>
                      </a:r>
                      <a:endParaRPr/>
                    </a:p>
                  </a:txBody>
                  <a:tcPr marT="91425" marB="91425" marR="91425" marL="91425"/>
                </a:tc>
                <a:tc>
                  <a:txBody>
                    <a:bodyPr/>
                    <a:lstStyle/>
                    <a:p>
                      <a:pPr indent="0" lvl="0" marL="0" rtl="0" algn="ctr">
                        <a:lnSpc>
                          <a:spcPct val="75000"/>
                        </a:lnSpc>
                        <a:spcBef>
                          <a:spcPts val="0"/>
                        </a:spcBef>
                        <a:spcAft>
                          <a:spcPts val="0"/>
                        </a:spcAft>
                        <a:buNone/>
                      </a:pPr>
                      <a:r>
                        <a:rPr b="1" lang="en" sz="900">
                          <a:solidFill>
                            <a:srgbClr val="5B21B6"/>
                          </a:solidFill>
                          <a:latin typeface="JetBrains Mono"/>
                          <a:ea typeface="JetBrains Mono"/>
                          <a:cs typeface="JetBrains Mono"/>
                          <a:sym typeface="JetBrains Mono"/>
                        </a:rPr>
                        <a:t>MAX TOKENS</a:t>
                      </a:r>
                      <a:endParaRPr/>
                    </a:p>
                  </a:txBody>
                  <a:tcPr marT="91425" marB="91425" marR="91425" marL="91425"/>
                </a:tc>
                <a:tc>
                  <a:txBody>
                    <a:bodyPr/>
                    <a:lstStyle/>
                    <a:p>
                      <a:pPr indent="0" lvl="0" marL="0" rtl="0" algn="ctr">
                        <a:lnSpc>
                          <a:spcPct val="75000"/>
                        </a:lnSpc>
                        <a:spcBef>
                          <a:spcPts val="0"/>
                        </a:spcBef>
                        <a:spcAft>
                          <a:spcPts val="0"/>
                        </a:spcAft>
                        <a:buNone/>
                      </a:pPr>
                      <a:r>
                        <a:rPr b="1" lang="en" sz="900">
                          <a:solidFill>
                            <a:srgbClr val="5B21B6"/>
                          </a:solidFill>
                          <a:latin typeface="JetBrains Mono"/>
                          <a:ea typeface="JetBrains Mono"/>
                          <a:cs typeface="JetBrains Mono"/>
                          <a:sym typeface="JetBrains Mono"/>
                        </a:rPr>
                        <a:t>REASONING</a:t>
                      </a:r>
                      <a:endParaRPr/>
                    </a:p>
                  </a:txBody>
                  <a:tcPr marT="91425" marB="91425" marR="91425" marL="91425"/>
                </a:tc>
              </a:tr>
              <a:tr h="381000">
                <a:tc>
                  <a:txBody>
                    <a:bodyPr/>
                    <a:lstStyle/>
                    <a:p>
                      <a:pPr indent="0" lvl="0" marL="0" rtl="0" algn="l">
                        <a:spcBef>
                          <a:spcPts val="0"/>
                        </a:spcBef>
                        <a:spcAft>
                          <a:spcPts val="0"/>
                        </a:spcAft>
                        <a:buNone/>
                      </a:pPr>
                      <a:r>
                        <a:rPr lang="en" sz="1000"/>
                        <a:t>1</a:t>
                      </a:r>
                      <a:endParaRPr sz="1000"/>
                    </a:p>
                  </a:txBody>
                  <a:tcPr marT="91425" marB="91425" marR="91425" marL="91425"/>
                </a:tc>
                <a:tc>
                  <a:txBody>
                    <a:bodyPr/>
                    <a:lstStyle/>
                    <a:p>
                      <a:pPr indent="0" lvl="0" marL="0" rtl="0" algn="l">
                        <a:spcBef>
                          <a:spcPts val="0"/>
                        </a:spcBef>
                        <a:spcAft>
                          <a:spcPts val="0"/>
                        </a:spcAft>
                        <a:buNone/>
                      </a:pPr>
                      <a:r>
                        <a:rPr lang="en" sz="1000"/>
                        <a:t>Extract + Classify </a:t>
                      </a:r>
                      <a:endParaRPr sz="1000"/>
                    </a:p>
                  </a:txBody>
                  <a:tcPr marT="91425" marB="91425" marR="91425" marL="91425"/>
                </a:tc>
                <a:tc>
                  <a:txBody>
                    <a:bodyPr/>
                    <a:lstStyle/>
                    <a:p>
                      <a:pPr indent="0" lvl="0" marL="0" rtl="0" algn="l">
                        <a:spcBef>
                          <a:spcPts val="0"/>
                        </a:spcBef>
                        <a:spcAft>
                          <a:spcPts val="0"/>
                        </a:spcAft>
                        <a:buNone/>
                      </a:pPr>
                      <a:r>
                        <a:rPr lang="en" sz="1000"/>
                        <a:t>Steps 4, 5, 6, 7: A human today reads the transcript, identifies decisions and commitments, assigns owners, separates confirmed from passing remarks, and organizes it into notes. The LLM does all of this in one call and returns a typed JSON. </a:t>
                      </a:r>
                      <a:endParaRPr sz="1000"/>
                    </a:p>
                  </a:txBody>
                  <a:tcPr marT="91425" marB="91425" marR="91425" marL="91425"/>
                </a:tc>
                <a:tc>
                  <a:txBody>
                    <a:bodyPr/>
                    <a:lstStyle/>
                    <a:p>
                      <a:pPr indent="0" lvl="0" marL="0" rtl="0" algn="l">
                        <a:spcBef>
                          <a:spcPts val="0"/>
                        </a:spcBef>
                        <a:spcAft>
                          <a:spcPts val="0"/>
                        </a:spcAft>
                        <a:buNone/>
                      </a:pPr>
                      <a:r>
                        <a:rPr lang="en" sz="1000"/>
                        <a:t>Low </a:t>
                      </a:r>
                      <a:endParaRPr sz="1000"/>
                    </a:p>
                  </a:txBody>
                  <a:tcPr marT="91425" marB="91425" marR="91425" marL="91425"/>
                </a:tc>
                <a:tc>
                  <a:txBody>
                    <a:bodyPr/>
                    <a:lstStyle/>
                    <a:p>
                      <a:pPr indent="0" lvl="0" marL="0" rtl="0" algn="l">
                        <a:spcBef>
                          <a:spcPts val="0"/>
                        </a:spcBef>
                        <a:spcAft>
                          <a:spcPts val="0"/>
                        </a:spcAft>
                        <a:buNone/>
                      </a:pPr>
                      <a:r>
                        <a:rPr lang="en" sz="1000"/>
                        <a:t>Moderate</a:t>
                      </a:r>
                      <a:endParaRPr sz="1000"/>
                    </a:p>
                  </a:txBody>
                  <a:tcPr marT="91425" marB="91425" marR="91425" marL="91425"/>
                </a:tc>
                <a:tc>
                  <a:txBody>
                    <a:bodyPr/>
                    <a:lstStyle/>
                    <a:p>
                      <a:pPr indent="0" lvl="0" marL="0" rtl="0" algn="l">
                        <a:spcBef>
                          <a:spcPts val="0"/>
                        </a:spcBef>
                        <a:spcAft>
                          <a:spcPts val="0"/>
                        </a:spcAft>
                        <a:buNone/>
                      </a:pPr>
                      <a:r>
                        <a:rPr lang="en" sz="1000"/>
                        <a:t>Off </a:t>
                      </a:r>
                      <a:endParaRPr sz="1000"/>
                    </a:p>
                  </a:txBody>
                  <a:tcPr marT="91425" marB="91425" marR="91425" marL="91425"/>
                </a:tc>
              </a:tr>
              <a:tr h="381000">
                <a:tc>
                  <a:txBody>
                    <a:bodyPr/>
                    <a:lstStyle/>
                    <a:p>
                      <a:pPr indent="0" lvl="0" marL="0" rtl="0" algn="l">
                        <a:spcBef>
                          <a:spcPts val="0"/>
                        </a:spcBef>
                        <a:spcAft>
                          <a:spcPts val="0"/>
                        </a:spcAft>
                        <a:buNone/>
                      </a:pPr>
                      <a:r>
                        <a:rPr lang="en" sz="1000"/>
                        <a:t>2</a:t>
                      </a:r>
                      <a:endParaRPr sz="1000"/>
                    </a:p>
                  </a:txBody>
                  <a:tcPr marT="91425" marB="91425" marR="91425" marL="91425"/>
                </a:tc>
                <a:tc>
                  <a:txBody>
                    <a:bodyPr/>
                    <a:lstStyle/>
                    <a:p>
                      <a:pPr indent="0" lvl="0" marL="0" rtl="0" algn="l">
                        <a:spcBef>
                          <a:spcPts val="0"/>
                        </a:spcBef>
                        <a:spcAft>
                          <a:spcPts val="0"/>
                        </a:spcAft>
                        <a:buNone/>
                      </a:pPr>
                      <a:r>
                        <a:rPr lang="en" sz="1000"/>
                        <a:t>Converse </a:t>
                      </a:r>
                      <a:endParaRPr sz="1000"/>
                    </a:p>
                  </a:txBody>
                  <a:tcPr marT="91425" marB="91425" marR="91425" marL="91425"/>
                </a:tc>
                <a:tc>
                  <a:txBody>
                    <a:bodyPr/>
                    <a:lstStyle/>
                    <a:p>
                      <a:pPr indent="0" lvl="0" marL="0" rtl="0" algn="l">
                        <a:spcBef>
                          <a:spcPts val="0"/>
                        </a:spcBef>
                        <a:spcAft>
                          <a:spcPts val="0"/>
                        </a:spcAft>
                        <a:buNone/>
                      </a:pPr>
                      <a:r>
                        <a:rPr lang="en" sz="1000"/>
                        <a:t>Step 8 (partial): Instead of the human following up by re-reading notes, the user asks the LLM direct questions about the meeting and gets cited answers instantly. </a:t>
                      </a:r>
                      <a:endParaRPr sz="1000"/>
                    </a:p>
                  </a:txBody>
                  <a:tcPr marT="91425" marB="91425" marR="91425" marL="91425"/>
                </a:tc>
                <a:tc>
                  <a:txBody>
                    <a:bodyPr/>
                    <a:lstStyle/>
                    <a:p>
                      <a:pPr indent="0" lvl="0" marL="0" rtl="0" algn="l">
                        <a:spcBef>
                          <a:spcPts val="0"/>
                        </a:spcBef>
                        <a:spcAft>
                          <a:spcPts val="0"/>
                        </a:spcAft>
                        <a:buNone/>
                      </a:pPr>
                      <a:r>
                        <a:rPr lang="en" sz="1000"/>
                        <a:t>Flexible </a:t>
                      </a:r>
                      <a:endParaRPr sz="1000"/>
                    </a:p>
                  </a:txBody>
                  <a:tcPr marT="91425" marB="91425" marR="91425" marL="91425"/>
                </a:tc>
                <a:tc>
                  <a:txBody>
                    <a:bodyPr/>
                    <a:lstStyle/>
                    <a:p>
                      <a:pPr indent="0" lvl="0" marL="0" rtl="0" algn="l">
                        <a:spcBef>
                          <a:spcPts val="0"/>
                        </a:spcBef>
                        <a:spcAft>
                          <a:spcPts val="0"/>
                        </a:spcAft>
                        <a:buNone/>
                      </a:pPr>
                      <a:r>
                        <a:rPr lang="en" sz="1000"/>
                        <a:t>High </a:t>
                      </a:r>
                      <a:endParaRPr sz="1000"/>
                    </a:p>
                  </a:txBody>
                  <a:tcPr marT="91425" marB="91425" marR="91425" marL="91425"/>
                </a:tc>
                <a:tc>
                  <a:txBody>
                    <a:bodyPr/>
                    <a:lstStyle/>
                    <a:p>
                      <a:pPr indent="0" lvl="0" marL="0" rtl="0" algn="l">
                        <a:spcBef>
                          <a:spcPts val="0"/>
                        </a:spcBef>
                        <a:spcAft>
                          <a:spcPts val="0"/>
                        </a:spcAft>
                        <a:buNone/>
                      </a:pPr>
                      <a:r>
                        <a:rPr lang="en" sz="1000"/>
                        <a:t>Off </a:t>
                      </a:r>
                      <a:endParaRPr sz="1000"/>
                    </a:p>
                  </a:txBody>
                  <a:tcPr marT="91425" marB="91425" marR="91425" marL="91425"/>
                </a:tc>
              </a:tr>
            </a:tbl>
          </a:graphicData>
        </a:graphic>
      </p:graphicFrame>
      <p:sp>
        <p:nvSpPr>
          <p:cNvPr id="155" name="Google Shape;155;p17"/>
          <p:cNvSpPr/>
          <p:nvPr/>
        </p:nvSpPr>
        <p:spPr>
          <a:xfrm>
            <a:off x="457200" y="3534950"/>
            <a:ext cx="2148600" cy="13419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6" name="Google Shape;156;p17"/>
          <p:cNvSpPr txBox="1"/>
          <p:nvPr/>
        </p:nvSpPr>
        <p:spPr>
          <a:xfrm>
            <a:off x="457200" y="3534950"/>
            <a:ext cx="1753200" cy="288600"/>
          </a:xfrm>
          <a:prstGeom prst="rect">
            <a:avLst/>
          </a:prstGeom>
          <a:noFill/>
          <a:ln>
            <a:noFill/>
          </a:ln>
        </p:spPr>
        <p:txBody>
          <a:bodyPr anchorCtr="0" anchor="t" bIns="91425" lIns="91425" spcFirstLastPara="1" rIns="91425" wrap="square" tIns="91425">
            <a:spAutoFit/>
          </a:bodyPr>
          <a:lstStyle/>
          <a:p>
            <a:pPr indent="0" lvl="0" marL="0" rtl="0" algn="l">
              <a:lnSpc>
                <a:spcPct val="75000"/>
              </a:lnSpc>
              <a:spcBef>
                <a:spcPts val="0"/>
              </a:spcBef>
              <a:spcAft>
                <a:spcPts val="0"/>
              </a:spcAft>
              <a:buNone/>
            </a:pPr>
            <a:r>
              <a:rPr b="1" lang="en" sz="900">
                <a:solidFill>
                  <a:srgbClr val="5B21B6"/>
                </a:solidFill>
                <a:latin typeface="JetBrains Mono"/>
                <a:ea typeface="JetBrains Mono"/>
                <a:cs typeface="JetBrains Mono"/>
                <a:sym typeface="JetBrains Mono"/>
              </a:rPr>
              <a:t>THE SEVEN</a:t>
            </a:r>
            <a:endParaRPr sz="900">
              <a:solidFill>
                <a:schemeClr val="dk1"/>
              </a:solidFill>
              <a:latin typeface="Calibri"/>
              <a:ea typeface="Calibri"/>
              <a:cs typeface="Calibri"/>
              <a:sym typeface="Calibri"/>
            </a:endParaRPr>
          </a:p>
        </p:txBody>
      </p:sp>
      <p:sp>
        <p:nvSpPr>
          <p:cNvPr id="157" name="Google Shape;157;p17"/>
          <p:cNvSpPr/>
          <p:nvPr/>
        </p:nvSpPr>
        <p:spPr>
          <a:xfrm>
            <a:off x="589373" y="3823552"/>
            <a:ext cx="612300" cy="238200"/>
          </a:xfrm>
          <a:prstGeom prst="rect">
            <a:avLst/>
          </a:prstGeom>
          <a:noFill/>
          <a:ln>
            <a:noFill/>
          </a:ln>
        </p:spPr>
        <p:txBody>
          <a:bodyPr anchorCtr="0" anchor="t" bIns="12700" lIns="12700" spcFirstLastPara="1" rIns="12700" wrap="square" tIns="12700">
            <a:noAutofit/>
          </a:bodyPr>
          <a:lstStyle/>
          <a:p>
            <a:pPr indent="0" lvl="0" marL="0" marR="0" rtl="0" algn="l">
              <a:lnSpc>
                <a:spcPct val="83333"/>
              </a:lnSpc>
              <a:spcBef>
                <a:spcPts val="0"/>
              </a:spcBef>
              <a:spcAft>
                <a:spcPts val="0"/>
              </a:spcAft>
              <a:buClr>
                <a:srgbClr val="5B21B6"/>
              </a:buClr>
              <a:buSzPts val="1000"/>
              <a:buFont typeface="Inter"/>
              <a:buNone/>
            </a:pPr>
            <a:r>
              <a:rPr b="1" i="0" lang="en" sz="1000" u="none" cap="none" strike="noStrike">
                <a:solidFill>
                  <a:srgbClr val="5B21B6"/>
                </a:solidFill>
                <a:latin typeface="Inter"/>
                <a:ea typeface="Inter"/>
                <a:cs typeface="Inter"/>
                <a:sym typeface="Inter"/>
              </a:rPr>
              <a:t>Classify</a:t>
            </a:r>
            <a:endParaRPr b="0" i="0" sz="1000" u="none" cap="none" strike="noStrike">
              <a:solidFill>
                <a:schemeClr val="dk1"/>
              </a:solidFill>
              <a:latin typeface="Calibri"/>
              <a:ea typeface="Calibri"/>
              <a:cs typeface="Calibri"/>
              <a:sym typeface="Calibri"/>
            </a:endParaRPr>
          </a:p>
        </p:txBody>
      </p:sp>
      <p:sp>
        <p:nvSpPr>
          <p:cNvPr id="158" name="Google Shape;158;p17"/>
          <p:cNvSpPr/>
          <p:nvPr/>
        </p:nvSpPr>
        <p:spPr>
          <a:xfrm>
            <a:off x="1311723" y="3823551"/>
            <a:ext cx="561900" cy="191700"/>
          </a:xfrm>
          <a:prstGeom prst="rect">
            <a:avLst/>
          </a:prstGeom>
          <a:noFill/>
          <a:ln>
            <a:noFill/>
          </a:ln>
        </p:spPr>
        <p:txBody>
          <a:bodyPr anchorCtr="0" anchor="t" bIns="12700" lIns="12700" spcFirstLastPara="1" rIns="12700" wrap="square" tIns="12700">
            <a:noAutofit/>
          </a:bodyPr>
          <a:lstStyle/>
          <a:p>
            <a:pPr indent="0" lvl="0" marL="0" marR="0" rtl="0" algn="l">
              <a:lnSpc>
                <a:spcPct val="83333"/>
              </a:lnSpc>
              <a:spcBef>
                <a:spcPts val="0"/>
              </a:spcBef>
              <a:spcAft>
                <a:spcPts val="0"/>
              </a:spcAft>
              <a:buClr>
                <a:srgbClr val="5B21B6"/>
              </a:buClr>
              <a:buSzPts val="1000"/>
              <a:buFont typeface="Inter"/>
              <a:buNone/>
            </a:pPr>
            <a:r>
              <a:rPr b="1" i="0" lang="en" sz="1000" u="none" cap="none" strike="noStrike">
                <a:solidFill>
                  <a:srgbClr val="5B21B6"/>
                </a:solidFill>
                <a:latin typeface="Inter"/>
                <a:ea typeface="Inter"/>
                <a:cs typeface="Inter"/>
                <a:sym typeface="Inter"/>
              </a:rPr>
              <a:t>Extract</a:t>
            </a:r>
            <a:endParaRPr b="0" i="0" sz="1000" u="none" cap="none" strike="noStrike">
              <a:solidFill>
                <a:schemeClr val="dk1"/>
              </a:solidFill>
              <a:latin typeface="Calibri"/>
              <a:ea typeface="Calibri"/>
              <a:cs typeface="Calibri"/>
              <a:sym typeface="Calibri"/>
            </a:endParaRPr>
          </a:p>
        </p:txBody>
      </p:sp>
      <p:sp>
        <p:nvSpPr>
          <p:cNvPr id="159" name="Google Shape;159;p17"/>
          <p:cNvSpPr/>
          <p:nvPr/>
        </p:nvSpPr>
        <p:spPr>
          <a:xfrm>
            <a:off x="589372" y="4061750"/>
            <a:ext cx="810600" cy="133200"/>
          </a:xfrm>
          <a:prstGeom prst="rect">
            <a:avLst/>
          </a:prstGeom>
          <a:noFill/>
          <a:ln>
            <a:noFill/>
          </a:ln>
        </p:spPr>
        <p:txBody>
          <a:bodyPr anchorCtr="0" anchor="t" bIns="12700" lIns="12700" spcFirstLastPara="1" rIns="12700" wrap="square" tIns="12700">
            <a:noAutofit/>
          </a:bodyPr>
          <a:lstStyle/>
          <a:p>
            <a:pPr indent="0" lvl="0" marL="0" marR="0" rtl="0" algn="l">
              <a:lnSpc>
                <a:spcPct val="83333"/>
              </a:lnSpc>
              <a:spcBef>
                <a:spcPts val="0"/>
              </a:spcBef>
              <a:spcAft>
                <a:spcPts val="0"/>
              </a:spcAft>
              <a:buClr>
                <a:srgbClr val="5B21B6"/>
              </a:buClr>
              <a:buSzPts val="1000"/>
              <a:buFont typeface="Inter"/>
              <a:buNone/>
            </a:pPr>
            <a:r>
              <a:rPr b="1" i="0" lang="en" sz="1000" u="none" cap="none" strike="noStrike">
                <a:solidFill>
                  <a:srgbClr val="5B21B6"/>
                </a:solidFill>
                <a:latin typeface="Inter"/>
                <a:ea typeface="Inter"/>
                <a:cs typeface="Inter"/>
                <a:sym typeface="Inter"/>
              </a:rPr>
              <a:t>Transform</a:t>
            </a:r>
            <a:endParaRPr b="0" i="0" sz="1000" u="none" cap="none" strike="noStrike">
              <a:solidFill>
                <a:schemeClr val="dk1"/>
              </a:solidFill>
              <a:latin typeface="Calibri"/>
              <a:ea typeface="Calibri"/>
              <a:cs typeface="Calibri"/>
              <a:sym typeface="Calibri"/>
            </a:endParaRPr>
          </a:p>
        </p:txBody>
      </p:sp>
      <p:sp>
        <p:nvSpPr>
          <p:cNvPr id="160" name="Google Shape;160;p17"/>
          <p:cNvSpPr/>
          <p:nvPr/>
        </p:nvSpPr>
        <p:spPr>
          <a:xfrm>
            <a:off x="1447602" y="4061750"/>
            <a:ext cx="864600" cy="133200"/>
          </a:xfrm>
          <a:prstGeom prst="rect">
            <a:avLst/>
          </a:prstGeom>
          <a:noFill/>
          <a:ln>
            <a:noFill/>
          </a:ln>
        </p:spPr>
        <p:txBody>
          <a:bodyPr anchorCtr="0" anchor="t" bIns="12700" lIns="12700" spcFirstLastPara="1" rIns="12700" wrap="square" tIns="12700">
            <a:noAutofit/>
          </a:bodyPr>
          <a:lstStyle/>
          <a:p>
            <a:pPr indent="0" lvl="0" marL="0" marR="0" rtl="0" algn="l">
              <a:lnSpc>
                <a:spcPct val="83333"/>
              </a:lnSpc>
              <a:spcBef>
                <a:spcPts val="0"/>
              </a:spcBef>
              <a:spcAft>
                <a:spcPts val="0"/>
              </a:spcAft>
              <a:buClr>
                <a:srgbClr val="5B21B6"/>
              </a:buClr>
              <a:buSzPts val="1000"/>
              <a:buFont typeface="Inter"/>
              <a:buNone/>
            </a:pPr>
            <a:r>
              <a:rPr b="1" i="0" lang="en" sz="1000" u="none" cap="none" strike="noStrike">
                <a:solidFill>
                  <a:srgbClr val="5B21B6"/>
                </a:solidFill>
                <a:latin typeface="Inter"/>
                <a:ea typeface="Inter"/>
                <a:cs typeface="Inter"/>
                <a:sym typeface="Inter"/>
              </a:rPr>
              <a:t>Summarise</a:t>
            </a:r>
            <a:endParaRPr b="0" i="0" sz="1000" u="none" cap="none" strike="noStrike">
              <a:solidFill>
                <a:schemeClr val="dk1"/>
              </a:solidFill>
              <a:latin typeface="Calibri"/>
              <a:ea typeface="Calibri"/>
              <a:cs typeface="Calibri"/>
              <a:sym typeface="Calibri"/>
            </a:endParaRPr>
          </a:p>
        </p:txBody>
      </p:sp>
      <p:sp>
        <p:nvSpPr>
          <p:cNvPr id="161" name="Google Shape;161;p17"/>
          <p:cNvSpPr/>
          <p:nvPr/>
        </p:nvSpPr>
        <p:spPr>
          <a:xfrm>
            <a:off x="589374" y="4241451"/>
            <a:ext cx="674700" cy="191700"/>
          </a:xfrm>
          <a:prstGeom prst="rect">
            <a:avLst/>
          </a:prstGeom>
          <a:noFill/>
          <a:ln>
            <a:noFill/>
          </a:ln>
        </p:spPr>
        <p:txBody>
          <a:bodyPr anchorCtr="0" anchor="t" bIns="12700" lIns="12700" spcFirstLastPara="1" rIns="12700" wrap="square" tIns="12700">
            <a:noAutofit/>
          </a:bodyPr>
          <a:lstStyle/>
          <a:p>
            <a:pPr indent="0" lvl="0" marL="0" marR="0" rtl="0" algn="l">
              <a:lnSpc>
                <a:spcPct val="83333"/>
              </a:lnSpc>
              <a:spcBef>
                <a:spcPts val="0"/>
              </a:spcBef>
              <a:spcAft>
                <a:spcPts val="0"/>
              </a:spcAft>
              <a:buClr>
                <a:srgbClr val="5B21B6"/>
              </a:buClr>
              <a:buSzPts val="1000"/>
              <a:buFont typeface="Inter"/>
              <a:buNone/>
            </a:pPr>
            <a:r>
              <a:rPr b="1" i="0" lang="en" sz="1000" u="none" cap="none" strike="noStrike">
                <a:solidFill>
                  <a:srgbClr val="5B21B6"/>
                </a:solidFill>
                <a:latin typeface="Inter"/>
                <a:ea typeface="Inter"/>
                <a:cs typeface="Inter"/>
                <a:sym typeface="Inter"/>
              </a:rPr>
              <a:t>Generate</a:t>
            </a:r>
            <a:endParaRPr b="0" i="0" sz="1000" u="none" cap="none" strike="noStrike">
              <a:solidFill>
                <a:schemeClr val="dk1"/>
              </a:solidFill>
              <a:latin typeface="Calibri"/>
              <a:ea typeface="Calibri"/>
              <a:cs typeface="Calibri"/>
              <a:sym typeface="Calibri"/>
            </a:endParaRPr>
          </a:p>
        </p:txBody>
      </p:sp>
      <p:sp>
        <p:nvSpPr>
          <p:cNvPr id="162" name="Google Shape;162;p17"/>
          <p:cNvSpPr/>
          <p:nvPr/>
        </p:nvSpPr>
        <p:spPr>
          <a:xfrm>
            <a:off x="1377353" y="4241451"/>
            <a:ext cx="561900" cy="191700"/>
          </a:xfrm>
          <a:prstGeom prst="rect">
            <a:avLst/>
          </a:prstGeom>
          <a:noFill/>
          <a:ln>
            <a:noFill/>
          </a:ln>
        </p:spPr>
        <p:txBody>
          <a:bodyPr anchorCtr="0" anchor="t" bIns="12700" lIns="12700" spcFirstLastPara="1" rIns="12700" wrap="square" tIns="12700">
            <a:noAutofit/>
          </a:bodyPr>
          <a:lstStyle/>
          <a:p>
            <a:pPr indent="0" lvl="0" marL="0" marR="0" rtl="0" algn="l">
              <a:lnSpc>
                <a:spcPct val="83333"/>
              </a:lnSpc>
              <a:spcBef>
                <a:spcPts val="0"/>
              </a:spcBef>
              <a:spcAft>
                <a:spcPts val="0"/>
              </a:spcAft>
              <a:buClr>
                <a:srgbClr val="5B21B6"/>
              </a:buClr>
              <a:buSzPts val="1000"/>
              <a:buFont typeface="Inter"/>
              <a:buNone/>
            </a:pPr>
            <a:r>
              <a:rPr b="1" i="0" lang="en" sz="1000" u="none" cap="none" strike="noStrike">
                <a:solidFill>
                  <a:srgbClr val="5B21B6"/>
                </a:solidFill>
                <a:latin typeface="Inter"/>
                <a:ea typeface="Inter"/>
                <a:cs typeface="Inter"/>
                <a:sym typeface="Inter"/>
              </a:rPr>
              <a:t>Judge</a:t>
            </a:r>
            <a:endParaRPr b="0" i="0" sz="1000" u="none" cap="none" strike="noStrike">
              <a:solidFill>
                <a:schemeClr val="dk1"/>
              </a:solidFill>
              <a:latin typeface="Calibri"/>
              <a:ea typeface="Calibri"/>
              <a:cs typeface="Calibri"/>
              <a:sym typeface="Calibri"/>
            </a:endParaRPr>
          </a:p>
        </p:txBody>
      </p:sp>
      <p:sp>
        <p:nvSpPr>
          <p:cNvPr id="163" name="Google Shape;163;p17"/>
          <p:cNvSpPr/>
          <p:nvPr/>
        </p:nvSpPr>
        <p:spPr>
          <a:xfrm>
            <a:off x="618475" y="4479651"/>
            <a:ext cx="752400" cy="191700"/>
          </a:xfrm>
          <a:prstGeom prst="rect">
            <a:avLst/>
          </a:prstGeom>
          <a:noFill/>
          <a:ln>
            <a:noFill/>
          </a:ln>
        </p:spPr>
        <p:txBody>
          <a:bodyPr anchorCtr="0" anchor="t" bIns="12700" lIns="12700" spcFirstLastPara="1" rIns="12700" wrap="square" tIns="12700">
            <a:noAutofit/>
          </a:bodyPr>
          <a:lstStyle/>
          <a:p>
            <a:pPr indent="0" lvl="0" marL="0" marR="0" rtl="0" algn="l">
              <a:lnSpc>
                <a:spcPct val="83333"/>
              </a:lnSpc>
              <a:spcBef>
                <a:spcPts val="0"/>
              </a:spcBef>
              <a:spcAft>
                <a:spcPts val="0"/>
              </a:spcAft>
              <a:buClr>
                <a:srgbClr val="5B21B6"/>
              </a:buClr>
              <a:buSzPts val="1000"/>
              <a:buFont typeface="Inter"/>
              <a:buNone/>
            </a:pPr>
            <a:r>
              <a:rPr b="1" i="0" lang="en" sz="1000" u="none" cap="none" strike="noStrike">
                <a:solidFill>
                  <a:srgbClr val="5B21B6"/>
                </a:solidFill>
                <a:latin typeface="Inter"/>
                <a:ea typeface="Inter"/>
                <a:cs typeface="Inter"/>
                <a:sym typeface="Inter"/>
              </a:rPr>
              <a:t>Converse</a:t>
            </a:r>
            <a:endParaRPr b="0" i="0" sz="1000" u="none" cap="none" strike="noStrike">
              <a:solidFill>
                <a:schemeClr val="dk1"/>
              </a:solidFill>
              <a:latin typeface="Calibri"/>
              <a:ea typeface="Calibri"/>
              <a:cs typeface="Calibri"/>
              <a:sym typeface="Calibri"/>
            </a:endParaRPr>
          </a:p>
        </p:txBody>
      </p:sp>
      <p:sp>
        <p:nvSpPr>
          <p:cNvPr id="164" name="Google Shape;164;p17"/>
          <p:cNvSpPr/>
          <p:nvPr/>
        </p:nvSpPr>
        <p:spPr>
          <a:xfrm>
            <a:off x="2703450" y="3534950"/>
            <a:ext cx="5841000" cy="14634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5" name="Google Shape;165;p17"/>
          <p:cNvSpPr/>
          <p:nvPr/>
        </p:nvSpPr>
        <p:spPr>
          <a:xfrm>
            <a:off x="2811197" y="3612496"/>
            <a:ext cx="4177500" cy="1335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WHY THIS STEP AND NOT ANOTHER?</a:t>
            </a:r>
            <a:endParaRPr b="0" i="0" sz="900" u="none" cap="none" strike="noStrike">
              <a:solidFill>
                <a:schemeClr val="dk1"/>
              </a:solidFill>
              <a:latin typeface="Calibri"/>
              <a:ea typeface="Calibri"/>
              <a:cs typeface="Calibri"/>
              <a:sym typeface="Calibri"/>
            </a:endParaRPr>
          </a:p>
        </p:txBody>
      </p:sp>
      <p:sp>
        <p:nvSpPr>
          <p:cNvPr id="166" name="Google Shape;166;p17"/>
          <p:cNvSpPr/>
          <p:nvPr/>
        </p:nvSpPr>
        <p:spPr>
          <a:xfrm>
            <a:off x="2811200" y="3798500"/>
            <a:ext cx="5659500" cy="1554000"/>
          </a:xfrm>
          <a:prstGeom prst="rect">
            <a:avLst/>
          </a:prstGeom>
          <a:noFill/>
          <a:ln>
            <a:noFill/>
          </a:ln>
        </p:spPr>
        <p:txBody>
          <a:bodyPr anchorCtr="0" anchor="t" bIns="12700" lIns="12700" spcFirstLastPara="1" rIns="12700" wrap="square" tIns="12700">
            <a:noAutofit/>
          </a:bodyPr>
          <a:lstStyle/>
          <a:p>
            <a:pPr indent="0" lvl="0" marL="0" rtl="0" algn="l">
              <a:lnSpc>
                <a:spcPct val="115000"/>
              </a:lnSpc>
              <a:spcBef>
                <a:spcPts val="1200"/>
              </a:spcBef>
              <a:spcAft>
                <a:spcPts val="0"/>
              </a:spcAft>
              <a:buClr>
                <a:schemeClr val="dk1"/>
              </a:buClr>
              <a:buSzPts val="1100"/>
              <a:buFont typeface="Arial"/>
              <a:buNone/>
            </a:pPr>
            <a:r>
              <a:rPr lang="en" sz="1000">
                <a:solidFill>
                  <a:schemeClr val="dk1"/>
                </a:solidFill>
              </a:rPr>
              <a:t>Steps 4 to 7 are H today because a human has to read, interpret, and organize unstructured conversation. No mechanical rule can tell a confirmed commitment apart from a passing remark. That interpretation is exactly where the AI hole sits.</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rPr>
              <a:t>Step 8 is partially H today because following up means going back to the notes manually. The Converse hole replaces that with on-demand Q&amp;A grounded in the transcript itself.</a:t>
            </a:r>
            <a:endParaRPr sz="1000">
              <a:solidFill>
                <a:schemeClr val="dk1"/>
              </a:solidFill>
            </a:endParaRPr>
          </a:p>
          <a:p>
            <a:pPr indent="0" lvl="0" marL="0" marR="0" rtl="0" algn="l">
              <a:lnSpc>
                <a:spcPct val="116667"/>
              </a:lnSpc>
              <a:spcBef>
                <a:spcPts val="1200"/>
              </a:spcBef>
              <a:spcAft>
                <a:spcPts val="0"/>
              </a:spcAft>
              <a:buClr>
                <a:srgbClr val="6B7280"/>
              </a:buClr>
              <a:buSzPts val="1000"/>
              <a:buFont typeface="Inter"/>
              <a:buNone/>
            </a:pPr>
            <a:r>
              <a:t/>
            </a:r>
            <a:endParaRPr sz="1000">
              <a:solidFill>
                <a:schemeClr val="dk1"/>
              </a:solidFill>
            </a:endParaRPr>
          </a:p>
        </p:txBody>
      </p:sp>
      <p:sp>
        <p:nvSpPr>
          <p:cNvPr id="167" name="Google Shape;167;p17"/>
          <p:cNvSpPr/>
          <p:nvPr/>
        </p:nvSpPr>
        <p:spPr>
          <a:xfrm>
            <a:off x="517712" y="906006"/>
            <a:ext cx="6810300" cy="191700"/>
          </a:xfrm>
          <a:prstGeom prst="rect">
            <a:avLst/>
          </a:prstGeom>
          <a:noFill/>
          <a:ln>
            <a:noFill/>
          </a:ln>
        </p:spPr>
        <p:txBody>
          <a:bodyPr anchorCtr="0" anchor="t" bIns="12700" lIns="12700" spcFirstLastPara="1" rIns="12700" wrap="square" tIns="12700">
            <a:noAutofit/>
          </a:bodyPr>
          <a:lstStyle/>
          <a:p>
            <a:pPr indent="0" lvl="0" marL="0" marR="0" rtl="0" algn="l">
              <a:lnSpc>
                <a:spcPct val="119243"/>
              </a:lnSpc>
              <a:spcBef>
                <a:spcPts val="0"/>
              </a:spcBef>
              <a:spcAft>
                <a:spcPts val="0"/>
              </a:spcAft>
              <a:buClr>
                <a:srgbClr val="4B5563"/>
              </a:buClr>
              <a:buSzPts val="900"/>
              <a:buFont typeface="Inter"/>
              <a:buNone/>
            </a:pPr>
            <a:r>
              <a:rPr b="0" i="0" lang="en" sz="1000" u="none" cap="none" strike="noStrike">
                <a:solidFill>
                  <a:srgbClr val="4B5563"/>
                </a:solidFill>
                <a:latin typeface="Inter"/>
                <a:ea typeface="Inter"/>
                <a:cs typeface="Inter"/>
                <a:sym typeface="Inter"/>
              </a:rPr>
              <a:t>Two AI holes identified: Extract + Classify, and Converse.</a:t>
            </a:r>
            <a:endParaRPr b="0" i="0" sz="10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C"/>
        </a:solidFill>
      </p:bgPr>
    </p:bg>
    <p:spTree>
      <p:nvGrpSpPr>
        <p:cNvPr id="172" name="Shape 172"/>
        <p:cNvGrpSpPr/>
        <p:nvPr/>
      </p:nvGrpSpPr>
      <p:grpSpPr>
        <a:xfrm>
          <a:off x="0" y="0"/>
          <a:ext cx="0" cy="0"/>
          <a:chOff x="0" y="0"/>
          <a:chExt cx="0" cy="0"/>
        </a:xfrm>
      </p:grpSpPr>
      <p:sp>
        <p:nvSpPr>
          <p:cNvPr id="173" name="Google Shape;173;p18"/>
          <p:cNvSpPr/>
          <p:nvPr/>
        </p:nvSpPr>
        <p:spPr>
          <a:xfrm>
            <a:off x="457200" y="528638"/>
            <a:ext cx="9052500" cy="320100"/>
          </a:xfrm>
          <a:prstGeom prst="rect">
            <a:avLst/>
          </a:prstGeom>
          <a:noFill/>
          <a:ln>
            <a:noFill/>
          </a:ln>
        </p:spPr>
        <p:txBody>
          <a:bodyPr anchorCtr="0" anchor="t" bIns="12700" lIns="12700" spcFirstLastPara="1" rIns="12700" wrap="square" tIns="12700">
            <a:noAutofit/>
          </a:bodyPr>
          <a:lstStyle/>
          <a:p>
            <a:pPr indent="0" lvl="0" marL="0" marR="0" rtl="0" algn="l">
              <a:lnSpc>
                <a:spcPct val="84096"/>
              </a:lnSpc>
              <a:spcBef>
                <a:spcPts val="0"/>
              </a:spcBef>
              <a:spcAft>
                <a:spcPts val="0"/>
              </a:spcAft>
              <a:buClr>
                <a:srgbClr val="1F2937"/>
              </a:buClr>
              <a:buSzPts val="2300"/>
              <a:buFont typeface="Inter"/>
              <a:buNone/>
            </a:pPr>
            <a:r>
              <a:rPr b="1" i="0" lang="en" sz="2300" u="none" cap="none" strike="noStrike">
                <a:solidFill>
                  <a:srgbClr val="1F2937"/>
                </a:solidFill>
                <a:latin typeface="Inter"/>
                <a:ea typeface="Inter"/>
                <a:cs typeface="Inter"/>
                <a:sym typeface="Inter"/>
              </a:rPr>
              <a:t>The LLM calls</a:t>
            </a:r>
            <a:endParaRPr b="0" i="0" sz="2300" u="none" cap="none" strike="noStrike">
              <a:solidFill>
                <a:schemeClr val="dk1"/>
              </a:solidFill>
              <a:latin typeface="Calibri"/>
              <a:ea typeface="Calibri"/>
              <a:cs typeface="Calibri"/>
              <a:sym typeface="Calibri"/>
            </a:endParaRPr>
          </a:p>
        </p:txBody>
      </p:sp>
      <p:sp>
        <p:nvSpPr>
          <p:cNvPr id="174" name="Google Shape;174;p18"/>
          <p:cNvSpPr/>
          <p:nvPr/>
        </p:nvSpPr>
        <p:spPr>
          <a:xfrm>
            <a:off x="457200" y="906006"/>
            <a:ext cx="7020000" cy="191700"/>
          </a:xfrm>
          <a:prstGeom prst="rect">
            <a:avLst/>
          </a:prstGeom>
          <a:noFill/>
          <a:ln>
            <a:noFill/>
          </a:ln>
        </p:spPr>
        <p:txBody>
          <a:bodyPr anchorCtr="0" anchor="t" bIns="12700" lIns="12700" spcFirstLastPara="1" rIns="12700" wrap="square" tIns="12700">
            <a:noAutofit/>
          </a:bodyPr>
          <a:lstStyle/>
          <a:p>
            <a:pPr indent="0" lvl="0" marL="0" marR="0" rtl="0" algn="l">
              <a:lnSpc>
                <a:spcPct val="119243"/>
              </a:lnSpc>
              <a:spcBef>
                <a:spcPts val="0"/>
              </a:spcBef>
              <a:spcAft>
                <a:spcPts val="0"/>
              </a:spcAft>
              <a:buClr>
                <a:srgbClr val="4B5563"/>
              </a:buClr>
              <a:buSzPts val="900"/>
              <a:buFont typeface="Inter"/>
              <a:buNone/>
            </a:pPr>
            <a:r>
              <a:rPr b="0" i="0" lang="en" sz="900" u="none" cap="none" strike="noStrike">
                <a:solidFill>
                  <a:srgbClr val="4B5563"/>
                </a:solidFill>
                <a:latin typeface="Inter"/>
                <a:ea typeface="Inter"/>
                <a:cs typeface="Inter"/>
                <a:sym typeface="Inter"/>
              </a:rPr>
              <a:t>One job per call, never two. Cheap work first, expensive work last. The output of one call feeds the next.</a:t>
            </a:r>
            <a:endParaRPr b="0" i="0" sz="900" u="none" cap="none" strike="noStrike">
              <a:solidFill>
                <a:schemeClr val="dk1"/>
              </a:solidFill>
              <a:latin typeface="Calibri"/>
              <a:ea typeface="Calibri"/>
              <a:cs typeface="Calibri"/>
              <a:sym typeface="Calibri"/>
            </a:endParaRPr>
          </a:p>
        </p:txBody>
      </p:sp>
      <p:sp>
        <p:nvSpPr>
          <p:cNvPr id="175" name="Google Shape;175;p18"/>
          <p:cNvSpPr/>
          <p:nvPr/>
        </p:nvSpPr>
        <p:spPr>
          <a:xfrm>
            <a:off x="461010" y="1225332"/>
            <a:ext cx="8222100" cy="251400"/>
          </a:xfrm>
          <a:prstGeom prst="rect">
            <a:avLst/>
          </a:prstGeom>
          <a:solidFill>
            <a:srgbClr val="F5F3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6" name="Google Shape;176;p18"/>
          <p:cNvSpPr/>
          <p:nvPr/>
        </p:nvSpPr>
        <p:spPr>
          <a:xfrm>
            <a:off x="461010" y="1472982"/>
            <a:ext cx="8222100" cy="4800"/>
          </a:xfrm>
          <a:prstGeom prst="rect">
            <a:avLst/>
          </a:prstGeom>
          <a:solidFill>
            <a:srgbClr val="E5E7E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7" name="Google Shape;177;p18"/>
          <p:cNvSpPr/>
          <p:nvPr/>
        </p:nvSpPr>
        <p:spPr>
          <a:xfrm>
            <a:off x="565785" y="1292007"/>
            <a:ext cx="304800" cy="1335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CALL</a:t>
            </a:r>
            <a:endParaRPr b="0" i="0" sz="900" u="none" cap="none" strike="noStrike">
              <a:solidFill>
                <a:schemeClr val="dk1"/>
              </a:solidFill>
              <a:latin typeface="Calibri"/>
              <a:ea typeface="Calibri"/>
              <a:cs typeface="Calibri"/>
              <a:sym typeface="Calibri"/>
            </a:endParaRPr>
          </a:p>
        </p:txBody>
      </p:sp>
      <p:sp>
        <p:nvSpPr>
          <p:cNvPr id="178" name="Google Shape;178;p18"/>
          <p:cNvSpPr/>
          <p:nvPr/>
        </p:nvSpPr>
        <p:spPr>
          <a:xfrm>
            <a:off x="1042035" y="1292007"/>
            <a:ext cx="2449800" cy="1335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THE ONE JOB</a:t>
            </a:r>
            <a:endParaRPr b="0" i="0" sz="900" u="none" cap="none" strike="noStrike">
              <a:solidFill>
                <a:schemeClr val="dk1"/>
              </a:solidFill>
              <a:latin typeface="Calibri"/>
              <a:ea typeface="Calibri"/>
              <a:cs typeface="Calibri"/>
              <a:sym typeface="Calibri"/>
            </a:endParaRPr>
          </a:p>
        </p:txBody>
      </p:sp>
      <p:sp>
        <p:nvSpPr>
          <p:cNvPr id="179" name="Google Shape;179;p18"/>
          <p:cNvSpPr/>
          <p:nvPr/>
        </p:nvSpPr>
        <p:spPr>
          <a:xfrm>
            <a:off x="3623906" y="1292007"/>
            <a:ext cx="2449800" cy="1335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WHAT GOES IN</a:t>
            </a:r>
            <a:endParaRPr b="0" i="0" sz="900" u="none" cap="none" strike="noStrike">
              <a:solidFill>
                <a:schemeClr val="dk1"/>
              </a:solidFill>
              <a:latin typeface="Calibri"/>
              <a:ea typeface="Calibri"/>
              <a:cs typeface="Calibri"/>
              <a:sym typeface="Calibri"/>
            </a:endParaRPr>
          </a:p>
        </p:txBody>
      </p:sp>
      <p:sp>
        <p:nvSpPr>
          <p:cNvPr id="180" name="Google Shape;180;p18"/>
          <p:cNvSpPr/>
          <p:nvPr/>
        </p:nvSpPr>
        <p:spPr>
          <a:xfrm>
            <a:off x="6205835" y="1292007"/>
            <a:ext cx="2449800" cy="1335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WHAT COMES OUT</a:t>
            </a:r>
            <a:endParaRPr b="0" i="0" sz="900" u="none" cap="none" strike="noStrike">
              <a:solidFill>
                <a:schemeClr val="dk1"/>
              </a:solidFill>
              <a:latin typeface="Calibri"/>
              <a:ea typeface="Calibri"/>
              <a:cs typeface="Calibri"/>
              <a:sym typeface="Calibri"/>
            </a:endParaRPr>
          </a:p>
        </p:txBody>
      </p:sp>
      <p:sp>
        <p:nvSpPr>
          <p:cNvPr id="181" name="Google Shape;181;p18"/>
          <p:cNvSpPr/>
          <p:nvPr/>
        </p:nvSpPr>
        <p:spPr>
          <a:xfrm>
            <a:off x="461010" y="1924467"/>
            <a:ext cx="8222100" cy="480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2" name="Google Shape;182;p18"/>
          <p:cNvSpPr/>
          <p:nvPr/>
        </p:nvSpPr>
        <p:spPr>
          <a:xfrm>
            <a:off x="565785" y="1476792"/>
            <a:ext cx="304800" cy="466800"/>
          </a:xfrm>
          <a:prstGeom prst="rect">
            <a:avLst/>
          </a:prstGeom>
          <a:noFill/>
          <a:ln>
            <a:noFill/>
          </a:ln>
        </p:spPr>
        <p:txBody>
          <a:bodyPr anchorCtr="0" anchor="ctr" bIns="12700" lIns="12700" spcFirstLastPara="1" rIns="12700" wrap="square" tIns="12700">
            <a:noAutofit/>
          </a:bodyPr>
          <a:lstStyle/>
          <a:p>
            <a:pPr indent="0" lvl="0" marL="0" marR="0" rtl="0" algn="l">
              <a:lnSpc>
                <a:spcPct val="74468"/>
              </a:lnSpc>
              <a:spcBef>
                <a:spcPts val="0"/>
              </a:spcBef>
              <a:spcAft>
                <a:spcPts val="0"/>
              </a:spcAft>
              <a:buClr>
                <a:srgbClr val="7C3AED"/>
              </a:buClr>
              <a:buSzPts val="1100"/>
              <a:buFont typeface="JetBrains Mono"/>
              <a:buNone/>
            </a:pPr>
            <a:r>
              <a:rPr b="1" i="0" lang="en" sz="1100" u="none" cap="none" strike="noStrike">
                <a:solidFill>
                  <a:srgbClr val="7C3AED"/>
                </a:solidFill>
                <a:latin typeface="JetBrains Mono"/>
                <a:ea typeface="JetBrains Mono"/>
                <a:cs typeface="JetBrains Mono"/>
                <a:sym typeface="JetBrains Mono"/>
              </a:rPr>
              <a:t>1</a:t>
            </a:r>
            <a:endParaRPr b="0" i="0" sz="1100" u="none" cap="none" strike="noStrike">
              <a:solidFill>
                <a:schemeClr val="dk1"/>
              </a:solidFill>
              <a:latin typeface="Calibri"/>
              <a:ea typeface="Calibri"/>
              <a:cs typeface="Calibri"/>
              <a:sym typeface="Calibri"/>
            </a:endParaRPr>
          </a:p>
        </p:txBody>
      </p:sp>
      <p:sp>
        <p:nvSpPr>
          <p:cNvPr id="183" name="Google Shape;183;p18"/>
          <p:cNvSpPr/>
          <p:nvPr/>
        </p:nvSpPr>
        <p:spPr>
          <a:xfrm>
            <a:off x="937260" y="1476792"/>
            <a:ext cx="4800" cy="44760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4" name="Google Shape;184;p18"/>
          <p:cNvSpPr/>
          <p:nvPr/>
        </p:nvSpPr>
        <p:spPr>
          <a:xfrm>
            <a:off x="3519131" y="1476792"/>
            <a:ext cx="4800" cy="44760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5" name="Google Shape;185;p18"/>
          <p:cNvSpPr/>
          <p:nvPr/>
        </p:nvSpPr>
        <p:spPr>
          <a:xfrm>
            <a:off x="6101060" y="1476792"/>
            <a:ext cx="4800" cy="44760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6" name="Google Shape;186;p18"/>
          <p:cNvSpPr/>
          <p:nvPr/>
        </p:nvSpPr>
        <p:spPr>
          <a:xfrm>
            <a:off x="461010" y="1928277"/>
            <a:ext cx="8222100" cy="45150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7" name="Google Shape;187;p18"/>
          <p:cNvSpPr/>
          <p:nvPr/>
        </p:nvSpPr>
        <p:spPr>
          <a:xfrm>
            <a:off x="461010" y="2375952"/>
            <a:ext cx="8222100" cy="480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8" name="Google Shape;188;p18"/>
          <p:cNvSpPr/>
          <p:nvPr/>
        </p:nvSpPr>
        <p:spPr>
          <a:xfrm>
            <a:off x="565785" y="1928277"/>
            <a:ext cx="304800" cy="466800"/>
          </a:xfrm>
          <a:prstGeom prst="rect">
            <a:avLst/>
          </a:prstGeom>
          <a:noFill/>
          <a:ln>
            <a:noFill/>
          </a:ln>
        </p:spPr>
        <p:txBody>
          <a:bodyPr anchorCtr="0" anchor="ctr" bIns="12700" lIns="12700" spcFirstLastPara="1" rIns="12700" wrap="square" tIns="12700">
            <a:noAutofit/>
          </a:bodyPr>
          <a:lstStyle/>
          <a:p>
            <a:pPr indent="0" lvl="0" marL="0" marR="0" rtl="0" algn="l">
              <a:lnSpc>
                <a:spcPct val="74468"/>
              </a:lnSpc>
              <a:spcBef>
                <a:spcPts val="0"/>
              </a:spcBef>
              <a:spcAft>
                <a:spcPts val="0"/>
              </a:spcAft>
              <a:buClr>
                <a:srgbClr val="7C3AED"/>
              </a:buClr>
              <a:buSzPts val="1100"/>
              <a:buFont typeface="JetBrains Mono"/>
              <a:buNone/>
            </a:pPr>
            <a:r>
              <a:rPr b="1" i="0" lang="en" sz="1100" u="none" cap="none" strike="noStrike">
                <a:solidFill>
                  <a:srgbClr val="7C3AED"/>
                </a:solidFill>
                <a:latin typeface="JetBrains Mono"/>
                <a:ea typeface="JetBrains Mono"/>
                <a:cs typeface="JetBrains Mono"/>
                <a:sym typeface="JetBrains Mono"/>
              </a:rPr>
              <a:t>2</a:t>
            </a:r>
            <a:endParaRPr b="0" i="0" sz="1100" u="none" cap="none" strike="noStrike">
              <a:solidFill>
                <a:schemeClr val="dk1"/>
              </a:solidFill>
              <a:latin typeface="Calibri"/>
              <a:ea typeface="Calibri"/>
              <a:cs typeface="Calibri"/>
              <a:sym typeface="Calibri"/>
            </a:endParaRPr>
          </a:p>
        </p:txBody>
      </p:sp>
      <p:sp>
        <p:nvSpPr>
          <p:cNvPr id="189" name="Google Shape;189;p18"/>
          <p:cNvSpPr/>
          <p:nvPr/>
        </p:nvSpPr>
        <p:spPr>
          <a:xfrm>
            <a:off x="937260" y="1928277"/>
            <a:ext cx="4800" cy="44760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0" name="Google Shape;190;p18"/>
          <p:cNvSpPr/>
          <p:nvPr/>
        </p:nvSpPr>
        <p:spPr>
          <a:xfrm>
            <a:off x="3519131" y="1928277"/>
            <a:ext cx="4800" cy="44760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1" name="Google Shape;191;p18"/>
          <p:cNvSpPr/>
          <p:nvPr/>
        </p:nvSpPr>
        <p:spPr>
          <a:xfrm>
            <a:off x="6101060" y="1928277"/>
            <a:ext cx="4800" cy="44760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2" name="Google Shape;192;p18"/>
          <p:cNvSpPr/>
          <p:nvPr/>
        </p:nvSpPr>
        <p:spPr>
          <a:xfrm>
            <a:off x="461010" y="2827437"/>
            <a:ext cx="8222100" cy="480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3" name="Google Shape;193;p18"/>
          <p:cNvSpPr/>
          <p:nvPr/>
        </p:nvSpPr>
        <p:spPr>
          <a:xfrm>
            <a:off x="937260" y="2379762"/>
            <a:ext cx="4800" cy="44760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4" name="Google Shape;194;p18"/>
          <p:cNvSpPr/>
          <p:nvPr/>
        </p:nvSpPr>
        <p:spPr>
          <a:xfrm>
            <a:off x="3519131" y="2379762"/>
            <a:ext cx="4800" cy="44760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5" name="Google Shape;195;p18"/>
          <p:cNvSpPr/>
          <p:nvPr/>
        </p:nvSpPr>
        <p:spPr>
          <a:xfrm>
            <a:off x="6101060" y="2379762"/>
            <a:ext cx="4800" cy="44760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6" name="Google Shape;196;p18"/>
          <p:cNvSpPr/>
          <p:nvPr/>
        </p:nvSpPr>
        <p:spPr>
          <a:xfrm>
            <a:off x="937260" y="2831247"/>
            <a:ext cx="4800" cy="44760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7" name="Google Shape;197;p18"/>
          <p:cNvSpPr/>
          <p:nvPr/>
        </p:nvSpPr>
        <p:spPr>
          <a:xfrm>
            <a:off x="3519131" y="2831247"/>
            <a:ext cx="4800" cy="44760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8" name="Google Shape;198;p18"/>
          <p:cNvSpPr/>
          <p:nvPr/>
        </p:nvSpPr>
        <p:spPr>
          <a:xfrm>
            <a:off x="6101060" y="2831247"/>
            <a:ext cx="4800" cy="44760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9" name="Google Shape;199;p18"/>
          <p:cNvSpPr/>
          <p:nvPr/>
        </p:nvSpPr>
        <p:spPr>
          <a:xfrm>
            <a:off x="457200" y="2740928"/>
            <a:ext cx="8229600" cy="14703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0" name="Google Shape;200;p18"/>
          <p:cNvSpPr/>
          <p:nvPr/>
        </p:nvSpPr>
        <p:spPr>
          <a:xfrm>
            <a:off x="584835" y="3064778"/>
            <a:ext cx="8771700" cy="1335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WHICH CALL FEEDS WHICH</a:t>
            </a:r>
            <a:endParaRPr b="0" i="0" sz="900" u="none" cap="none" strike="noStrike">
              <a:solidFill>
                <a:schemeClr val="dk1"/>
              </a:solidFill>
              <a:latin typeface="Calibri"/>
              <a:ea typeface="Calibri"/>
              <a:cs typeface="Calibri"/>
              <a:sym typeface="Calibri"/>
            </a:endParaRPr>
          </a:p>
        </p:txBody>
      </p:sp>
      <p:sp>
        <p:nvSpPr>
          <p:cNvPr id="201" name="Google Shape;201;p18"/>
          <p:cNvSpPr/>
          <p:nvPr/>
        </p:nvSpPr>
        <p:spPr>
          <a:xfrm>
            <a:off x="584825" y="3226711"/>
            <a:ext cx="7749900" cy="831300"/>
          </a:xfrm>
          <a:prstGeom prst="rect">
            <a:avLst/>
          </a:prstGeom>
          <a:noFill/>
          <a:ln>
            <a:noFill/>
          </a:ln>
        </p:spPr>
        <p:txBody>
          <a:bodyPr anchorCtr="0" anchor="t" bIns="12700" lIns="12700" spcFirstLastPara="1" rIns="12700" wrap="square" tIns="12700">
            <a:no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Call 1 output becomes Call 2 input. The full JSON from Call 1 is passed as context to Call 2 so every answer the user gets is grounded in the same analysis, not a fresh read of the transcript.</a:t>
            </a:r>
            <a:endParaRPr sz="1100">
              <a:solidFill>
                <a:schemeClr val="dk1"/>
              </a:solidFill>
            </a:endParaRPr>
          </a:p>
          <a:p>
            <a:pPr indent="0" lvl="0" marL="0" rtl="0" algn="l">
              <a:spcBef>
                <a:spcPts val="1200"/>
              </a:spcBef>
              <a:spcAft>
                <a:spcPts val="1125"/>
              </a:spcAft>
              <a:buClr>
                <a:schemeClr val="dk1"/>
              </a:buClr>
              <a:buSzPts val="1100"/>
              <a:buFont typeface="Arial"/>
              <a:buNone/>
            </a:pPr>
            <a:r>
              <a:t/>
            </a:r>
            <a:endParaRPr sz="1100">
              <a:solidFill>
                <a:schemeClr val="dk1"/>
              </a:solidFill>
            </a:endParaRPr>
          </a:p>
        </p:txBody>
      </p:sp>
      <p:sp>
        <p:nvSpPr>
          <p:cNvPr id="202" name="Google Shape;202;p18"/>
          <p:cNvSpPr txBox="1"/>
          <p:nvPr/>
        </p:nvSpPr>
        <p:spPr>
          <a:xfrm>
            <a:off x="1008700" y="1472981"/>
            <a:ext cx="248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Extract and classify the full transcript into a structured accountability report </a:t>
            </a:r>
            <a:endParaRPr sz="900"/>
          </a:p>
        </p:txBody>
      </p:sp>
      <p:sp>
        <p:nvSpPr>
          <p:cNvPr id="203" name="Google Shape;203;p18"/>
          <p:cNvSpPr txBox="1"/>
          <p:nvPr/>
        </p:nvSpPr>
        <p:spPr>
          <a:xfrm>
            <a:off x="3570925" y="1503423"/>
            <a:ext cx="248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Raw transcript text, meeting title, system prompt (8 blocks) </a:t>
            </a:r>
            <a:endParaRPr sz="900"/>
          </a:p>
        </p:txBody>
      </p:sp>
      <p:sp>
        <p:nvSpPr>
          <p:cNvPr id="204" name="Google Shape;204;p18"/>
          <p:cNvSpPr txBox="1"/>
          <p:nvPr/>
        </p:nvSpPr>
        <p:spPr>
          <a:xfrm>
            <a:off x="6172450" y="1438950"/>
            <a:ext cx="2449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JSON object: decisions, action items, commitments (typed as CONFIRMED, ORPHANED, or PASSING), key moments, topics, executive summary </a:t>
            </a:r>
            <a:endParaRPr sz="900"/>
          </a:p>
        </p:txBody>
      </p:sp>
      <p:sp>
        <p:nvSpPr>
          <p:cNvPr id="205" name="Google Shape;205;p18"/>
          <p:cNvSpPr txBox="1"/>
          <p:nvPr/>
        </p:nvSpPr>
        <p:spPr>
          <a:xfrm>
            <a:off x="1031871" y="1909532"/>
            <a:ext cx="23580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Answer the user's follow-up question about the meeting </a:t>
            </a:r>
            <a:endParaRPr sz="1000"/>
          </a:p>
        </p:txBody>
      </p:sp>
      <p:sp>
        <p:nvSpPr>
          <p:cNvPr id="206" name="Google Shape;206;p18"/>
          <p:cNvSpPr txBox="1"/>
          <p:nvPr/>
        </p:nvSpPr>
        <p:spPr>
          <a:xfrm>
            <a:off x="3617225" y="1943550"/>
            <a:ext cx="22395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t>Call 1 JSON output (as context) + user's free-form question + system prompt (5 blocks) </a:t>
            </a:r>
            <a:endParaRPr sz="900"/>
          </a:p>
        </p:txBody>
      </p:sp>
      <p:sp>
        <p:nvSpPr>
          <p:cNvPr id="207" name="Google Shape;207;p18"/>
          <p:cNvSpPr txBox="1"/>
          <p:nvPr/>
        </p:nvSpPr>
        <p:spPr>
          <a:xfrm>
            <a:off x="6088825" y="1988900"/>
            <a:ext cx="2483100" cy="45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t>A short cited answer grounded in the transcript (1 sentence or 2 to 4 bullets, each with a speaker and timestamp citation) </a:t>
            </a:r>
            <a:endParaRPr sz="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C"/>
        </a:solidFill>
      </p:bgPr>
    </p:bg>
    <p:spTree>
      <p:nvGrpSpPr>
        <p:cNvPr id="212" name="Shape 212"/>
        <p:cNvGrpSpPr/>
        <p:nvPr/>
      </p:nvGrpSpPr>
      <p:grpSpPr>
        <a:xfrm>
          <a:off x="0" y="0"/>
          <a:ext cx="0" cy="0"/>
          <a:chOff x="0" y="0"/>
          <a:chExt cx="0" cy="0"/>
        </a:xfrm>
      </p:grpSpPr>
      <p:sp>
        <p:nvSpPr>
          <p:cNvPr id="213" name="Google Shape;213;p19"/>
          <p:cNvSpPr/>
          <p:nvPr/>
        </p:nvSpPr>
        <p:spPr>
          <a:xfrm>
            <a:off x="457200" y="528638"/>
            <a:ext cx="6199800" cy="320100"/>
          </a:xfrm>
          <a:prstGeom prst="rect">
            <a:avLst/>
          </a:prstGeom>
          <a:noFill/>
          <a:ln>
            <a:noFill/>
          </a:ln>
        </p:spPr>
        <p:txBody>
          <a:bodyPr anchorCtr="0" anchor="t" bIns="12700" lIns="12700" spcFirstLastPara="1" rIns="12700" wrap="square" tIns="12700">
            <a:noAutofit/>
          </a:bodyPr>
          <a:lstStyle/>
          <a:p>
            <a:pPr indent="0" lvl="0" marL="0" marR="0" rtl="0" algn="l">
              <a:lnSpc>
                <a:spcPct val="84096"/>
              </a:lnSpc>
              <a:spcBef>
                <a:spcPts val="0"/>
              </a:spcBef>
              <a:spcAft>
                <a:spcPts val="0"/>
              </a:spcAft>
              <a:buClr>
                <a:srgbClr val="1F2937"/>
              </a:buClr>
              <a:buSzPts val="2300"/>
              <a:buFont typeface="Inter"/>
              <a:buNone/>
            </a:pPr>
            <a:r>
              <a:rPr b="1" i="0" lang="en" sz="2300" u="none" cap="none" strike="noStrike">
                <a:solidFill>
                  <a:srgbClr val="1F2937"/>
                </a:solidFill>
                <a:latin typeface="Inter"/>
                <a:ea typeface="Inter"/>
                <a:cs typeface="Inter"/>
                <a:sym typeface="Inter"/>
              </a:rPr>
              <a:t>The eight-block system prompt</a:t>
            </a:r>
            <a:endParaRPr b="0" i="0" sz="2300" u="none" cap="none" strike="noStrike">
              <a:solidFill>
                <a:schemeClr val="dk1"/>
              </a:solidFill>
              <a:latin typeface="Calibri"/>
              <a:ea typeface="Calibri"/>
              <a:cs typeface="Calibri"/>
              <a:sym typeface="Calibri"/>
            </a:endParaRPr>
          </a:p>
        </p:txBody>
      </p:sp>
      <p:sp>
        <p:nvSpPr>
          <p:cNvPr id="214" name="Google Shape;214;p19"/>
          <p:cNvSpPr/>
          <p:nvPr/>
        </p:nvSpPr>
        <p:spPr>
          <a:xfrm>
            <a:off x="457200" y="906006"/>
            <a:ext cx="6199800" cy="191700"/>
          </a:xfrm>
          <a:prstGeom prst="rect">
            <a:avLst/>
          </a:prstGeom>
          <a:noFill/>
          <a:ln>
            <a:noFill/>
          </a:ln>
        </p:spPr>
        <p:txBody>
          <a:bodyPr anchorCtr="0" anchor="t" bIns="12700" lIns="12700" spcFirstLastPara="1" rIns="12700" wrap="square" tIns="12700">
            <a:noAutofit/>
          </a:bodyPr>
          <a:lstStyle/>
          <a:p>
            <a:pPr indent="0" lvl="0" marL="0" rtl="0" algn="l">
              <a:lnSpc>
                <a:spcPct val="119243"/>
              </a:lnSpc>
              <a:spcBef>
                <a:spcPts val="0"/>
              </a:spcBef>
              <a:spcAft>
                <a:spcPts val="0"/>
              </a:spcAft>
              <a:buClr>
                <a:srgbClr val="4B5563"/>
              </a:buClr>
              <a:buSzPts val="900"/>
              <a:buFont typeface="Inter"/>
              <a:buNone/>
            </a:pPr>
            <a:r>
              <a:rPr lang="en" sz="900">
                <a:solidFill>
                  <a:srgbClr val="4B5563"/>
                </a:solidFill>
                <a:latin typeface="Inter"/>
                <a:ea typeface="Inter"/>
                <a:cs typeface="Inter"/>
                <a:sym typeface="Inter"/>
              </a:rPr>
              <a:t>Eight-block spec for Call 1. Block 4 empty by design — this call needs no tools. </a:t>
            </a:r>
            <a:endParaRPr sz="900">
              <a:solidFill>
                <a:srgbClr val="4B5563"/>
              </a:solidFill>
              <a:latin typeface="Inter"/>
              <a:ea typeface="Inter"/>
              <a:cs typeface="Inter"/>
              <a:sym typeface="Inter"/>
            </a:endParaRPr>
          </a:p>
        </p:txBody>
      </p:sp>
      <p:sp>
        <p:nvSpPr>
          <p:cNvPr id="215" name="Google Shape;215;p19"/>
          <p:cNvSpPr/>
          <p:nvPr/>
        </p:nvSpPr>
        <p:spPr>
          <a:xfrm>
            <a:off x="8041184" y="845284"/>
            <a:ext cx="645600" cy="233400"/>
          </a:xfrm>
          <a:prstGeom prst="rect">
            <a:avLst/>
          </a:prstGeom>
          <a:solidFill>
            <a:srgbClr val="1A1A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16" name="Google Shape;216;p19"/>
          <p:cNvSpPr/>
          <p:nvPr/>
        </p:nvSpPr>
        <p:spPr>
          <a:xfrm>
            <a:off x="8174534" y="921484"/>
            <a:ext cx="417000" cy="99900"/>
          </a:xfrm>
          <a:prstGeom prst="rect">
            <a:avLst/>
          </a:prstGeom>
          <a:noFill/>
          <a:ln>
            <a:noFill/>
          </a:ln>
        </p:spPr>
        <p:txBody>
          <a:bodyPr anchorCtr="0" anchor="t" bIns="12700" lIns="12700" spcFirstLastPara="1" rIns="12700" wrap="square" tIns="12700">
            <a:noAutofit/>
          </a:bodyPr>
          <a:lstStyle/>
          <a:p>
            <a:pPr indent="0" lvl="0" marL="0" marR="0" rtl="0" algn="l">
              <a:lnSpc>
                <a:spcPct val="75893"/>
              </a:lnSpc>
              <a:spcBef>
                <a:spcPts val="0"/>
              </a:spcBef>
              <a:spcAft>
                <a:spcPts val="0"/>
              </a:spcAft>
              <a:buClr>
                <a:srgbClr val="C4B5FD"/>
              </a:buClr>
              <a:buSzPts val="600"/>
              <a:buFont typeface="JetBrains Mono"/>
              <a:buNone/>
            </a:pPr>
            <a:r>
              <a:rPr b="1" i="0" lang="en" sz="600" u="none" cap="none" strike="noStrike">
                <a:solidFill>
                  <a:srgbClr val="C4B5FD"/>
                </a:solidFill>
                <a:latin typeface="JetBrains Mono"/>
                <a:ea typeface="JetBrains Mono"/>
                <a:cs typeface="JetBrains Mono"/>
                <a:sym typeface="JetBrains Mono"/>
              </a:rPr>
              <a:t>CALL 1</a:t>
            </a:r>
            <a:endParaRPr b="0" i="0" sz="600" u="none" cap="none" strike="noStrike">
              <a:solidFill>
                <a:schemeClr val="dk1"/>
              </a:solidFill>
              <a:latin typeface="Calibri"/>
              <a:ea typeface="Calibri"/>
              <a:cs typeface="Calibri"/>
              <a:sym typeface="Calibri"/>
            </a:endParaRPr>
          </a:p>
        </p:txBody>
      </p:sp>
      <p:sp>
        <p:nvSpPr>
          <p:cNvPr id="217" name="Google Shape;217;p19"/>
          <p:cNvSpPr/>
          <p:nvPr/>
        </p:nvSpPr>
        <p:spPr>
          <a:xfrm>
            <a:off x="457200" y="1221522"/>
            <a:ext cx="1986000" cy="17799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18" name="Google Shape;218;p19"/>
          <p:cNvSpPr/>
          <p:nvPr/>
        </p:nvSpPr>
        <p:spPr>
          <a:xfrm>
            <a:off x="575310" y="1330107"/>
            <a:ext cx="1924800" cy="1335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1 IDENTITY</a:t>
            </a:r>
            <a:endParaRPr b="0" i="0" sz="900" u="none" cap="none" strike="noStrike">
              <a:solidFill>
                <a:schemeClr val="dk1"/>
              </a:solidFill>
              <a:latin typeface="Calibri"/>
              <a:ea typeface="Calibri"/>
              <a:cs typeface="Calibri"/>
              <a:sym typeface="Calibri"/>
            </a:endParaRPr>
          </a:p>
        </p:txBody>
      </p:sp>
      <p:sp>
        <p:nvSpPr>
          <p:cNvPr id="219" name="Google Shape;219;p19"/>
          <p:cNvSpPr/>
          <p:nvPr/>
        </p:nvSpPr>
        <p:spPr>
          <a:xfrm>
            <a:off x="575310" y="1492032"/>
            <a:ext cx="1802100" cy="365700"/>
          </a:xfrm>
          <a:prstGeom prst="rect">
            <a:avLst/>
          </a:prstGeom>
          <a:noFill/>
          <a:ln>
            <a:noFill/>
          </a:ln>
        </p:spPr>
        <p:txBody>
          <a:bodyPr anchorCtr="0" anchor="t" bIns="12700" lIns="12700" spcFirstLastPara="1" rIns="12700" wrap="square" tIns="12700">
            <a:noAutofit/>
          </a:bodyPr>
          <a:lstStyle/>
          <a:p>
            <a:pPr indent="0" lvl="0" marL="0" rtl="0" algn="l">
              <a:spcBef>
                <a:spcPts val="0"/>
              </a:spcBef>
              <a:spcAft>
                <a:spcPts val="0"/>
              </a:spcAft>
              <a:buNone/>
            </a:pPr>
            <a:r>
              <a:rPr lang="en" sz="1050">
                <a:solidFill>
                  <a:schemeClr val="dk1"/>
                </a:solidFill>
                <a:latin typeface="Roboto"/>
                <a:ea typeface="Roboto"/>
                <a:cs typeface="Roboto"/>
                <a:sym typeface="Roboto"/>
              </a:rPr>
              <a:t>You are MeetIQ, a meeting accountability engine built into the MeetIQ product.</a:t>
            </a:r>
            <a:r>
              <a:rPr lang="en" sz="1100">
                <a:solidFill>
                  <a:schemeClr val="dk1"/>
                </a:solidFill>
              </a:rPr>
              <a:t> </a:t>
            </a:r>
            <a:endParaRPr sz="1100"/>
          </a:p>
          <a:p>
            <a:pPr indent="0" lvl="0" marL="0" marR="0" rtl="0" algn="l">
              <a:lnSpc>
                <a:spcPct val="116667"/>
              </a:lnSpc>
              <a:spcBef>
                <a:spcPts val="0"/>
              </a:spcBef>
              <a:spcAft>
                <a:spcPts val="0"/>
              </a:spcAft>
              <a:buClr>
                <a:srgbClr val="6B7280"/>
              </a:buClr>
              <a:buSzPts val="1000"/>
              <a:buFont typeface="Inter"/>
              <a:buNone/>
            </a:pPr>
            <a:r>
              <a:t/>
            </a:r>
            <a:endParaRPr sz="1000">
              <a:solidFill>
                <a:srgbClr val="6B7280"/>
              </a:solidFill>
              <a:latin typeface="Inter"/>
              <a:ea typeface="Inter"/>
              <a:cs typeface="Inter"/>
              <a:sym typeface="Inter"/>
            </a:endParaRPr>
          </a:p>
        </p:txBody>
      </p:sp>
      <p:sp>
        <p:nvSpPr>
          <p:cNvPr id="220" name="Google Shape;220;p19"/>
          <p:cNvSpPr/>
          <p:nvPr/>
        </p:nvSpPr>
        <p:spPr>
          <a:xfrm>
            <a:off x="2538413" y="1221522"/>
            <a:ext cx="1986000" cy="17799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21" name="Google Shape;221;p19"/>
          <p:cNvSpPr/>
          <p:nvPr/>
        </p:nvSpPr>
        <p:spPr>
          <a:xfrm>
            <a:off x="2656523" y="1330107"/>
            <a:ext cx="1924800" cy="1335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2 BEHAVIOUR</a:t>
            </a:r>
            <a:endParaRPr b="0" i="0" sz="900" u="none" cap="none" strike="noStrike">
              <a:solidFill>
                <a:schemeClr val="dk1"/>
              </a:solidFill>
              <a:latin typeface="Calibri"/>
              <a:ea typeface="Calibri"/>
              <a:cs typeface="Calibri"/>
              <a:sym typeface="Calibri"/>
            </a:endParaRPr>
          </a:p>
        </p:txBody>
      </p:sp>
      <p:sp>
        <p:nvSpPr>
          <p:cNvPr id="222" name="Google Shape;222;p19"/>
          <p:cNvSpPr/>
          <p:nvPr/>
        </p:nvSpPr>
        <p:spPr>
          <a:xfrm>
            <a:off x="2656523" y="1492031"/>
            <a:ext cx="1924800" cy="192300"/>
          </a:xfrm>
          <a:prstGeom prst="rect">
            <a:avLst/>
          </a:prstGeom>
          <a:noFill/>
          <a:ln>
            <a:noFill/>
          </a:ln>
        </p:spPr>
        <p:txBody>
          <a:bodyPr anchorCtr="0" anchor="t" bIns="12700" lIns="12700" spcFirstLastPara="1" rIns="12700" wrap="square" tIns="12700">
            <a:noAutofit/>
          </a:bodyPr>
          <a:lstStyle/>
          <a:p>
            <a:pPr indent="0" lvl="0" marL="0" rtl="0" algn="l">
              <a:spcBef>
                <a:spcPts val="0"/>
              </a:spcBef>
              <a:spcAft>
                <a:spcPts val="0"/>
              </a:spcAft>
              <a:buClr>
                <a:schemeClr val="dk1"/>
              </a:buClr>
              <a:buSzPts val="1100"/>
              <a:buFont typeface="Arial"/>
              <a:buNone/>
            </a:pPr>
            <a:r>
              <a:rPr lang="en" sz="1050">
                <a:solidFill>
                  <a:schemeClr val="dk1"/>
                </a:solidFill>
                <a:latin typeface="Roboto"/>
                <a:ea typeface="Roboto"/>
                <a:cs typeface="Roboto"/>
                <a:sym typeface="Roboto"/>
              </a:rPr>
              <a:t>Precise, neutral, evidence-based. Never infer beyond what was explicitly said. Never fabricate owners, dates, or commitments.</a:t>
            </a:r>
            <a:endParaRPr sz="105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latin typeface="Roboto"/>
              <a:ea typeface="Roboto"/>
              <a:cs typeface="Roboto"/>
              <a:sym typeface="Roboto"/>
            </a:endParaRPr>
          </a:p>
        </p:txBody>
      </p:sp>
      <p:sp>
        <p:nvSpPr>
          <p:cNvPr id="223" name="Google Shape;223;p19"/>
          <p:cNvSpPr/>
          <p:nvPr/>
        </p:nvSpPr>
        <p:spPr>
          <a:xfrm>
            <a:off x="4619625" y="1221522"/>
            <a:ext cx="1986000" cy="17799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24" name="Google Shape;224;p19"/>
          <p:cNvSpPr/>
          <p:nvPr/>
        </p:nvSpPr>
        <p:spPr>
          <a:xfrm>
            <a:off x="4737735" y="1330107"/>
            <a:ext cx="1924800" cy="1335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3 TASK</a:t>
            </a:r>
            <a:endParaRPr b="0" i="0" sz="900" u="none" cap="none" strike="noStrike">
              <a:solidFill>
                <a:schemeClr val="dk1"/>
              </a:solidFill>
              <a:latin typeface="Calibri"/>
              <a:ea typeface="Calibri"/>
              <a:cs typeface="Calibri"/>
              <a:sym typeface="Calibri"/>
            </a:endParaRPr>
          </a:p>
        </p:txBody>
      </p:sp>
      <p:sp>
        <p:nvSpPr>
          <p:cNvPr id="225" name="Google Shape;225;p19"/>
          <p:cNvSpPr/>
          <p:nvPr/>
        </p:nvSpPr>
        <p:spPr>
          <a:xfrm>
            <a:off x="4737735" y="1492031"/>
            <a:ext cx="1924800" cy="192300"/>
          </a:xfrm>
          <a:prstGeom prst="rect">
            <a:avLst/>
          </a:prstGeom>
          <a:noFill/>
          <a:ln>
            <a:noFill/>
          </a:ln>
        </p:spPr>
        <p:txBody>
          <a:bodyPr anchorCtr="0" anchor="t" bIns="12700" lIns="12700" spcFirstLastPara="1" rIns="12700" wrap="square" tIns="12700">
            <a:noAutofit/>
          </a:bodyPr>
          <a:lstStyle/>
          <a:p>
            <a:pPr indent="0" lvl="0" marL="0" rtl="0" algn="l">
              <a:spcBef>
                <a:spcPts val="0"/>
              </a:spcBef>
              <a:spcAft>
                <a:spcPts val="0"/>
              </a:spcAft>
              <a:buNone/>
            </a:pPr>
            <a:r>
              <a:rPr lang="en" sz="1100"/>
              <a:t>Analyse a meeting transcript and return a single structured JSON object covering summary, decisions, action items, transcript moments, and commitment classification.</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sp>
        <p:nvSpPr>
          <p:cNvPr id="226" name="Google Shape;226;p19"/>
          <p:cNvSpPr/>
          <p:nvPr/>
        </p:nvSpPr>
        <p:spPr>
          <a:xfrm>
            <a:off x="6700838" y="1221522"/>
            <a:ext cx="1986000" cy="1779900"/>
          </a:xfrm>
          <a:prstGeom prst="rect">
            <a:avLst/>
          </a:prstGeom>
          <a:solidFill>
            <a:srgbClr val="F4F4F7"/>
          </a:solidFill>
          <a:ln cap="flat" cmpd="sng" w="9525">
            <a:solidFill>
              <a:srgbClr val="D8D5E4"/>
            </a:solidFill>
            <a:prstDash val="dash"/>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27" name="Google Shape;227;p19"/>
          <p:cNvSpPr/>
          <p:nvPr/>
        </p:nvSpPr>
        <p:spPr>
          <a:xfrm>
            <a:off x="6818948" y="1330107"/>
            <a:ext cx="1924800" cy="1335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9CA3AF"/>
              </a:buClr>
              <a:buSzPts val="900"/>
              <a:buFont typeface="JetBrains Mono"/>
              <a:buNone/>
            </a:pPr>
            <a:r>
              <a:rPr b="1" i="0" lang="en" sz="900" u="none" cap="none" strike="noStrike">
                <a:solidFill>
                  <a:srgbClr val="9CA3AF"/>
                </a:solidFill>
                <a:latin typeface="JetBrains Mono"/>
                <a:ea typeface="JetBrains Mono"/>
                <a:cs typeface="JetBrains Mono"/>
                <a:sym typeface="JetBrains Mono"/>
              </a:rPr>
              <a:t>4 TOOLS</a:t>
            </a:r>
            <a:endParaRPr b="0" i="0" sz="900" u="none" cap="none" strike="noStrike">
              <a:solidFill>
                <a:schemeClr val="dk1"/>
              </a:solidFill>
              <a:latin typeface="Calibri"/>
              <a:ea typeface="Calibri"/>
              <a:cs typeface="Calibri"/>
              <a:sym typeface="Calibri"/>
            </a:endParaRPr>
          </a:p>
        </p:txBody>
      </p:sp>
      <p:sp>
        <p:nvSpPr>
          <p:cNvPr id="228" name="Google Shape;228;p19"/>
          <p:cNvSpPr/>
          <p:nvPr/>
        </p:nvSpPr>
        <p:spPr>
          <a:xfrm>
            <a:off x="6818950" y="1492025"/>
            <a:ext cx="1691400" cy="192300"/>
          </a:xfrm>
          <a:prstGeom prst="rect">
            <a:avLst/>
          </a:prstGeom>
          <a:noFill/>
          <a:ln>
            <a:noFill/>
          </a:ln>
        </p:spPr>
        <p:txBody>
          <a:bodyPr anchorCtr="0" anchor="t" bIns="12700" lIns="12700" spcFirstLastPara="1" rIns="12700" wrap="square" tIns="12700">
            <a:noAutofit/>
          </a:bodyPr>
          <a:lstStyle/>
          <a:p>
            <a:pPr indent="0" lvl="0" marL="0" rtl="0" algn="l">
              <a:lnSpc>
                <a:spcPct val="116667"/>
              </a:lnSpc>
              <a:spcBef>
                <a:spcPts val="0"/>
              </a:spcBef>
              <a:spcAft>
                <a:spcPts val="0"/>
              </a:spcAft>
              <a:buClr>
                <a:srgbClr val="6B7280"/>
              </a:buClr>
              <a:buSzPts val="1000"/>
              <a:buFont typeface="Inter"/>
              <a:buNone/>
            </a:pPr>
            <a:r>
              <a:rPr lang="en" sz="1000">
                <a:solidFill>
                  <a:srgbClr val="6B7280"/>
                </a:solidFill>
                <a:latin typeface="Inter"/>
                <a:ea typeface="Inter"/>
                <a:cs typeface="Inter"/>
                <a:sym typeface="Inter"/>
              </a:rPr>
              <a:t>No tools defined. The model answers from the provided meeting context in a single generation. </a:t>
            </a:r>
            <a:endParaRPr sz="1000">
              <a:solidFill>
                <a:schemeClr val="dk1"/>
              </a:solidFill>
              <a:latin typeface="Calibri"/>
              <a:ea typeface="Calibri"/>
              <a:cs typeface="Calibri"/>
              <a:sym typeface="Calibri"/>
            </a:endParaRPr>
          </a:p>
          <a:p>
            <a:pPr indent="0" lvl="0" marL="0" marR="0" rtl="0" algn="l">
              <a:lnSpc>
                <a:spcPct val="116667"/>
              </a:lnSpc>
              <a:spcBef>
                <a:spcPts val="0"/>
              </a:spcBef>
              <a:spcAft>
                <a:spcPts val="0"/>
              </a:spcAft>
              <a:buClr>
                <a:srgbClr val="6B7280"/>
              </a:buClr>
              <a:buSzPts val="1000"/>
              <a:buFont typeface="Inter"/>
              <a:buNone/>
            </a:pPr>
            <a:r>
              <a:t/>
            </a:r>
            <a:endParaRPr sz="1000">
              <a:solidFill>
                <a:srgbClr val="6B7280"/>
              </a:solidFill>
              <a:latin typeface="Inter"/>
              <a:ea typeface="Inter"/>
              <a:cs typeface="Inter"/>
              <a:sym typeface="Inter"/>
            </a:endParaRPr>
          </a:p>
        </p:txBody>
      </p:sp>
      <p:sp>
        <p:nvSpPr>
          <p:cNvPr id="229" name="Google Shape;229;p19"/>
          <p:cNvSpPr/>
          <p:nvPr/>
        </p:nvSpPr>
        <p:spPr>
          <a:xfrm>
            <a:off x="457200" y="3096756"/>
            <a:ext cx="1986000" cy="17799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0" name="Google Shape;230;p19"/>
          <p:cNvSpPr/>
          <p:nvPr/>
        </p:nvSpPr>
        <p:spPr>
          <a:xfrm>
            <a:off x="575310" y="3205342"/>
            <a:ext cx="1924800" cy="1335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5 CONSTRAINTS</a:t>
            </a:r>
            <a:endParaRPr b="0" i="0" sz="900" u="none" cap="none" strike="noStrike">
              <a:solidFill>
                <a:schemeClr val="dk1"/>
              </a:solidFill>
              <a:latin typeface="Calibri"/>
              <a:ea typeface="Calibri"/>
              <a:cs typeface="Calibri"/>
              <a:sym typeface="Calibri"/>
            </a:endParaRPr>
          </a:p>
        </p:txBody>
      </p:sp>
      <p:sp>
        <p:nvSpPr>
          <p:cNvPr id="231" name="Google Shape;231;p19"/>
          <p:cNvSpPr/>
          <p:nvPr/>
        </p:nvSpPr>
        <p:spPr>
          <a:xfrm>
            <a:off x="509650" y="3374175"/>
            <a:ext cx="1872300" cy="1627200"/>
          </a:xfrm>
          <a:prstGeom prst="rect">
            <a:avLst/>
          </a:prstGeom>
          <a:noFill/>
          <a:ln>
            <a:noFill/>
          </a:ln>
        </p:spPr>
        <p:txBody>
          <a:bodyPr anchorCtr="0" anchor="t" bIns="12700" lIns="12700" spcFirstLastPara="1" rIns="12700" wrap="square" tIns="12700">
            <a:noAutofit/>
          </a:bodyPr>
          <a:lstStyle/>
          <a:p>
            <a:pPr indent="0" lvl="0" marL="0" rtl="0" algn="l">
              <a:spcBef>
                <a:spcPts val="0"/>
              </a:spcBef>
              <a:spcAft>
                <a:spcPts val="0"/>
              </a:spcAft>
              <a:buNone/>
            </a:pPr>
            <a:r>
              <a:rPr lang="en" sz="1000"/>
              <a:t>Commitment type must be exactly CONFIRMED, ORPHANED, or PASSING. Speaker must be who proposed the commitment, not who chaired the meeting. If owner is unknown, set null. If date is unknown, set null. Return raw JSON only — no markdown, no code fences.</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marR="0" rtl="0" algn="l">
              <a:lnSpc>
                <a:spcPct val="116667"/>
              </a:lnSpc>
              <a:spcBef>
                <a:spcPts val="0"/>
              </a:spcBef>
              <a:spcAft>
                <a:spcPts val="0"/>
              </a:spcAft>
              <a:buClr>
                <a:srgbClr val="6B7280"/>
              </a:buClr>
              <a:buSzPts val="1000"/>
              <a:buFont typeface="Inter"/>
              <a:buNone/>
            </a:pPr>
            <a:r>
              <a:t/>
            </a:r>
            <a:endParaRPr sz="1000">
              <a:solidFill>
                <a:srgbClr val="6B7280"/>
              </a:solidFill>
              <a:latin typeface="Inter"/>
              <a:ea typeface="Inter"/>
              <a:cs typeface="Inter"/>
              <a:sym typeface="Inter"/>
            </a:endParaRPr>
          </a:p>
        </p:txBody>
      </p:sp>
      <p:sp>
        <p:nvSpPr>
          <p:cNvPr id="232" name="Google Shape;232;p19"/>
          <p:cNvSpPr/>
          <p:nvPr/>
        </p:nvSpPr>
        <p:spPr>
          <a:xfrm>
            <a:off x="2538413" y="3096756"/>
            <a:ext cx="1986000" cy="17799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3" name="Google Shape;233;p19"/>
          <p:cNvSpPr/>
          <p:nvPr/>
        </p:nvSpPr>
        <p:spPr>
          <a:xfrm>
            <a:off x="2656523" y="3205342"/>
            <a:ext cx="1924800" cy="1335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6 OUTPUT</a:t>
            </a:r>
            <a:endParaRPr b="0" i="0" sz="900" u="none" cap="none" strike="noStrike">
              <a:solidFill>
                <a:schemeClr val="dk1"/>
              </a:solidFill>
              <a:latin typeface="Calibri"/>
              <a:ea typeface="Calibri"/>
              <a:cs typeface="Calibri"/>
              <a:sym typeface="Calibri"/>
            </a:endParaRPr>
          </a:p>
        </p:txBody>
      </p:sp>
      <p:sp>
        <p:nvSpPr>
          <p:cNvPr id="234" name="Google Shape;234;p19"/>
          <p:cNvSpPr/>
          <p:nvPr/>
        </p:nvSpPr>
        <p:spPr>
          <a:xfrm>
            <a:off x="2656523" y="3367267"/>
            <a:ext cx="1924800" cy="192300"/>
          </a:xfrm>
          <a:prstGeom prst="rect">
            <a:avLst/>
          </a:prstGeom>
          <a:noFill/>
          <a:ln>
            <a:noFill/>
          </a:ln>
        </p:spPr>
        <p:txBody>
          <a:bodyPr anchorCtr="0" anchor="t" bIns="12700" lIns="12700" spcFirstLastPara="1" rIns="12700" wrap="square" tIns="12700">
            <a:noAutofit/>
          </a:bodyPr>
          <a:lstStyle/>
          <a:p>
            <a:pPr indent="0" lvl="0" marL="0" rtl="0" algn="l">
              <a:spcBef>
                <a:spcPts val="0"/>
              </a:spcBef>
              <a:spcAft>
                <a:spcPts val="0"/>
              </a:spcAft>
              <a:buNone/>
            </a:pPr>
            <a:r>
              <a:rPr lang="en" sz="1200"/>
              <a:t>Single valid JSON object with keys: summary, action_items, transcript_moments, commitments.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marR="0" rtl="0" algn="l">
              <a:lnSpc>
                <a:spcPct val="116667"/>
              </a:lnSpc>
              <a:spcBef>
                <a:spcPts val="0"/>
              </a:spcBef>
              <a:spcAft>
                <a:spcPts val="0"/>
              </a:spcAft>
              <a:buClr>
                <a:srgbClr val="6B7280"/>
              </a:buClr>
              <a:buSzPts val="1000"/>
              <a:buFont typeface="Inter"/>
              <a:buNone/>
            </a:pPr>
            <a:r>
              <a:t/>
            </a:r>
            <a:endParaRPr sz="1300">
              <a:solidFill>
                <a:srgbClr val="6B7280"/>
              </a:solidFill>
              <a:latin typeface="Inter"/>
              <a:ea typeface="Inter"/>
              <a:cs typeface="Inter"/>
              <a:sym typeface="Inter"/>
            </a:endParaRPr>
          </a:p>
        </p:txBody>
      </p:sp>
      <p:sp>
        <p:nvSpPr>
          <p:cNvPr id="235" name="Google Shape;235;p19"/>
          <p:cNvSpPr/>
          <p:nvPr/>
        </p:nvSpPr>
        <p:spPr>
          <a:xfrm>
            <a:off x="4619625" y="3096756"/>
            <a:ext cx="1986000" cy="17799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6" name="Google Shape;236;p19"/>
          <p:cNvSpPr/>
          <p:nvPr/>
        </p:nvSpPr>
        <p:spPr>
          <a:xfrm>
            <a:off x="4737735" y="3205342"/>
            <a:ext cx="1924800" cy="1335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7 FAILURE</a:t>
            </a:r>
            <a:endParaRPr b="0" i="0" sz="900" u="none" cap="none" strike="noStrike">
              <a:solidFill>
                <a:schemeClr val="dk1"/>
              </a:solidFill>
              <a:latin typeface="Calibri"/>
              <a:ea typeface="Calibri"/>
              <a:cs typeface="Calibri"/>
              <a:sym typeface="Calibri"/>
            </a:endParaRPr>
          </a:p>
        </p:txBody>
      </p:sp>
      <p:sp>
        <p:nvSpPr>
          <p:cNvPr id="237" name="Google Shape;237;p19"/>
          <p:cNvSpPr/>
          <p:nvPr/>
        </p:nvSpPr>
        <p:spPr>
          <a:xfrm>
            <a:off x="4737735" y="3367267"/>
            <a:ext cx="1802100" cy="539100"/>
          </a:xfrm>
          <a:prstGeom prst="rect">
            <a:avLst/>
          </a:prstGeom>
          <a:noFill/>
          <a:ln>
            <a:noFill/>
          </a:ln>
        </p:spPr>
        <p:txBody>
          <a:bodyPr anchorCtr="0" anchor="t" bIns="12700" lIns="12700" spcFirstLastPara="1" rIns="12700" wrap="square" tIns="12700">
            <a:noAutofit/>
          </a:bodyPr>
          <a:lstStyle/>
          <a:p>
            <a:pPr indent="0" lvl="0" marL="0" rtl="0" algn="l">
              <a:spcBef>
                <a:spcPts val="0"/>
              </a:spcBef>
              <a:spcAft>
                <a:spcPts val="0"/>
              </a:spcAft>
              <a:buNone/>
            </a:pPr>
            <a:r>
              <a:rPr lang="en" sz="1000"/>
              <a:t>If owner not stated, set null. If date not stated, set null. Ambiguous commitments → ORPHANED not CONFIRMED. Never guess.</a:t>
            </a:r>
            <a:endParaRPr sz="1000"/>
          </a:p>
          <a:p>
            <a:pPr indent="0" lvl="0" marL="0" rtl="0" algn="l">
              <a:spcBef>
                <a:spcPts val="0"/>
              </a:spcBef>
              <a:spcAft>
                <a:spcPts val="0"/>
              </a:spcAft>
              <a:buNone/>
            </a:pPr>
            <a:r>
              <a:t/>
            </a:r>
            <a:endParaRPr sz="800"/>
          </a:p>
          <a:p>
            <a:pPr indent="0" lvl="0" marL="0" rtl="0" algn="l">
              <a:spcBef>
                <a:spcPts val="0"/>
              </a:spcBef>
              <a:spcAft>
                <a:spcPts val="0"/>
              </a:spcAft>
              <a:buNone/>
            </a:pPr>
            <a:r>
              <a:t/>
            </a:r>
            <a:endParaRPr sz="800"/>
          </a:p>
          <a:p>
            <a:pPr indent="0" lvl="0" marL="0" marR="0" rtl="0" algn="l">
              <a:lnSpc>
                <a:spcPct val="116667"/>
              </a:lnSpc>
              <a:spcBef>
                <a:spcPts val="0"/>
              </a:spcBef>
              <a:spcAft>
                <a:spcPts val="0"/>
              </a:spcAft>
              <a:buClr>
                <a:srgbClr val="6B7280"/>
              </a:buClr>
              <a:buSzPts val="1000"/>
              <a:buFont typeface="Inter"/>
              <a:buNone/>
            </a:pPr>
            <a:r>
              <a:t/>
            </a:r>
            <a:endParaRPr sz="1000">
              <a:solidFill>
                <a:srgbClr val="6B7280"/>
              </a:solidFill>
              <a:latin typeface="Inter"/>
              <a:ea typeface="Inter"/>
              <a:cs typeface="Inter"/>
              <a:sym typeface="Inter"/>
            </a:endParaRPr>
          </a:p>
        </p:txBody>
      </p:sp>
      <p:sp>
        <p:nvSpPr>
          <p:cNvPr id="238" name="Google Shape;238;p19"/>
          <p:cNvSpPr/>
          <p:nvPr/>
        </p:nvSpPr>
        <p:spPr>
          <a:xfrm>
            <a:off x="6700838" y="3096756"/>
            <a:ext cx="1986000" cy="17799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9" name="Google Shape;239;p19"/>
          <p:cNvSpPr/>
          <p:nvPr/>
        </p:nvSpPr>
        <p:spPr>
          <a:xfrm>
            <a:off x="6818948" y="3205342"/>
            <a:ext cx="1924800" cy="1335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8 EXAMPLES</a:t>
            </a:r>
            <a:endParaRPr b="0" i="0" sz="900" u="none" cap="none" strike="noStrike">
              <a:solidFill>
                <a:schemeClr val="dk1"/>
              </a:solidFill>
              <a:latin typeface="Calibri"/>
              <a:ea typeface="Calibri"/>
              <a:cs typeface="Calibri"/>
              <a:sym typeface="Calibri"/>
            </a:endParaRPr>
          </a:p>
        </p:txBody>
      </p:sp>
      <p:sp>
        <p:nvSpPr>
          <p:cNvPr id="240" name="Google Shape;240;p19"/>
          <p:cNvSpPr/>
          <p:nvPr/>
        </p:nvSpPr>
        <p:spPr>
          <a:xfrm>
            <a:off x="6818948" y="3367267"/>
            <a:ext cx="1924800" cy="192300"/>
          </a:xfrm>
          <a:prstGeom prst="rect">
            <a:avLst/>
          </a:prstGeom>
          <a:noFill/>
          <a:ln>
            <a:noFill/>
          </a:ln>
        </p:spPr>
        <p:txBody>
          <a:bodyPr anchorCtr="0" anchor="t" bIns="12700" lIns="12700" spcFirstLastPara="1" rIns="12700" wrap="square" tIns="12700">
            <a:noAutofit/>
          </a:bodyPr>
          <a:lstStyle/>
          <a:p>
            <a:pPr indent="0" lvl="0" marL="0" rtl="0" algn="l">
              <a:spcBef>
                <a:spcPts val="0"/>
              </a:spcBef>
              <a:spcAft>
                <a:spcPts val="0"/>
              </a:spcAft>
              <a:buClr>
                <a:schemeClr val="dk1"/>
              </a:buClr>
              <a:buSzPts val="1100"/>
              <a:buFont typeface="Arial"/>
              <a:buNone/>
            </a:pPr>
            <a:r>
              <a:rPr lang="en" sz="1000">
                <a:solidFill>
                  <a:schemeClr val="dk1"/>
                </a:solidFill>
              </a:rPr>
              <a:t>CONFIRMED: "I'll own the onboarding copy by Sep 24" → owner: Sarah Chen, confidence: 90. ORPHANED: "Someone should own the checklist" → owner: null, confidence: 58. PASSING: "We should think about trial migration" → confidence: 35.</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C"/>
        </a:solidFill>
      </p:bgPr>
    </p:bg>
    <p:spTree>
      <p:nvGrpSpPr>
        <p:cNvPr id="245" name="Shape 245"/>
        <p:cNvGrpSpPr/>
        <p:nvPr/>
      </p:nvGrpSpPr>
      <p:grpSpPr>
        <a:xfrm>
          <a:off x="0" y="0"/>
          <a:ext cx="0" cy="0"/>
          <a:chOff x="0" y="0"/>
          <a:chExt cx="0" cy="0"/>
        </a:xfrm>
      </p:grpSpPr>
      <p:sp>
        <p:nvSpPr>
          <p:cNvPr id="246" name="Google Shape;246;p20"/>
          <p:cNvSpPr/>
          <p:nvPr/>
        </p:nvSpPr>
        <p:spPr>
          <a:xfrm>
            <a:off x="457200" y="528638"/>
            <a:ext cx="6199668" cy="320218"/>
          </a:xfrm>
          <a:prstGeom prst="rect">
            <a:avLst/>
          </a:prstGeom>
          <a:noFill/>
          <a:ln>
            <a:noFill/>
          </a:ln>
        </p:spPr>
        <p:txBody>
          <a:bodyPr anchorCtr="0" anchor="t" bIns="12700" lIns="12700" spcFirstLastPara="1" rIns="12700" wrap="square" tIns="12700">
            <a:noAutofit/>
          </a:bodyPr>
          <a:lstStyle/>
          <a:p>
            <a:pPr indent="0" lvl="0" marL="0" marR="0" rtl="0" algn="l">
              <a:lnSpc>
                <a:spcPct val="84096"/>
              </a:lnSpc>
              <a:spcBef>
                <a:spcPts val="0"/>
              </a:spcBef>
              <a:spcAft>
                <a:spcPts val="0"/>
              </a:spcAft>
              <a:buClr>
                <a:srgbClr val="1F2937"/>
              </a:buClr>
              <a:buSzPts val="2300"/>
              <a:buFont typeface="Inter"/>
              <a:buNone/>
            </a:pPr>
            <a:r>
              <a:rPr b="1" i="0" lang="en" sz="2300" u="none" cap="none" strike="noStrike">
                <a:solidFill>
                  <a:srgbClr val="1F2937"/>
                </a:solidFill>
                <a:latin typeface="Inter"/>
                <a:ea typeface="Inter"/>
                <a:cs typeface="Inter"/>
                <a:sym typeface="Inter"/>
              </a:rPr>
              <a:t>The eight-block system prompt</a:t>
            </a:r>
            <a:endParaRPr b="0" i="0" sz="2300" u="none" cap="none" strike="noStrike">
              <a:solidFill>
                <a:schemeClr val="dk1"/>
              </a:solidFill>
              <a:latin typeface="Calibri"/>
              <a:ea typeface="Calibri"/>
              <a:cs typeface="Calibri"/>
              <a:sym typeface="Calibri"/>
            </a:endParaRPr>
          </a:p>
        </p:txBody>
      </p:sp>
      <p:sp>
        <p:nvSpPr>
          <p:cNvPr id="247" name="Google Shape;247;p20"/>
          <p:cNvSpPr/>
          <p:nvPr/>
        </p:nvSpPr>
        <p:spPr>
          <a:xfrm>
            <a:off x="457200" y="906006"/>
            <a:ext cx="6199668" cy="191691"/>
          </a:xfrm>
          <a:prstGeom prst="rect">
            <a:avLst/>
          </a:prstGeom>
          <a:noFill/>
          <a:ln>
            <a:noFill/>
          </a:ln>
        </p:spPr>
        <p:txBody>
          <a:bodyPr anchorCtr="0" anchor="t" bIns="12700" lIns="12700" spcFirstLastPara="1" rIns="12700" wrap="square" tIns="12700">
            <a:noAutofit/>
          </a:bodyPr>
          <a:lstStyle/>
          <a:p>
            <a:pPr indent="0" lvl="0" marL="0" marR="0" rtl="0" algn="l">
              <a:lnSpc>
                <a:spcPct val="119243"/>
              </a:lnSpc>
              <a:spcBef>
                <a:spcPts val="0"/>
              </a:spcBef>
              <a:spcAft>
                <a:spcPts val="0"/>
              </a:spcAft>
              <a:buClr>
                <a:srgbClr val="4B5563"/>
              </a:buClr>
              <a:buSzPts val="900"/>
              <a:buFont typeface="Inter"/>
              <a:buNone/>
            </a:pPr>
            <a:r>
              <a:rPr lang="en" sz="900">
                <a:solidFill>
                  <a:srgbClr val="4B5563"/>
                </a:solidFill>
                <a:latin typeface="Inter"/>
                <a:ea typeface="Inter"/>
                <a:cs typeface="Inter"/>
                <a:sym typeface="Inter"/>
              </a:rPr>
              <a:t>Eight-block spec for Call 2. Block 4 empty by design — this call needs no tools. </a:t>
            </a:r>
            <a:endParaRPr b="0" i="0" sz="900" u="none" cap="none" strike="noStrike">
              <a:solidFill>
                <a:schemeClr val="dk1"/>
              </a:solidFill>
              <a:latin typeface="Calibri"/>
              <a:ea typeface="Calibri"/>
              <a:cs typeface="Calibri"/>
              <a:sym typeface="Calibri"/>
            </a:endParaRPr>
          </a:p>
        </p:txBody>
      </p:sp>
      <p:sp>
        <p:nvSpPr>
          <p:cNvPr id="248" name="Google Shape;248;p20"/>
          <p:cNvSpPr/>
          <p:nvPr/>
        </p:nvSpPr>
        <p:spPr>
          <a:xfrm>
            <a:off x="8041184" y="845284"/>
            <a:ext cx="645616" cy="233363"/>
          </a:xfrm>
          <a:prstGeom prst="rect">
            <a:avLst/>
          </a:prstGeom>
          <a:solidFill>
            <a:srgbClr val="1A1A2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9" name="Google Shape;249;p20"/>
          <p:cNvSpPr/>
          <p:nvPr/>
        </p:nvSpPr>
        <p:spPr>
          <a:xfrm>
            <a:off x="8174534" y="921484"/>
            <a:ext cx="417016" cy="100013"/>
          </a:xfrm>
          <a:prstGeom prst="rect">
            <a:avLst/>
          </a:prstGeom>
          <a:noFill/>
          <a:ln>
            <a:noFill/>
          </a:ln>
        </p:spPr>
        <p:txBody>
          <a:bodyPr anchorCtr="0" anchor="t" bIns="12700" lIns="12700" spcFirstLastPara="1" rIns="12700" wrap="square" tIns="12700">
            <a:noAutofit/>
          </a:bodyPr>
          <a:lstStyle/>
          <a:p>
            <a:pPr indent="0" lvl="0" marL="0" marR="0" rtl="0" algn="l">
              <a:lnSpc>
                <a:spcPct val="75893"/>
              </a:lnSpc>
              <a:spcBef>
                <a:spcPts val="0"/>
              </a:spcBef>
              <a:spcAft>
                <a:spcPts val="0"/>
              </a:spcAft>
              <a:buClr>
                <a:srgbClr val="C4B5FD"/>
              </a:buClr>
              <a:buSzPts val="600"/>
              <a:buFont typeface="JetBrains Mono"/>
              <a:buNone/>
            </a:pPr>
            <a:r>
              <a:rPr b="1" i="0" lang="en" sz="600" u="none" cap="none" strike="noStrike">
                <a:solidFill>
                  <a:srgbClr val="C4B5FD"/>
                </a:solidFill>
                <a:latin typeface="JetBrains Mono"/>
                <a:ea typeface="JetBrains Mono"/>
                <a:cs typeface="JetBrains Mono"/>
                <a:sym typeface="JetBrains Mono"/>
              </a:rPr>
              <a:t>CALL </a:t>
            </a:r>
            <a:r>
              <a:rPr b="1" lang="en" sz="600">
                <a:solidFill>
                  <a:srgbClr val="C4B5FD"/>
                </a:solidFill>
                <a:latin typeface="JetBrains Mono"/>
                <a:ea typeface="JetBrains Mono"/>
                <a:cs typeface="JetBrains Mono"/>
                <a:sym typeface="JetBrains Mono"/>
              </a:rPr>
              <a:t>2</a:t>
            </a:r>
            <a:endParaRPr b="0" i="0" sz="600" u="none" cap="none" strike="noStrike">
              <a:solidFill>
                <a:schemeClr val="dk1"/>
              </a:solidFill>
              <a:latin typeface="Calibri"/>
              <a:ea typeface="Calibri"/>
              <a:cs typeface="Calibri"/>
              <a:sym typeface="Calibri"/>
            </a:endParaRPr>
          </a:p>
        </p:txBody>
      </p:sp>
      <p:sp>
        <p:nvSpPr>
          <p:cNvPr id="250" name="Google Shape;250;p20"/>
          <p:cNvSpPr/>
          <p:nvPr/>
        </p:nvSpPr>
        <p:spPr>
          <a:xfrm>
            <a:off x="457200" y="1221522"/>
            <a:ext cx="1985963" cy="1779985"/>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51" name="Google Shape;251;p20"/>
          <p:cNvSpPr/>
          <p:nvPr/>
        </p:nvSpPr>
        <p:spPr>
          <a:xfrm>
            <a:off x="575310" y="1330107"/>
            <a:ext cx="1924717" cy="1333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1 IDENTITY</a:t>
            </a:r>
            <a:endParaRPr b="0" i="0" sz="900" u="none" cap="none" strike="noStrike">
              <a:solidFill>
                <a:schemeClr val="dk1"/>
              </a:solidFill>
              <a:latin typeface="Calibri"/>
              <a:ea typeface="Calibri"/>
              <a:cs typeface="Calibri"/>
              <a:sym typeface="Calibri"/>
            </a:endParaRPr>
          </a:p>
        </p:txBody>
      </p:sp>
      <p:sp>
        <p:nvSpPr>
          <p:cNvPr id="252" name="Google Shape;252;p20"/>
          <p:cNvSpPr/>
          <p:nvPr/>
        </p:nvSpPr>
        <p:spPr>
          <a:xfrm>
            <a:off x="575310" y="1492032"/>
            <a:ext cx="1802235" cy="365760"/>
          </a:xfrm>
          <a:prstGeom prst="rect">
            <a:avLst/>
          </a:prstGeom>
          <a:noFill/>
          <a:ln>
            <a:noFill/>
          </a:ln>
        </p:spPr>
        <p:txBody>
          <a:bodyPr anchorCtr="0" anchor="t" bIns="12700" lIns="12700" spcFirstLastPara="1" rIns="12700" wrap="square" tIns="12700">
            <a:noAutofit/>
          </a:bodyPr>
          <a:lstStyle/>
          <a:p>
            <a:pPr indent="0" lvl="0" marL="0" marR="0" rtl="0" algn="l">
              <a:lnSpc>
                <a:spcPct val="116667"/>
              </a:lnSpc>
              <a:spcBef>
                <a:spcPts val="0"/>
              </a:spcBef>
              <a:spcAft>
                <a:spcPts val="0"/>
              </a:spcAft>
              <a:buClr>
                <a:srgbClr val="6B7280"/>
              </a:buClr>
              <a:buSzPts val="1000"/>
              <a:buFont typeface="Inter"/>
              <a:buNone/>
            </a:pPr>
            <a:r>
              <a:rPr lang="en" sz="1100"/>
              <a:t>You are MeetIQ, answering questions about a specific meeting on behalf of the MeetIQ product.</a:t>
            </a:r>
            <a:endParaRPr sz="1100"/>
          </a:p>
          <a:p>
            <a:pPr indent="0" lvl="0" marL="0" marR="0" rtl="0" algn="l">
              <a:lnSpc>
                <a:spcPct val="116667"/>
              </a:lnSpc>
              <a:spcBef>
                <a:spcPts val="0"/>
              </a:spcBef>
              <a:spcAft>
                <a:spcPts val="0"/>
              </a:spcAft>
              <a:buClr>
                <a:srgbClr val="6B7280"/>
              </a:buClr>
              <a:buSzPts val="1000"/>
              <a:buFont typeface="Inter"/>
              <a:buNone/>
            </a:pPr>
            <a:r>
              <a:t/>
            </a:r>
            <a:endParaRPr sz="1100"/>
          </a:p>
          <a:p>
            <a:pPr indent="0" lvl="0" marL="0" marR="0" rtl="0" algn="l">
              <a:lnSpc>
                <a:spcPct val="116667"/>
              </a:lnSpc>
              <a:spcBef>
                <a:spcPts val="0"/>
              </a:spcBef>
              <a:spcAft>
                <a:spcPts val="0"/>
              </a:spcAft>
              <a:buClr>
                <a:srgbClr val="6B7280"/>
              </a:buClr>
              <a:buSzPts val="1000"/>
              <a:buFont typeface="Inter"/>
              <a:buNone/>
            </a:pPr>
            <a:r>
              <a:t/>
            </a:r>
            <a:endParaRPr sz="1100"/>
          </a:p>
        </p:txBody>
      </p:sp>
      <p:sp>
        <p:nvSpPr>
          <p:cNvPr id="253" name="Google Shape;253;p20"/>
          <p:cNvSpPr/>
          <p:nvPr/>
        </p:nvSpPr>
        <p:spPr>
          <a:xfrm>
            <a:off x="2538413" y="1221522"/>
            <a:ext cx="1985963" cy="1779985"/>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54" name="Google Shape;254;p20"/>
          <p:cNvSpPr/>
          <p:nvPr/>
        </p:nvSpPr>
        <p:spPr>
          <a:xfrm>
            <a:off x="2656522" y="1330107"/>
            <a:ext cx="1924717" cy="1333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2 BEHAVIOUR</a:t>
            </a:r>
            <a:endParaRPr b="0" i="0" sz="900" u="none" cap="none" strike="noStrike">
              <a:solidFill>
                <a:schemeClr val="dk1"/>
              </a:solidFill>
              <a:latin typeface="Calibri"/>
              <a:ea typeface="Calibri"/>
              <a:cs typeface="Calibri"/>
              <a:sym typeface="Calibri"/>
            </a:endParaRPr>
          </a:p>
        </p:txBody>
      </p:sp>
      <p:sp>
        <p:nvSpPr>
          <p:cNvPr id="255" name="Google Shape;255;p20"/>
          <p:cNvSpPr/>
          <p:nvPr/>
        </p:nvSpPr>
        <p:spPr>
          <a:xfrm>
            <a:off x="2656522" y="1492031"/>
            <a:ext cx="1924717" cy="192405"/>
          </a:xfrm>
          <a:prstGeom prst="rect">
            <a:avLst/>
          </a:prstGeom>
          <a:noFill/>
          <a:ln>
            <a:noFill/>
          </a:ln>
        </p:spPr>
        <p:txBody>
          <a:bodyPr anchorCtr="0" anchor="t" bIns="12700" lIns="12700" spcFirstLastPara="1" rIns="12700" wrap="square" tIns="12700">
            <a:noAutofit/>
          </a:bodyPr>
          <a:lstStyle/>
          <a:p>
            <a:pPr indent="0" lvl="0" marL="0" rtl="0" algn="l">
              <a:spcBef>
                <a:spcPts val="0"/>
              </a:spcBef>
              <a:spcAft>
                <a:spcPts val="0"/>
              </a:spcAft>
              <a:buClr>
                <a:schemeClr val="dk1"/>
              </a:buClr>
              <a:buSzPts val="1100"/>
              <a:buFont typeface="Arial"/>
              <a:buNone/>
            </a:pPr>
            <a:r>
              <a:rPr lang="en" sz="1100">
                <a:solidFill>
                  <a:schemeClr val="dk1"/>
                </a:solidFill>
              </a:rPr>
              <a:t>Concise, grounded, citation-first. Always reference the speaker and timestamp. Never speculate.</a:t>
            </a:r>
            <a:endParaRPr sz="1100">
              <a:solidFill>
                <a:schemeClr val="dk1"/>
              </a:solidFill>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t/>
            </a:r>
            <a:endParaRPr sz="1100">
              <a:solidFill>
                <a:schemeClr val="dk1"/>
              </a:solidFill>
            </a:endParaRPr>
          </a:p>
        </p:txBody>
      </p:sp>
      <p:sp>
        <p:nvSpPr>
          <p:cNvPr id="256" name="Google Shape;256;p20"/>
          <p:cNvSpPr/>
          <p:nvPr/>
        </p:nvSpPr>
        <p:spPr>
          <a:xfrm>
            <a:off x="4619625" y="1221522"/>
            <a:ext cx="1985963" cy="1779985"/>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57" name="Google Shape;257;p20"/>
          <p:cNvSpPr/>
          <p:nvPr/>
        </p:nvSpPr>
        <p:spPr>
          <a:xfrm>
            <a:off x="4737735" y="1330107"/>
            <a:ext cx="1924717" cy="1333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3 TASK</a:t>
            </a:r>
            <a:endParaRPr b="0" i="0" sz="900" u="none" cap="none" strike="noStrike">
              <a:solidFill>
                <a:schemeClr val="dk1"/>
              </a:solidFill>
              <a:latin typeface="Calibri"/>
              <a:ea typeface="Calibri"/>
              <a:cs typeface="Calibri"/>
              <a:sym typeface="Calibri"/>
            </a:endParaRPr>
          </a:p>
        </p:txBody>
      </p:sp>
      <p:sp>
        <p:nvSpPr>
          <p:cNvPr id="258" name="Google Shape;258;p20"/>
          <p:cNvSpPr/>
          <p:nvPr/>
        </p:nvSpPr>
        <p:spPr>
          <a:xfrm>
            <a:off x="4737735" y="1492031"/>
            <a:ext cx="1924717" cy="192405"/>
          </a:xfrm>
          <a:prstGeom prst="rect">
            <a:avLst/>
          </a:prstGeom>
          <a:noFill/>
          <a:ln>
            <a:noFill/>
          </a:ln>
        </p:spPr>
        <p:txBody>
          <a:bodyPr anchorCtr="0" anchor="t" bIns="12700" lIns="12700" spcFirstLastPara="1" rIns="12700" wrap="square" tIns="12700">
            <a:noAutofit/>
          </a:bodyPr>
          <a:lstStyle/>
          <a:p>
            <a:pPr indent="0" lvl="0" marL="0" rtl="0" algn="l">
              <a:spcBef>
                <a:spcPts val="0"/>
              </a:spcBef>
              <a:spcAft>
                <a:spcPts val="0"/>
              </a:spcAft>
              <a:buNone/>
            </a:pPr>
            <a:r>
              <a:rPr lang="en" sz="1100"/>
              <a:t>Answer the user's question using only the meeting transcript and analysis provided in context.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sp>
        <p:nvSpPr>
          <p:cNvPr id="259" name="Google Shape;259;p20"/>
          <p:cNvSpPr/>
          <p:nvPr/>
        </p:nvSpPr>
        <p:spPr>
          <a:xfrm>
            <a:off x="6700838" y="1221522"/>
            <a:ext cx="1985963" cy="1779985"/>
          </a:xfrm>
          <a:prstGeom prst="rect">
            <a:avLst/>
          </a:prstGeom>
          <a:solidFill>
            <a:srgbClr val="F4F4F7"/>
          </a:solidFill>
          <a:ln cap="flat" cmpd="sng" w="9525">
            <a:solidFill>
              <a:srgbClr val="D8D5E4"/>
            </a:solidFill>
            <a:prstDash val="dash"/>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60" name="Google Shape;260;p20"/>
          <p:cNvSpPr/>
          <p:nvPr/>
        </p:nvSpPr>
        <p:spPr>
          <a:xfrm>
            <a:off x="6818948" y="1330107"/>
            <a:ext cx="1924717" cy="1333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9CA3AF"/>
              </a:buClr>
              <a:buSzPts val="900"/>
              <a:buFont typeface="JetBrains Mono"/>
              <a:buNone/>
            </a:pPr>
            <a:r>
              <a:rPr b="1" i="0" lang="en" sz="900" u="none" cap="none" strike="noStrike">
                <a:solidFill>
                  <a:srgbClr val="9CA3AF"/>
                </a:solidFill>
                <a:latin typeface="JetBrains Mono"/>
                <a:ea typeface="JetBrains Mono"/>
                <a:cs typeface="JetBrains Mono"/>
                <a:sym typeface="JetBrains Mono"/>
              </a:rPr>
              <a:t>4 TOOLS</a:t>
            </a:r>
            <a:endParaRPr b="0" i="0" sz="900" u="none" cap="none" strike="noStrike">
              <a:solidFill>
                <a:schemeClr val="dk1"/>
              </a:solidFill>
              <a:latin typeface="Calibri"/>
              <a:ea typeface="Calibri"/>
              <a:cs typeface="Calibri"/>
              <a:sym typeface="Calibri"/>
            </a:endParaRPr>
          </a:p>
        </p:txBody>
      </p:sp>
      <p:sp>
        <p:nvSpPr>
          <p:cNvPr id="261" name="Google Shape;261;p20"/>
          <p:cNvSpPr/>
          <p:nvPr/>
        </p:nvSpPr>
        <p:spPr>
          <a:xfrm>
            <a:off x="6818950" y="1492025"/>
            <a:ext cx="1715700" cy="192300"/>
          </a:xfrm>
          <a:prstGeom prst="rect">
            <a:avLst/>
          </a:prstGeom>
          <a:noFill/>
          <a:ln>
            <a:noFill/>
          </a:ln>
        </p:spPr>
        <p:txBody>
          <a:bodyPr anchorCtr="0" anchor="t" bIns="12700" lIns="12700" spcFirstLastPara="1" rIns="12700" wrap="square" tIns="12700">
            <a:noAutofit/>
          </a:bodyPr>
          <a:lstStyle/>
          <a:p>
            <a:pPr indent="0" lvl="0" marL="0" marR="0" rtl="0" algn="l">
              <a:lnSpc>
                <a:spcPct val="116667"/>
              </a:lnSpc>
              <a:spcBef>
                <a:spcPts val="0"/>
              </a:spcBef>
              <a:spcAft>
                <a:spcPts val="0"/>
              </a:spcAft>
              <a:buClr>
                <a:srgbClr val="6B7280"/>
              </a:buClr>
              <a:buSzPts val="1000"/>
              <a:buFont typeface="Inter"/>
              <a:buNone/>
            </a:pPr>
            <a:r>
              <a:rPr lang="en" sz="1000">
                <a:solidFill>
                  <a:srgbClr val="6B7280"/>
                </a:solidFill>
                <a:latin typeface="Inter"/>
                <a:ea typeface="Inter"/>
                <a:cs typeface="Inter"/>
                <a:sym typeface="Inter"/>
              </a:rPr>
              <a:t>No tools defined. The model answers from the provided meeting context in a single generation. </a:t>
            </a:r>
            <a:endParaRPr b="0" i="0" sz="1000" u="none" cap="none" strike="noStrike">
              <a:solidFill>
                <a:schemeClr val="dk1"/>
              </a:solidFill>
              <a:latin typeface="Calibri"/>
              <a:ea typeface="Calibri"/>
              <a:cs typeface="Calibri"/>
              <a:sym typeface="Calibri"/>
            </a:endParaRPr>
          </a:p>
        </p:txBody>
      </p:sp>
      <p:sp>
        <p:nvSpPr>
          <p:cNvPr id="262" name="Google Shape;262;p20"/>
          <p:cNvSpPr/>
          <p:nvPr/>
        </p:nvSpPr>
        <p:spPr>
          <a:xfrm>
            <a:off x="457200" y="3096756"/>
            <a:ext cx="1985963" cy="1780044"/>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63" name="Google Shape;263;p20"/>
          <p:cNvSpPr/>
          <p:nvPr/>
        </p:nvSpPr>
        <p:spPr>
          <a:xfrm>
            <a:off x="575310" y="3205342"/>
            <a:ext cx="1924717" cy="1333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5 CONSTRAINTS</a:t>
            </a:r>
            <a:endParaRPr b="0" i="0" sz="900" u="none" cap="none" strike="noStrike">
              <a:solidFill>
                <a:schemeClr val="dk1"/>
              </a:solidFill>
              <a:latin typeface="Calibri"/>
              <a:ea typeface="Calibri"/>
              <a:cs typeface="Calibri"/>
              <a:sym typeface="Calibri"/>
            </a:endParaRPr>
          </a:p>
        </p:txBody>
      </p:sp>
      <p:sp>
        <p:nvSpPr>
          <p:cNvPr id="264" name="Google Shape;264;p20"/>
          <p:cNvSpPr/>
          <p:nvPr/>
        </p:nvSpPr>
        <p:spPr>
          <a:xfrm>
            <a:off x="509650" y="3374175"/>
            <a:ext cx="1872300" cy="1627200"/>
          </a:xfrm>
          <a:prstGeom prst="rect">
            <a:avLst/>
          </a:prstGeom>
          <a:noFill/>
          <a:ln>
            <a:noFill/>
          </a:ln>
        </p:spPr>
        <p:txBody>
          <a:bodyPr anchorCtr="0" anchor="t" bIns="12700" lIns="12700" spcFirstLastPara="1" rIns="12700" wrap="square" tIns="12700">
            <a:noAutofit/>
          </a:bodyPr>
          <a:lstStyle/>
          <a:p>
            <a:pPr indent="0" lvl="0" marL="0" rtl="0" algn="l">
              <a:spcBef>
                <a:spcPts val="0"/>
              </a:spcBef>
              <a:spcAft>
                <a:spcPts val="0"/>
              </a:spcAft>
              <a:buNone/>
            </a:pPr>
            <a:r>
              <a:rPr lang="en" sz="1000"/>
              <a:t>2-4 sentences maximum. Only use information present in the transcript. Do not answer from general knowledge.</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marR="0" rtl="0" algn="l">
              <a:lnSpc>
                <a:spcPct val="116667"/>
              </a:lnSpc>
              <a:spcBef>
                <a:spcPts val="0"/>
              </a:spcBef>
              <a:spcAft>
                <a:spcPts val="0"/>
              </a:spcAft>
              <a:buClr>
                <a:srgbClr val="6B7280"/>
              </a:buClr>
              <a:buSzPts val="1000"/>
              <a:buFont typeface="Inter"/>
              <a:buNone/>
            </a:pPr>
            <a:r>
              <a:t/>
            </a:r>
            <a:endParaRPr sz="1000">
              <a:solidFill>
                <a:srgbClr val="6B7280"/>
              </a:solidFill>
              <a:latin typeface="Inter"/>
              <a:ea typeface="Inter"/>
              <a:cs typeface="Inter"/>
              <a:sym typeface="Inter"/>
            </a:endParaRPr>
          </a:p>
        </p:txBody>
      </p:sp>
      <p:sp>
        <p:nvSpPr>
          <p:cNvPr id="265" name="Google Shape;265;p20"/>
          <p:cNvSpPr/>
          <p:nvPr/>
        </p:nvSpPr>
        <p:spPr>
          <a:xfrm>
            <a:off x="2538413" y="3096756"/>
            <a:ext cx="1985963" cy="1780044"/>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66" name="Google Shape;266;p20"/>
          <p:cNvSpPr/>
          <p:nvPr/>
        </p:nvSpPr>
        <p:spPr>
          <a:xfrm>
            <a:off x="2656522" y="3205342"/>
            <a:ext cx="1924717" cy="1333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6 OUTPUT</a:t>
            </a:r>
            <a:endParaRPr b="0" i="0" sz="900" u="none" cap="none" strike="noStrike">
              <a:solidFill>
                <a:schemeClr val="dk1"/>
              </a:solidFill>
              <a:latin typeface="Calibri"/>
              <a:ea typeface="Calibri"/>
              <a:cs typeface="Calibri"/>
              <a:sym typeface="Calibri"/>
            </a:endParaRPr>
          </a:p>
        </p:txBody>
      </p:sp>
      <p:sp>
        <p:nvSpPr>
          <p:cNvPr id="267" name="Google Shape;267;p20"/>
          <p:cNvSpPr/>
          <p:nvPr/>
        </p:nvSpPr>
        <p:spPr>
          <a:xfrm>
            <a:off x="2656522" y="3367267"/>
            <a:ext cx="1924717" cy="192405"/>
          </a:xfrm>
          <a:prstGeom prst="rect">
            <a:avLst/>
          </a:prstGeom>
          <a:noFill/>
          <a:ln>
            <a:noFill/>
          </a:ln>
        </p:spPr>
        <p:txBody>
          <a:bodyPr anchorCtr="0" anchor="t" bIns="12700" lIns="12700" spcFirstLastPara="1" rIns="12700" wrap="square" tIns="12700">
            <a:noAutofit/>
          </a:bodyPr>
          <a:lstStyle/>
          <a:p>
            <a:pPr indent="0" lvl="0" marL="0" marR="0" rtl="0" algn="l">
              <a:lnSpc>
                <a:spcPct val="116667"/>
              </a:lnSpc>
              <a:spcBef>
                <a:spcPts val="0"/>
              </a:spcBef>
              <a:spcAft>
                <a:spcPts val="0"/>
              </a:spcAft>
              <a:buClr>
                <a:srgbClr val="6B7280"/>
              </a:buClr>
              <a:buSzPts val="1000"/>
              <a:buFont typeface="Inter"/>
              <a:buNone/>
            </a:pPr>
            <a:r>
              <a:rPr lang="en" sz="1000"/>
              <a:t>Plain prose answer with speaker name and timestamp cited inline.</a:t>
            </a:r>
            <a:endParaRPr sz="1000"/>
          </a:p>
          <a:p>
            <a:pPr indent="0" lvl="0" marL="0" marR="0" rtl="0" algn="l">
              <a:lnSpc>
                <a:spcPct val="116667"/>
              </a:lnSpc>
              <a:spcBef>
                <a:spcPts val="0"/>
              </a:spcBef>
              <a:spcAft>
                <a:spcPts val="0"/>
              </a:spcAft>
              <a:buClr>
                <a:srgbClr val="6B7280"/>
              </a:buClr>
              <a:buSzPts val="1000"/>
              <a:buFont typeface="Inter"/>
              <a:buNone/>
            </a:pPr>
            <a:r>
              <a:t/>
            </a:r>
            <a:endParaRPr sz="1000"/>
          </a:p>
          <a:p>
            <a:pPr indent="0" lvl="0" marL="0" marR="0" rtl="0" algn="l">
              <a:lnSpc>
                <a:spcPct val="116667"/>
              </a:lnSpc>
              <a:spcBef>
                <a:spcPts val="0"/>
              </a:spcBef>
              <a:spcAft>
                <a:spcPts val="0"/>
              </a:spcAft>
              <a:buClr>
                <a:srgbClr val="6B7280"/>
              </a:buClr>
              <a:buSzPts val="1000"/>
              <a:buFont typeface="Inter"/>
              <a:buNone/>
            </a:pPr>
            <a:r>
              <a:t/>
            </a:r>
            <a:endParaRPr sz="1000"/>
          </a:p>
        </p:txBody>
      </p:sp>
      <p:sp>
        <p:nvSpPr>
          <p:cNvPr id="268" name="Google Shape;268;p20"/>
          <p:cNvSpPr/>
          <p:nvPr/>
        </p:nvSpPr>
        <p:spPr>
          <a:xfrm>
            <a:off x="4619625" y="3096756"/>
            <a:ext cx="1985963" cy="1780044"/>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69" name="Google Shape;269;p20"/>
          <p:cNvSpPr/>
          <p:nvPr/>
        </p:nvSpPr>
        <p:spPr>
          <a:xfrm>
            <a:off x="4737735" y="3205342"/>
            <a:ext cx="1924717" cy="1333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7 FAILURE</a:t>
            </a:r>
            <a:endParaRPr b="0" i="0" sz="900" u="none" cap="none" strike="noStrike">
              <a:solidFill>
                <a:schemeClr val="dk1"/>
              </a:solidFill>
              <a:latin typeface="Calibri"/>
              <a:ea typeface="Calibri"/>
              <a:cs typeface="Calibri"/>
              <a:sym typeface="Calibri"/>
            </a:endParaRPr>
          </a:p>
        </p:txBody>
      </p:sp>
      <p:sp>
        <p:nvSpPr>
          <p:cNvPr id="270" name="Google Shape;270;p20"/>
          <p:cNvSpPr/>
          <p:nvPr/>
        </p:nvSpPr>
        <p:spPr>
          <a:xfrm>
            <a:off x="4737735" y="3367266"/>
            <a:ext cx="1802235" cy="539115"/>
          </a:xfrm>
          <a:prstGeom prst="rect">
            <a:avLst/>
          </a:prstGeom>
          <a:noFill/>
          <a:ln>
            <a:noFill/>
          </a:ln>
        </p:spPr>
        <p:txBody>
          <a:bodyPr anchorCtr="0" anchor="t" bIns="12700" lIns="12700" spcFirstLastPara="1" rIns="12700" wrap="square" tIns="12700">
            <a:noAutofit/>
          </a:bodyPr>
          <a:lstStyle/>
          <a:p>
            <a:pPr indent="0" lvl="0" marL="0" marR="0" rtl="0" algn="l">
              <a:lnSpc>
                <a:spcPct val="116667"/>
              </a:lnSpc>
              <a:spcBef>
                <a:spcPts val="0"/>
              </a:spcBef>
              <a:spcAft>
                <a:spcPts val="0"/>
              </a:spcAft>
              <a:buClr>
                <a:srgbClr val="6B7280"/>
              </a:buClr>
              <a:buSzPts val="1000"/>
              <a:buFont typeface="Inter"/>
              <a:buNone/>
            </a:pPr>
            <a:r>
              <a:rPr lang="en" sz="1000"/>
              <a:t>If the answer is not in the transcript, respond with exactly: "This wasn't discussed in the meeting."</a:t>
            </a:r>
            <a:endParaRPr sz="1000"/>
          </a:p>
          <a:p>
            <a:pPr indent="0" lvl="0" marL="0" marR="0" rtl="0" algn="l">
              <a:lnSpc>
                <a:spcPct val="116667"/>
              </a:lnSpc>
              <a:spcBef>
                <a:spcPts val="0"/>
              </a:spcBef>
              <a:spcAft>
                <a:spcPts val="0"/>
              </a:spcAft>
              <a:buClr>
                <a:srgbClr val="6B7280"/>
              </a:buClr>
              <a:buSzPts val="1000"/>
              <a:buFont typeface="Inter"/>
              <a:buNone/>
            </a:pPr>
            <a:r>
              <a:t/>
            </a:r>
            <a:endParaRPr sz="1000"/>
          </a:p>
          <a:p>
            <a:pPr indent="0" lvl="0" marL="0" marR="0" rtl="0" algn="l">
              <a:lnSpc>
                <a:spcPct val="116667"/>
              </a:lnSpc>
              <a:spcBef>
                <a:spcPts val="0"/>
              </a:spcBef>
              <a:spcAft>
                <a:spcPts val="0"/>
              </a:spcAft>
              <a:buClr>
                <a:srgbClr val="6B7280"/>
              </a:buClr>
              <a:buSzPts val="1000"/>
              <a:buFont typeface="Inter"/>
              <a:buNone/>
            </a:pPr>
            <a:r>
              <a:t/>
            </a:r>
            <a:endParaRPr sz="1000"/>
          </a:p>
        </p:txBody>
      </p:sp>
      <p:sp>
        <p:nvSpPr>
          <p:cNvPr id="271" name="Google Shape;271;p20"/>
          <p:cNvSpPr/>
          <p:nvPr/>
        </p:nvSpPr>
        <p:spPr>
          <a:xfrm>
            <a:off x="6700838" y="3096756"/>
            <a:ext cx="1985963" cy="1780044"/>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72" name="Google Shape;272;p20"/>
          <p:cNvSpPr/>
          <p:nvPr/>
        </p:nvSpPr>
        <p:spPr>
          <a:xfrm>
            <a:off x="6818948" y="3205342"/>
            <a:ext cx="1924717" cy="1333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8 EXAMPLES</a:t>
            </a:r>
            <a:endParaRPr b="0" i="0" sz="900" u="none" cap="none" strike="noStrike">
              <a:solidFill>
                <a:schemeClr val="dk1"/>
              </a:solidFill>
              <a:latin typeface="Calibri"/>
              <a:ea typeface="Calibri"/>
              <a:cs typeface="Calibri"/>
              <a:sym typeface="Calibri"/>
            </a:endParaRPr>
          </a:p>
        </p:txBody>
      </p:sp>
      <p:sp>
        <p:nvSpPr>
          <p:cNvPr id="273" name="Google Shape;273;p20"/>
          <p:cNvSpPr/>
          <p:nvPr/>
        </p:nvSpPr>
        <p:spPr>
          <a:xfrm>
            <a:off x="6818948" y="3367267"/>
            <a:ext cx="1924717" cy="192405"/>
          </a:xfrm>
          <a:prstGeom prst="rect">
            <a:avLst/>
          </a:prstGeom>
          <a:noFill/>
          <a:ln>
            <a:noFill/>
          </a:ln>
        </p:spPr>
        <p:txBody>
          <a:bodyPr anchorCtr="0" anchor="t" bIns="12700" lIns="12700" spcFirstLastPara="1" rIns="12700" wrap="square" tIns="12700">
            <a:noAutofit/>
          </a:bodyPr>
          <a:lstStyle/>
          <a:p>
            <a:pPr indent="0" lvl="0" marL="0" rtl="0" algn="l">
              <a:spcBef>
                <a:spcPts val="0"/>
              </a:spcBef>
              <a:spcAft>
                <a:spcPts val="0"/>
              </a:spcAft>
              <a:buClr>
                <a:schemeClr val="dk1"/>
              </a:buClr>
              <a:buSzPts val="1100"/>
              <a:buFont typeface="Arial"/>
              <a:buNone/>
            </a:pPr>
            <a:r>
              <a:rPr lang="en" sz="1000">
                <a:solidFill>
                  <a:schemeClr val="dk1"/>
                </a:solidFill>
              </a:rPr>
              <a:t>Q: "Who owns the pricing update?" → A: "Aisha Patel owns the pricing page update, committed at 10:21 AM with a due date of September 25th."</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C"/>
        </a:solidFill>
      </p:bgPr>
    </p:bg>
    <p:spTree>
      <p:nvGrpSpPr>
        <p:cNvPr id="278" name="Shape 278"/>
        <p:cNvGrpSpPr/>
        <p:nvPr/>
      </p:nvGrpSpPr>
      <p:grpSpPr>
        <a:xfrm>
          <a:off x="0" y="0"/>
          <a:ext cx="0" cy="0"/>
          <a:chOff x="0" y="0"/>
          <a:chExt cx="0" cy="0"/>
        </a:xfrm>
      </p:grpSpPr>
      <p:sp>
        <p:nvSpPr>
          <p:cNvPr id="279" name="Google Shape;279;p21"/>
          <p:cNvSpPr/>
          <p:nvPr/>
        </p:nvSpPr>
        <p:spPr>
          <a:xfrm>
            <a:off x="457200" y="528638"/>
            <a:ext cx="9052560" cy="320218"/>
          </a:xfrm>
          <a:prstGeom prst="rect">
            <a:avLst/>
          </a:prstGeom>
          <a:noFill/>
          <a:ln>
            <a:noFill/>
          </a:ln>
        </p:spPr>
        <p:txBody>
          <a:bodyPr anchorCtr="0" anchor="t" bIns="12700" lIns="12700" spcFirstLastPara="1" rIns="12700" wrap="square" tIns="12700">
            <a:noAutofit/>
          </a:bodyPr>
          <a:lstStyle/>
          <a:p>
            <a:pPr indent="0" lvl="0" marL="0" marR="0" rtl="0" algn="l">
              <a:lnSpc>
                <a:spcPct val="84096"/>
              </a:lnSpc>
              <a:spcBef>
                <a:spcPts val="0"/>
              </a:spcBef>
              <a:spcAft>
                <a:spcPts val="0"/>
              </a:spcAft>
              <a:buClr>
                <a:srgbClr val="1F2937"/>
              </a:buClr>
              <a:buSzPts val="2300"/>
              <a:buFont typeface="Inter"/>
              <a:buNone/>
            </a:pPr>
            <a:r>
              <a:rPr b="1" i="0" lang="en" sz="2300" u="none" cap="none" strike="noStrike">
                <a:solidFill>
                  <a:srgbClr val="1F2937"/>
                </a:solidFill>
                <a:latin typeface="Inter"/>
                <a:ea typeface="Inter"/>
                <a:cs typeface="Inter"/>
                <a:sym typeface="Inter"/>
              </a:rPr>
              <a:t>What goes in alongside</a:t>
            </a:r>
            <a:endParaRPr b="0" i="0" sz="2300" u="none" cap="none" strike="noStrike">
              <a:solidFill>
                <a:schemeClr val="dk1"/>
              </a:solidFill>
              <a:latin typeface="Calibri"/>
              <a:ea typeface="Calibri"/>
              <a:cs typeface="Calibri"/>
              <a:sym typeface="Calibri"/>
            </a:endParaRPr>
          </a:p>
        </p:txBody>
      </p:sp>
      <p:sp>
        <p:nvSpPr>
          <p:cNvPr id="280" name="Google Shape;280;p21"/>
          <p:cNvSpPr/>
          <p:nvPr/>
        </p:nvSpPr>
        <p:spPr>
          <a:xfrm>
            <a:off x="457200" y="906006"/>
            <a:ext cx="6810375" cy="191691"/>
          </a:xfrm>
          <a:prstGeom prst="rect">
            <a:avLst/>
          </a:prstGeom>
          <a:noFill/>
          <a:ln>
            <a:noFill/>
          </a:ln>
        </p:spPr>
        <p:txBody>
          <a:bodyPr anchorCtr="0" anchor="t" bIns="12700" lIns="12700" spcFirstLastPara="1" rIns="12700" wrap="square" tIns="12700">
            <a:noAutofit/>
          </a:bodyPr>
          <a:lstStyle/>
          <a:p>
            <a:pPr indent="0" lvl="0" marL="0" rtl="0" algn="l">
              <a:lnSpc>
                <a:spcPct val="119243"/>
              </a:lnSpc>
              <a:spcBef>
                <a:spcPts val="0"/>
              </a:spcBef>
              <a:spcAft>
                <a:spcPts val="0"/>
              </a:spcAft>
              <a:buClr>
                <a:srgbClr val="4B5563"/>
              </a:buClr>
              <a:buSzPts val="900"/>
              <a:buFont typeface="Inter"/>
              <a:buNone/>
            </a:pPr>
            <a:r>
              <a:rPr lang="en" sz="900">
                <a:solidFill>
                  <a:srgbClr val="4B5563"/>
                </a:solidFill>
                <a:latin typeface="Inter"/>
                <a:ea typeface="Inter"/>
                <a:cs typeface="Inter"/>
                <a:sym typeface="Inter"/>
              </a:rPr>
              <a:t>All four inputs specified before touching Lovable.</a:t>
            </a:r>
            <a:endParaRPr sz="900">
              <a:solidFill>
                <a:schemeClr val="dk1"/>
              </a:solidFill>
              <a:latin typeface="Calibri"/>
              <a:ea typeface="Calibri"/>
              <a:cs typeface="Calibri"/>
              <a:sym typeface="Calibri"/>
            </a:endParaRPr>
          </a:p>
          <a:p>
            <a:pPr indent="0" lvl="0" marL="0" marR="0" rtl="0" algn="l">
              <a:lnSpc>
                <a:spcPct val="119243"/>
              </a:lnSpc>
              <a:spcBef>
                <a:spcPts val="0"/>
              </a:spcBef>
              <a:spcAft>
                <a:spcPts val="0"/>
              </a:spcAft>
              <a:buClr>
                <a:srgbClr val="4B5563"/>
              </a:buClr>
              <a:buSzPts val="900"/>
              <a:buFont typeface="Inter"/>
              <a:buNone/>
            </a:pPr>
            <a:r>
              <a:t/>
            </a:r>
            <a:endParaRPr sz="900">
              <a:solidFill>
                <a:srgbClr val="4B5563"/>
              </a:solidFill>
              <a:latin typeface="Inter"/>
              <a:ea typeface="Inter"/>
              <a:cs typeface="Inter"/>
              <a:sym typeface="Inter"/>
            </a:endParaRPr>
          </a:p>
        </p:txBody>
      </p:sp>
      <p:sp>
        <p:nvSpPr>
          <p:cNvPr id="281" name="Google Shape;281;p21"/>
          <p:cNvSpPr/>
          <p:nvPr/>
        </p:nvSpPr>
        <p:spPr>
          <a:xfrm>
            <a:off x="457200" y="1202472"/>
            <a:ext cx="8229600" cy="745748"/>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2" name="Google Shape;282;p21"/>
          <p:cNvSpPr/>
          <p:nvPr/>
        </p:nvSpPr>
        <p:spPr>
          <a:xfrm>
            <a:off x="461010" y="1206281"/>
            <a:ext cx="2190750" cy="738128"/>
          </a:xfrm>
          <a:prstGeom prst="rect">
            <a:avLst/>
          </a:prstGeom>
          <a:solidFill>
            <a:srgbClr val="F5F3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3" name="Google Shape;283;p21"/>
          <p:cNvSpPr/>
          <p:nvPr/>
        </p:nvSpPr>
        <p:spPr>
          <a:xfrm>
            <a:off x="594360" y="1310521"/>
            <a:ext cx="2116455" cy="176213"/>
          </a:xfrm>
          <a:prstGeom prst="rect">
            <a:avLst/>
          </a:prstGeom>
          <a:noFill/>
          <a:ln>
            <a:noFill/>
          </a:ln>
        </p:spPr>
        <p:txBody>
          <a:bodyPr anchorCtr="0" anchor="t" bIns="12700" lIns="12700" spcFirstLastPara="1" rIns="12700" wrap="square" tIns="12700">
            <a:noAutofit/>
          </a:bodyPr>
          <a:lstStyle/>
          <a:p>
            <a:pPr indent="0" lvl="0" marL="0" marR="0" rtl="0" algn="l">
              <a:lnSpc>
                <a:spcPct val="91667"/>
              </a:lnSpc>
              <a:spcBef>
                <a:spcPts val="0"/>
              </a:spcBef>
              <a:spcAft>
                <a:spcPts val="0"/>
              </a:spcAft>
              <a:buClr>
                <a:srgbClr val="1F2937"/>
              </a:buClr>
              <a:buSzPts val="1100"/>
              <a:buFont typeface="Inter"/>
              <a:buNone/>
            </a:pPr>
            <a:r>
              <a:rPr b="1" i="0" lang="en" sz="1100" u="none" cap="none" strike="noStrike">
                <a:solidFill>
                  <a:srgbClr val="1F2937"/>
                </a:solidFill>
                <a:latin typeface="Inter"/>
                <a:ea typeface="Inter"/>
                <a:cs typeface="Inter"/>
                <a:sym typeface="Inter"/>
              </a:rPr>
              <a:t>User interface</a:t>
            </a:r>
            <a:endParaRPr b="0" i="0" sz="1100" u="none" cap="none" strike="noStrike">
              <a:solidFill>
                <a:schemeClr val="dk1"/>
              </a:solidFill>
              <a:latin typeface="Calibri"/>
              <a:ea typeface="Calibri"/>
              <a:cs typeface="Calibri"/>
              <a:sym typeface="Calibri"/>
            </a:endParaRPr>
          </a:p>
        </p:txBody>
      </p:sp>
      <p:sp>
        <p:nvSpPr>
          <p:cNvPr id="284" name="Google Shape;284;p21"/>
          <p:cNvSpPr/>
          <p:nvPr/>
        </p:nvSpPr>
        <p:spPr>
          <a:xfrm>
            <a:off x="594360" y="1505784"/>
            <a:ext cx="1981772" cy="353378"/>
          </a:xfrm>
          <a:prstGeom prst="rect">
            <a:avLst/>
          </a:prstGeom>
          <a:noFill/>
          <a:ln>
            <a:noFill/>
          </a:ln>
        </p:spPr>
        <p:txBody>
          <a:bodyPr anchorCtr="0" anchor="t" bIns="12700" lIns="12700" spcFirstLastPara="1" rIns="12700" wrap="square" tIns="12700">
            <a:noAutofit/>
          </a:bodyPr>
          <a:lstStyle/>
          <a:p>
            <a:pPr indent="0" lvl="0" marL="0" marR="0" rtl="0" algn="l">
              <a:lnSpc>
                <a:spcPct val="112500"/>
              </a:lnSpc>
              <a:spcBef>
                <a:spcPts val="0"/>
              </a:spcBef>
              <a:spcAft>
                <a:spcPts val="0"/>
              </a:spcAft>
              <a:buClr>
                <a:srgbClr val="6B7280"/>
              </a:buClr>
              <a:buSzPts val="1000"/>
              <a:buFont typeface="Inter"/>
              <a:buNone/>
            </a:pPr>
            <a:r>
              <a:rPr b="0" i="0" lang="en" sz="1000" u="none" cap="none" strike="noStrike">
                <a:solidFill>
                  <a:srgbClr val="6B7280"/>
                </a:solidFill>
                <a:latin typeface="Inter"/>
                <a:ea typeface="Inter"/>
                <a:cs typeface="Inter"/>
                <a:sym typeface="Inter"/>
              </a:rPr>
              <a:t>what </a:t>
            </a:r>
            <a:r>
              <a:rPr lang="en" sz="1000">
                <a:solidFill>
                  <a:srgbClr val="6B7280"/>
                </a:solidFill>
                <a:latin typeface="Inter"/>
                <a:ea typeface="Inter"/>
                <a:cs typeface="Inter"/>
                <a:sym typeface="Inter"/>
              </a:rPr>
              <a:t>the </a:t>
            </a:r>
            <a:r>
              <a:rPr b="0" i="0" lang="en" sz="1000" u="none" cap="none" strike="noStrike">
                <a:solidFill>
                  <a:srgbClr val="6B7280"/>
                </a:solidFill>
                <a:latin typeface="Inter"/>
                <a:ea typeface="Inter"/>
                <a:cs typeface="Inter"/>
                <a:sym typeface="Inter"/>
              </a:rPr>
              <a:t>user actually sees and touches</a:t>
            </a:r>
            <a:endParaRPr b="0" i="0" sz="1000" u="none" cap="none" strike="noStrike">
              <a:solidFill>
                <a:schemeClr val="dk1"/>
              </a:solidFill>
              <a:latin typeface="Calibri"/>
              <a:ea typeface="Calibri"/>
              <a:cs typeface="Calibri"/>
              <a:sym typeface="Calibri"/>
            </a:endParaRPr>
          </a:p>
        </p:txBody>
      </p:sp>
      <p:sp>
        <p:nvSpPr>
          <p:cNvPr id="285" name="Google Shape;285;p21"/>
          <p:cNvSpPr/>
          <p:nvPr/>
        </p:nvSpPr>
        <p:spPr>
          <a:xfrm>
            <a:off x="2651760" y="1206281"/>
            <a:ext cx="4763" cy="738128"/>
          </a:xfrm>
          <a:prstGeom prst="rect">
            <a:avLst/>
          </a:prstGeom>
          <a:solidFill>
            <a:srgbClr val="E5E7E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6" name="Google Shape;286;p21"/>
          <p:cNvSpPr/>
          <p:nvPr/>
        </p:nvSpPr>
        <p:spPr>
          <a:xfrm>
            <a:off x="457200" y="2014895"/>
            <a:ext cx="8229600" cy="745808"/>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7" name="Google Shape;287;p21"/>
          <p:cNvSpPr/>
          <p:nvPr/>
        </p:nvSpPr>
        <p:spPr>
          <a:xfrm>
            <a:off x="461010" y="2018705"/>
            <a:ext cx="2190750" cy="738188"/>
          </a:xfrm>
          <a:prstGeom prst="rect">
            <a:avLst/>
          </a:prstGeom>
          <a:solidFill>
            <a:srgbClr val="F5F3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8" name="Google Shape;288;p21"/>
          <p:cNvSpPr/>
          <p:nvPr/>
        </p:nvSpPr>
        <p:spPr>
          <a:xfrm>
            <a:off x="594360" y="2206586"/>
            <a:ext cx="2116455" cy="176213"/>
          </a:xfrm>
          <a:prstGeom prst="rect">
            <a:avLst/>
          </a:prstGeom>
          <a:noFill/>
          <a:ln>
            <a:noFill/>
          </a:ln>
        </p:spPr>
        <p:txBody>
          <a:bodyPr anchorCtr="0" anchor="t" bIns="12700" lIns="12700" spcFirstLastPara="1" rIns="12700" wrap="square" tIns="12700">
            <a:noAutofit/>
          </a:bodyPr>
          <a:lstStyle/>
          <a:p>
            <a:pPr indent="0" lvl="0" marL="0" marR="0" rtl="0" algn="l">
              <a:lnSpc>
                <a:spcPct val="91667"/>
              </a:lnSpc>
              <a:spcBef>
                <a:spcPts val="0"/>
              </a:spcBef>
              <a:spcAft>
                <a:spcPts val="0"/>
              </a:spcAft>
              <a:buClr>
                <a:srgbClr val="1F2937"/>
              </a:buClr>
              <a:buSzPts val="1100"/>
              <a:buFont typeface="Inter"/>
              <a:buNone/>
            </a:pPr>
            <a:r>
              <a:rPr b="1" i="0" lang="en" sz="1100" u="none" cap="none" strike="noStrike">
                <a:solidFill>
                  <a:srgbClr val="1F2937"/>
                </a:solidFill>
                <a:latin typeface="Inter"/>
                <a:ea typeface="Inter"/>
                <a:cs typeface="Inter"/>
                <a:sym typeface="Inter"/>
              </a:rPr>
              <a:t>System prompt</a:t>
            </a:r>
            <a:endParaRPr b="0" i="0" sz="1100" u="none" cap="none" strike="noStrike">
              <a:solidFill>
                <a:schemeClr val="dk1"/>
              </a:solidFill>
              <a:latin typeface="Calibri"/>
              <a:ea typeface="Calibri"/>
              <a:cs typeface="Calibri"/>
              <a:sym typeface="Calibri"/>
            </a:endParaRPr>
          </a:p>
        </p:txBody>
      </p:sp>
      <p:sp>
        <p:nvSpPr>
          <p:cNvPr id="289" name="Google Shape;289;p21"/>
          <p:cNvSpPr/>
          <p:nvPr/>
        </p:nvSpPr>
        <p:spPr>
          <a:xfrm>
            <a:off x="594360" y="2401848"/>
            <a:ext cx="2116455" cy="186214"/>
          </a:xfrm>
          <a:prstGeom prst="rect">
            <a:avLst/>
          </a:prstGeom>
          <a:noFill/>
          <a:ln>
            <a:noFill/>
          </a:ln>
        </p:spPr>
        <p:txBody>
          <a:bodyPr anchorCtr="0" anchor="t" bIns="12700" lIns="12700" spcFirstLastPara="1" rIns="12700" wrap="square" tIns="12700">
            <a:noAutofit/>
          </a:bodyPr>
          <a:lstStyle/>
          <a:p>
            <a:pPr indent="0" lvl="0" marL="0" marR="0" rtl="0" algn="l">
              <a:lnSpc>
                <a:spcPct val="112500"/>
              </a:lnSpc>
              <a:spcBef>
                <a:spcPts val="0"/>
              </a:spcBef>
              <a:spcAft>
                <a:spcPts val="0"/>
              </a:spcAft>
              <a:buClr>
                <a:srgbClr val="6B7280"/>
              </a:buClr>
              <a:buSzPts val="1000"/>
              <a:buFont typeface="Inter"/>
              <a:buNone/>
            </a:pPr>
            <a:r>
              <a:rPr b="0" i="0" lang="en" sz="1000" u="none" cap="none" strike="noStrike">
                <a:solidFill>
                  <a:srgbClr val="6B7280"/>
                </a:solidFill>
                <a:latin typeface="Inter"/>
                <a:ea typeface="Inter"/>
                <a:cs typeface="Inter"/>
                <a:sym typeface="Inter"/>
              </a:rPr>
              <a:t>the eight blocks, per call</a:t>
            </a:r>
            <a:endParaRPr b="0" i="0" sz="1000" u="none" cap="none" strike="noStrike">
              <a:solidFill>
                <a:schemeClr val="dk1"/>
              </a:solidFill>
              <a:latin typeface="Calibri"/>
              <a:ea typeface="Calibri"/>
              <a:cs typeface="Calibri"/>
              <a:sym typeface="Calibri"/>
            </a:endParaRPr>
          </a:p>
        </p:txBody>
      </p:sp>
      <p:sp>
        <p:nvSpPr>
          <p:cNvPr id="290" name="Google Shape;290;p21"/>
          <p:cNvSpPr/>
          <p:nvPr/>
        </p:nvSpPr>
        <p:spPr>
          <a:xfrm>
            <a:off x="2651760" y="2018705"/>
            <a:ext cx="4763" cy="738188"/>
          </a:xfrm>
          <a:prstGeom prst="rect">
            <a:avLst/>
          </a:prstGeom>
          <a:solidFill>
            <a:srgbClr val="E5E7E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91" name="Google Shape;291;p21"/>
          <p:cNvSpPr/>
          <p:nvPr/>
        </p:nvSpPr>
        <p:spPr>
          <a:xfrm>
            <a:off x="457200" y="2827377"/>
            <a:ext cx="8229600" cy="745748"/>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92" name="Google Shape;292;p21"/>
          <p:cNvSpPr/>
          <p:nvPr/>
        </p:nvSpPr>
        <p:spPr>
          <a:xfrm>
            <a:off x="461010" y="2831188"/>
            <a:ext cx="2190750" cy="858203"/>
          </a:xfrm>
          <a:prstGeom prst="rect">
            <a:avLst/>
          </a:prstGeom>
          <a:solidFill>
            <a:srgbClr val="F5F3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93" name="Google Shape;293;p21"/>
          <p:cNvSpPr/>
          <p:nvPr/>
        </p:nvSpPr>
        <p:spPr>
          <a:xfrm>
            <a:off x="594360" y="2916913"/>
            <a:ext cx="1981772" cy="333375"/>
          </a:xfrm>
          <a:prstGeom prst="rect">
            <a:avLst/>
          </a:prstGeom>
          <a:noFill/>
          <a:ln>
            <a:noFill/>
          </a:ln>
        </p:spPr>
        <p:txBody>
          <a:bodyPr anchorCtr="0" anchor="t" bIns="12700" lIns="12700" spcFirstLastPara="1" rIns="12700" wrap="square" tIns="12700">
            <a:noAutofit/>
          </a:bodyPr>
          <a:lstStyle/>
          <a:p>
            <a:pPr indent="0" lvl="0" marL="0" marR="0" rtl="0" algn="l">
              <a:lnSpc>
                <a:spcPct val="91667"/>
              </a:lnSpc>
              <a:spcBef>
                <a:spcPts val="0"/>
              </a:spcBef>
              <a:spcAft>
                <a:spcPts val="0"/>
              </a:spcAft>
              <a:buClr>
                <a:srgbClr val="1F2937"/>
              </a:buClr>
              <a:buSzPts val="1100"/>
              <a:buFont typeface="Inter"/>
              <a:buNone/>
            </a:pPr>
            <a:r>
              <a:rPr b="1" i="0" lang="en" sz="1100" u="none" cap="none" strike="noStrike">
                <a:solidFill>
                  <a:srgbClr val="1F2937"/>
                </a:solidFill>
                <a:latin typeface="Inter"/>
                <a:ea typeface="Inter"/>
                <a:cs typeface="Inter"/>
                <a:sym typeface="Inter"/>
              </a:rPr>
              <a:t>User prompt and user information</a:t>
            </a:r>
            <a:endParaRPr b="0" i="0" sz="1100" u="none" cap="none" strike="noStrike">
              <a:solidFill>
                <a:schemeClr val="dk1"/>
              </a:solidFill>
              <a:latin typeface="Calibri"/>
              <a:ea typeface="Calibri"/>
              <a:cs typeface="Calibri"/>
              <a:sym typeface="Calibri"/>
            </a:endParaRPr>
          </a:p>
        </p:txBody>
      </p:sp>
      <p:sp>
        <p:nvSpPr>
          <p:cNvPr id="294" name="Google Shape;294;p21"/>
          <p:cNvSpPr/>
          <p:nvPr/>
        </p:nvSpPr>
        <p:spPr>
          <a:xfrm>
            <a:off x="594360" y="3269337"/>
            <a:ext cx="1981772" cy="353378"/>
          </a:xfrm>
          <a:prstGeom prst="rect">
            <a:avLst/>
          </a:prstGeom>
          <a:noFill/>
          <a:ln>
            <a:noFill/>
          </a:ln>
        </p:spPr>
        <p:txBody>
          <a:bodyPr anchorCtr="0" anchor="t" bIns="12700" lIns="12700" spcFirstLastPara="1" rIns="12700" wrap="square" tIns="12700">
            <a:noAutofit/>
          </a:bodyPr>
          <a:lstStyle/>
          <a:p>
            <a:pPr indent="0" lvl="0" marL="0" marR="0" rtl="0" algn="l">
              <a:lnSpc>
                <a:spcPct val="112500"/>
              </a:lnSpc>
              <a:spcBef>
                <a:spcPts val="0"/>
              </a:spcBef>
              <a:spcAft>
                <a:spcPts val="0"/>
              </a:spcAft>
              <a:buClr>
                <a:srgbClr val="6B7280"/>
              </a:buClr>
              <a:buSzPts val="1000"/>
              <a:buFont typeface="Inter"/>
              <a:buNone/>
            </a:pPr>
            <a:r>
              <a:rPr b="0" i="0" lang="en" sz="1000" u="none" cap="none" strike="noStrike">
                <a:solidFill>
                  <a:srgbClr val="6B7280"/>
                </a:solidFill>
                <a:latin typeface="Inter"/>
                <a:ea typeface="Inter"/>
                <a:cs typeface="Inter"/>
                <a:sym typeface="Inter"/>
              </a:rPr>
              <a:t>what </a:t>
            </a:r>
            <a:r>
              <a:rPr lang="en" sz="1000">
                <a:solidFill>
                  <a:srgbClr val="6B7280"/>
                </a:solidFill>
                <a:latin typeface="Inter"/>
                <a:ea typeface="Inter"/>
                <a:cs typeface="Inter"/>
                <a:sym typeface="Inter"/>
              </a:rPr>
              <a:t>users </a:t>
            </a:r>
            <a:r>
              <a:rPr b="0" i="0" lang="en" sz="1000" u="none" cap="none" strike="noStrike">
                <a:solidFill>
                  <a:srgbClr val="6B7280"/>
                </a:solidFill>
                <a:latin typeface="Inter"/>
                <a:ea typeface="Inter"/>
                <a:cs typeface="Inter"/>
                <a:sym typeface="Inter"/>
              </a:rPr>
              <a:t>typed</a:t>
            </a:r>
            <a:endParaRPr b="0" i="0" sz="1000" u="none" cap="none" strike="noStrike">
              <a:solidFill>
                <a:schemeClr val="dk1"/>
              </a:solidFill>
              <a:latin typeface="Calibri"/>
              <a:ea typeface="Calibri"/>
              <a:cs typeface="Calibri"/>
              <a:sym typeface="Calibri"/>
            </a:endParaRPr>
          </a:p>
        </p:txBody>
      </p:sp>
      <p:sp>
        <p:nvSpPr>
          <p:cNvPr id="295" name="Google Shape;295;p21"/>
          <p:cNvSpPr/>
          <p:nvPr/>
        </p:nvSpPr>
        <p:spPr>
          <a:xfrm>
            <a:off x="2651760" y="2831188"/>
            <a:ext cx="4763" cy="858203"/>
          </a:xfrm>
          <a:prstGeom prst="rect">
            <a:avLst/>
          </a:prstGeom>
          <a:solidFill>
            <a:srgbClr val="E5E7E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96" name="Google Shape;296;p21"/>
          <p:cNvSpPr/>
          <p:nvPr/>
        </p:nvSpPr>
        <p:spPr>
          <a:xfrm>
            <a:off x="457200" y="3639800"/>
            <a:ext cx="8229600" cy="745748"/>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97" name="Google Shape;297;p21"/>
          <p:cNvSpPr/>
          <p:nvPr/>
        </p:nvSpPr>
        <p:spPr>
          <a:xfrm>
            <a:off x="461010" y="3643610"/>
            <a:ext cx="2190750" cy="738128"/>
          </a:xfrm>
          <a:prstGeom prst="rect">
            <a:avLst/>
          </a:prstGeom>
          <a:solidFill>
            <a:srgbClr val="F5F3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98" name="Google Shape;298;p21"/>
          <p:cNvSpPr/>
          <p:nvPr/>
        </p:nvSpPr>
        <p:spPr>
          <a:xfrm>
            <a:off x="594360" y="3747850"/>
            <a:ext cx="2116455" cy="176213"/>
          </a:xfrm>
          <a:prstGeom prst="rect">
            <a:avLst/>
          </a:prstGeom>
          <a:noFill/>
          <a:ln>
            <a:noFill/>
          </a:ln>
        </p:spPr>
        <p:txBody>
          <a:bodyPr anchorCtr="0" anchor="t" bIns="12700" lIns="12700" spcFirstLastPara="1" rIns="12700" wrap="square" tIns="12700">
            <a:noAutofit/>
          </a:bodyPr>
          <a:lstStyle/>
          <a:p>
            <a:pPr indent="0" lvl="0" marL="0" marR="0" rtl="0" algn="l">
              <a:lnSpc>
                <a:spcPct val="91667"/>
              </a:lnSpc>
              <a:spcBef>
                <a:spcPts val="0"/>
              </a:spcBef>
              <a:spcAft>
                <a:spcPts val="0"/>
              </a:spcAft>
              <a:buClr>
                <a:srgbClr val="1F2937"/>
              </a:buClr>
              <a:buSzPts val="1100"/>
              <a:buFont typeface="Inter"/>
              <a:buNone/>
            </a:pPr>
            <a:r>
              <a:rPr b="1" i="0" lang="en" sz="1100" u="none" cap="none" strike="noStrike">
                <a:solidFill>
                  <a:srgbClr val="1F2937"/>
                </a:solidFill>
                <a:latin typeface="Inter"/>
                <a:ea typeface="Inter"/>
                <a:cs typeface="Inter"/>
                <a:sym typeface="Inter"/>
              </a:rPr>
              <a:t>Technicals</a:t>
            </a:r>
            <a:endParaRPr b="0" i="0" sz="1100" u="none" cap="none" strike="noStrike">
              <a:solidFill>
                <a:schemeClr val="dk1"/>
              </a:solidFill>
              <a:latin typeface="Calibri"/>
              <a:ea typeface="Calibri"/>
              <a:cs typeface="Calibri"/>
              <a:sym typeface="Calibri"/>
            </a:endParaRPr>
          </a:p>
        </p:txBody>
      </p:sp>
      <p:sp>
        <p:nvSpPr>
          <p:cNvPr id="299" name="Google Shape;299;p21"/>
          <p:cNvSpPr/>
          <p:nvPr/>
        </p:nvSpPr>
        <p:spPr>
          <a:xfrm>
            <a:off x="594360" y="3943112"/>
            <a:ext cx="1981772" cy="353378"/>
          </a:xfrm>
          <a:prstGeom prst="rect">
            <a:avLst/>
          </a:prstGeom>
          <a:noFill/>
          <a:ln>
            <a:noFill/>
          </a:ln>
        </p:spPr>
        <p:txBody>
          <a:bodyPr anchorCtr="0" anchor="t" bIns="12700" lIns="12700" spcFirstLastPara="1" rIns="12700" wrap="square" tIns="12700">
            <a:noAutofit/>
          </a:bodyPr>
          <a:lstStyle/>
          <a:p>
            <a:pPr indent="0" lvl="0" marL="0" marR="0" rtl="0" algn="l">
              <a:lnSpc>
                <a:spcPct val="112500"/>
              </a:lnSpc>
              <a:spcBef>
                <a:spcPts val="0"/>
              </a:spcBef>
              <a:spcAft>
                <a:spcPts val="0"/>
              </a:spcAft>
              <a:buClr>
                <a:srgbClr val="6B7280"/>
              </a:buClr>
              <a:buSzPts val="1000"/>
              <a:buFont typeface="Inter"/>
              <a:buNone/>
            </a:pPr>
            <a:r>
              <a:rPr b="0" i="0" lang="en" sz="1000" u="none" cap="none" strike="noStrike">
                <a:solidFill>
                  <a:srgbClr val="6B7280"/>
                </a:solidFill>
                <a:latin typeface="Inter"/>
                <a:ea typeface="Inter"/>
                <a:cs typeface="Inter"/>
                <a:sym typeface="Inter"/>
              </a:rPr>
              <a:t>temperature · max tokens · reasoning</a:t>
            </a:r>
            <a:endParaRPr b="0" i="0" sz="1000" u="none" cap="none" strike="noStrike">
              <a:solidFill>
                <a:schemeClr val="dk1"/>
              </a:solidFill>
              <a:latin typeface="Calibri"/>
              <a:ea typeface="Calibri"/>
              <a:cs typeface="Calibri"/>
              <a:sym typeface="Calibri"/>
            </a:endParaRPr>
          </a:p>
        </p:txBody>
      </p:sp>
      <p:sp>
        <p:nvSpPr>
          <p:cNvPr id="300" name="Google Shape;300;p21"/>
          <p:cNvSpPr/>
          <p:nvPr/>
        </p:nvSpPr>
        <p:spPr>
          <a:xfrm>
            <a:off x="2651760" y="3643610"/>
            <a:ext cx="4763" cy="738128"/>
          </a:xfrm>
          <a:prstGeom prst="rect">
            <a:avLst/>
          </a:prstGeom>
          <a:solidFill>
            <a:srgbClr val="E5E7E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01" name="Google Shape;301;p21"/>
          <p:cNvSpPr txBox="1"/>
          <p:nvPr/>
        </p:nvSpPr>
        <p:spPr>
          <a:xfrm>
            <a:off x="2854000" y="1202475"/>
            <a:ext cx="5832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Responsive MeetIQ workspace for uploading a transcript, reviewing AI-processed results, assigning accountability, asking questions, and downloading or sharing the report. </a:t>
            </a:r>
            <a:endParaRPr sz="1300"/>
          </a:p>
        </p:txBody>
      </p:sp>
      <p:sp>
        <p:nvSpPr>
          <p:cNvPr id="302" name="Google Shape;302;p21"/>
          <p:cNvSpPr txBox="1"/>
          <p:nvPr/>
        </p:nvSpPr>
        <p:spPr>
          <a:xfrm>
            <a:off x="2732150" y="1979144"/>
            <a:ext cx="5825100" cy="83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750">
                <a:solidFill>
                  <a:schemeClr val="dk1"/>
                </a:solidFill>
              </a:rPr>
              <a:t>Extract call: </a:t>
            </a:r>
            <a:r>
              <a:rPr lang="en" sz="750">
                <a:solidFill>
                  <a:schemeClr val="dk1"/>
                </a:solidFill>
              </a:rPr>
              <a:t> 8-block prompt instructing the LLM to return a single raw JSON object containing decisions, action items, commitments typed as </a:t>
            </a:r>
            <a:r>
              <a:rPr b="1" lang="en" sz="750">
                <a:solidFill>
                  <a:schemeClr val="dk1"/>
                </a:solidFill>
              </a:rPr>
              <a:t>CONFIRMED, ORPHANED, or PASSING</a:t>
            </a:r>
            <a:r>
              <a:rPr lang="en" sz="750">
                <a:solidFill>
                  <a:schemeClr val="dk1"/>
                </a:solidFill>
              </a:rPr>
              <a:t>, key moments, topics, and executive summary. Block 4 left empty.</a:t>
            </a:r>
            <a:br>
              <a:rPr lang="en" sz="750">
                <a:solidFill>
                  <a:schemeClr val="dk1"/>
                </a:solidFill>
              </a:rPr>
            </a:br>
            <a:r>
              <a:rPr b="1" lang="en" sz="750">
                <a:solidFill>
                  <a:schemeClr val="dk1"/>
                </a:solidFill>
              </a:rPr>
              <a:t>Ask AI call: </a:t>
            </a:r>
            <a:r>
              <a:rPr lang="en" sz="750">
                <a:solidFill>
                  <a:schemeClr val="dk1"/>
                </a:solidFill>
              </a:rPr>
              <a:t> 8-block prompt instructing the LLM to answer only from transcript context, use bullet format with one citation per bullet (speaker + timestamp), and respond with </a:t>
            </a:r>
            <a:r>
              <a:rPr b="1" lang="en" sz="750">
                <a:solidFill>
                  <a:schemeClr val="dk1"/>
                </a:solidFill>
              </a:rPr>
              <a:t>"This wasn't discussed in the meeting."</a:t>
            </a:r>
            <a:r>
              <a:rPr lang="en" sz="750">
                <a:solidFill>
                  <a:schemeClr val="dk1"/>
                </a:solidFill>
              </a:rPr>
              <a:t> when the answer is not supported by the transcript. Block 4 left empty.</a:t>
            </a:r>
            <a:endParaRPr sz="750"/>
          </a:p>
        </p:txBody>
      </p:sp>
      <p:sp>
        <p:nvSpPr>
          <p:cNvPr id="303" name="Google Shape;303;p21"/>
          <p:cNvSpPr txBox="1"/>
          <p:nvPr/>
        </p:nvSpPr>
        <p:spPr>
          <a:xfrm>
            <a:off x="2815897" y="2904390"/>
            <a:ext cx="5680500" cy="64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900">
                <a:solidFill>
                  <a:schemeClr val="dk1"/>
                </a:solidFill>
              </a:rPr>
              <a:t>Extract call: </a:t>
            </a:r>
            <a:r>
              <a:rPr lang="en" sz="900">
                <a:solidFill>
                  <a:schemeClr val="dk1"/>
                </a:solidFill>
              </a:rPr>
              <a:t> Full raw transcript pasted or uploaded by the user, plus meeting title. No login or user profile. Session is anonymous by design. </a:t>
            </a:r>
            <a:br>
              <a:rPr lang="en" sz="900">
                <a:solidFill>
                  <a:schemeClr val="dk1"/>
                </a:solidFill>
              </a:rPr>
            </a:br>
            <a:r>
              <a:rPr b="1" lang="en" sz="900">
                <a:solidFill>
                  <a:schemeClr val="dk1"/>
                </a:solidFill>
              </a:rPr>
              <a:t>Ask AI call: </a:t>
            </a:r>
            <a:r>
              <a:rPr lang="en" sz="900">
                <a:solidFill>
                  <a:schemeClr val="dk1"/>
                </a:solidFill>
              </a:rPr>
              <a:t> User's free-form question, plus the full </a:t>
            </a:r>
            <a:r>
              <a:rPr b="1" lang="en" sz="900">
                <a:solidFill>
                  <a:schemeClr val="dk1"/>
                </a:solidFill>
              </a:rPr>
              <a:t>Extract call JSON output</a:t>
            </a:r>
            <a:r>
              <a:rPr lang="en" sz="900">
                <a:solidFill>
                  <a:schemeClr val="dk1"/>
                </a:solidFill>
              </a:rPr>
              <a:t> passed as meeting context.</a:t>
            </a:r>
            <a:endParaRPr sz="900"/>
          </a:p>
        </p:txBody>
      </p:sp>
      <p:sp>
        <p:nvSpPr>
          <p:cNvPr id="304" name="Google Shape;304;p21"/>
          <p:cNvSpPr txBox="1"/>
          <p:nvPr/>
        </p:nvSpPr>
        <p:spPr>
          <a:xfrm>
            <a:off x="2854000" y="3677175"/>
            <a:ext cx="5680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900">
                <a:solidFill>
                  <a:schemeClr val="dk1"/>
                </a:solidFill>
              </a:rPr>
              <a:t>Extract:</a:t>
            </a:r>
            <a:r>
              <a:rPr lang="en" sz="900">
                <a:solidFill>
                  <a:schemeClr val="dk1"/>
                </a:solidFill>
              </a:rPr>
              <a:t> Low temperature, structured output, sufficient token limit for the full transcript and extracted fields.</a:t>
            </a:r>
            <a:endParaRPr sz="900">
              <a:solidFill>
                <a:schemeClr val="dk1"/>
              </a:solidFill>
            </a:endParaRPr>
          </a:p>
          <a:p>
            <a:pPr indent="0" lvl="0" marL="0" rtl="0" algn="l">
              <a:spcBef>
                <a:spcPts val="0"/>
              </a:spcBef>
              <a:spcAft>
                <a:spcPts val="0"/>
              </a:spcAft>
              <a:buClr>
                <a:schemeClr val="dk1"/>
              </a:buClr>
              <a:buSzPts val="1100"/>
              <a:buFont typeface="Arial"/>
              <a:buNone/>
            </a:pPr>
            <a:r>
              <a:rPr b="1" lang="en" sz="900">
                <a:solidFill>
                  <a:schemeClr val="dk1"/>
                </a:solidFill>
              </a:rPr>
              <a:t>Ask AI:</a:t>
            </a:r>
            <a:r>
              <a:rPr lang="en" sz="900">
                <a:solidFill>
                  <a:schemeClr val="dk1"/>
                </a:solidFill>
              </a:rPr>
              <a:t> Low temperature, sufficient token limit for transcript-grounded responses.</a:t>
            </a:r>
            <a:endParaRPr sz="900">
              <a:solidFill>
                <a:schemeClr val="dk1"/>
              </a:solidFill>
            </a:endParaRPr>
          </a:p>
          <a:p>
            <a:pPr indent="0" lvl="0" marL="0" rtl="0" algn="l">
              <a:spcBef>
                <a:spcPts val="0"/>
              </a:spcBef>
              <a:spcAft>
                <a:spcPts val="0"/>
              </a:spcAft>
              <a:buNone/>
            </a:pPr>
            <a:r>
              <a:rPr b="1" lang="en" sz="900">
                <a:solidFill>
                  <a:schemeClr val="dk1"/>
                </a:solidFill>
              </a:rPr>
              <a:t>Reasoning:</a:t>
            </a:r>
            <a:r>
              <a:rPr lang="en" sz="900">
                <a:solidFill>
                  <a:schemeClr val="dk1"/>
                </a:solidFill>
              </a:rPr>
              <a:t> Not required for either call unless explicitly configured. </a:t>
            </a:r>
            <a:endParaRPr sz="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C"/>
        </a:solidFill>
      </p:bgPr>
    </p:bg>
    <p:spTree>
      <p:nvGrpSpPr>
        <p:cNvPr id="309" name="Shape 309"/>
        <p:cNvGrpSpPr/>
        <p:nvPr/>
      </p:nvGrpSpPr>
      <p:grpSpPr>
        <a:xfrm>
          <a:off x="0" y="0"/>
          <a:ext cx="0" cy="0"/>
          <a:chOff x="0" y="0"/>
          <a:chExt cx="0" cy="0"/>
        </a:xfrm>
      </p:grpSpPr>
      <p:sp>
        <p:nvSpPr>
          <p:cNvPr id="310" name="Google Shape;310;p22"/>
          <p:cNvSpPr/>
          <p:nvPr/>
        </p:nvSpPr>
        <p:spPr>
          <a:xfrm>
            <a:off x="457200" y="528638"/>
            <a:ext cx="9052560" cy="320218"/>
          </a:xfrm>
          <a:prstGeom prst="rect">
            <a:avLst/>
          </a:prstGeom>
          <a:noFill/>
          <a:ln>
            <a:noFill/>
          </a:ln>
        </p:spPr>
        <p:txBody>
          <a:bodyPr anchorCtr="0" anchor="t" bIns="12700" lIns="12700" spcFirstLastPara="1" rIns="12700" wrap="square" tIns="12700">
            <a:noAutofit/>
          </a:bodyPr>
          <a:lstStyle/>
          <a:p>
            <a:pPr indent="0" lvl="0" marL="0" marR="0" rtl="0" algn="l">
              <a:lnSpc>
                <a:spcPct val="84096"/>
              </a:lnSpc>
              <a:spcBef>
                <a:spcPts val="0"/>
              </a:spcBef>
              <a:spcAft>
                <a:spcPts val="0"/>
              </a:spcAft>
              <a:buClr>
                <a:srgbClr val="1F2937"/>
              </a:buClr>
              <a:buSzPts val="2300"/>
              <a:buFont typeface="Inter"/>
              <a:buNone/>
            </a:pPr>
            <a:r>
              <a:rPr b="1" i="0" lang="en" sz="2300" u="none" cap="none" strike="noStrike">
                <a:solidFill>
                  <a:srgbClr val="1F2937"/>
                </a:solidFill>
                <a:latin typeface="Inter"/>
                <a:ea typeface="Inter"/>
                <a:cs typeface="Inter"/>
                <a:sym typeface="Inter"/>
              </a:rPr>
              <a:t>The one-shot prompt</a:t>
            </a:r>
            <a:endParaRPr b="0" i="0" sz="2300" u="none" cap="none" strike="noStrike">
              <a:solidFill>
                <a:schemeClr val="dk1"/>
              </a:solidFill>
              <a:latin typeface="Calibri"/>
              <a:ea typeface="Calibri"/>
              <a:cs typeface="Calibri"/>
              <a:sym typeface="Calibri"/>
            </a:endParaRPr>
          </a:p>
        </p:txBody>
      </p:sp>
      <p:sp>
        <p:nvSpPr>
          <p:cNvPr id="311" name="Google Shape;311;p22"/>
          <p:cNvSpPr/>
          <p:nvPr/>
        </p:nvSpPr>
        <p:spPr>
          <a:xfrm>
            <a:off x="457200" y="906006"/>
            <a:ext cx="7019925" cy="191691"/>
          </a:xfrm>
          <a:prstGeom prst="rect">
            <a:avLst/>
          </a:prstGeom>
          <a:noFill/>
          <a:ln>
            <a:noFill/>
          </a:ln>
        </p:spPr>
        <p:txBody>
          <a:bodyPr anchorCtr="0" anchor="t" bIns="12700" lIns="12700" spcFirstLastPara="1" rIns="12700" wrap="square" tIns="12700">
            <a:noAutofit/>
          </a:bodyPr>
          <a:lstStyle/>
          <a:p>
            <a:pPr indent="0" lvl="0" marL="0" rtl="0" algn="l">
              <a:lnSpc>
                <a:spcPct val="119243"/>
              </a:lnSpc>
              <a:spcBef>
                <a:spcPts val="0"/>
              </a:spcBef>
              <a:spcAft>
                <a:spcPts val="0"/>
              </a:spcAft>
              <a:buClr>
                <a:srgbClr val="4B5563"/>
              </a:buClr>
              <a:buSzPts val="900"/>
              <a:buFont typeface="Inter"/>
              <a:buNone/>
            </a:pPr>
            <a:r>
              <a:rPr lang="en" sz="900">
                <a:solidFill>
                  <a:srgbClr val="4B5563"/>
                </a:solidFill>
                <a:latin typeface="Inter"/>
                <a:ea typeface="Inter"/>
                <a:cs typeface="Inter"/>
                <a:sym typeface="Inter"/>
              </a:rPr>
              <a:t>The full one-shot prompt — SCOPE format, pasted verbatim into Lovable.</a:t>
            </a:r>
            <a:endParaRPr sz="900">
              <a:solidFill>
                <a:schemeClr val="dk1"/>
              </a:solidFill>
              <a:latin typeface="Calibri"/>
              <a:ea typeface="Calibri"/>
              <a:cs typeface="Calibri"/>
              <a:sym typeface="Calibri"/>
            </a:endParaRPr>
          </a:p>
          <a:p>
            <a:pPr indent="0" lvl="0" marL="0" marR="0" rtl="0" algn="l">
              <a:lnSpc>
                <a:spcPct val="119243"/>
              </a:lnSpc>
              <a:spcBef>
                <a:spcPts val="0"/>
              </a:spcBef>
              <a:spcAft>
                <a:spcPts val="0"/>
              </a:spcAft>
              <a:buClr>
                <a:srgbClr val="4B5563"/>
              </a:buClr>
              <a:buSzPts val="900"/>
              <a:buFont typeface="Inter"/>
              <a:buNone/>
            </a:pPr>
            <a:r>
              <a:t/>
            </a:r>
            <a:endParaRPr sz="900">
              <a:solidFill>
                <a:srgbClr val="4B5563"/>
              </a:solidFill>
              <a:latin typeface="Inter"/>
              <a:ea typeface="Inter"/>
              <a:cs typeface="Inter"/>
              <a:sym typeface="Inter"/>
            </a:endParaRPr>
          </a:p>
        </p:txBody>
      </p:sp>
      <p:sp>
        <p:nvSpPr>
          <p:cNvPr id="312" name="Google Shape;312;p22"/>
          <p:cNvSpPr/>
          <p:nvPr/>
        </p:nvSpPr>
        <p:spPr>
          <a:xfrm>
            <a:off x="457200" y="1211996"/>
            <a:ext cx="8229600" cy="2389644"/>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13" name="Google Shape;313;p22"/>
          <p:cNvSpPr/>
          <p:nvPr/>
        </p:nvSpPr>
        <p:spPr>
          <a:xfrm>
            <a:off x="564600" y="1250925"/>
            <a:ext cx="8014800" cy="2311800"/>
          </a:xfrm>
          <a:prstGeom prst="rect">
            <a:avLst/>
          </a:prstGeom>
          <a:noFill/>
          <a:ln>
            <a:noFill/>
          </a:ln>
        </p:spPr>
        <p:txBody>
          <a:bodyPr anchorCtr="0" anchor="t" bIns="12700" lIns="12700" spcFirstLastPara="1" rIns="12700" wrap="square" tIns="12700">
            <a:noAutofit/>
          </a:bodyPr>
          <a:lstStyle/>
          <a:p>
            <a:pPr indent="0" lvl="0" marL="0" rtl="0" algn="l">
              <a:lnSpc>
                <a:spcPct val="115000"/>
              </a:lnSpc>
              <a:spcBef>
                <a:spcPts val="1200"/>
              </a:spcBef>
              <a:spcAft>
                <a:spcPts val="0"/>
              </a:spcAft>
              <a:buClr>
                <a:schemeClr val="dk1"/>
              </a:buClr>
              <a:buSzPts val="1100"/>
              <a:buFont typeface="Arial"/>
              <a:buNone/>
            </a:pPr>
            <a:r>
              <a:rPr lang="en" sz="800">
                <a:solidFill>
                  <a:schemeClr val="dk1"/>
                </a:solidFill>
              </a:rPr>
              <a:t>S: Build a meeting accountability app called MeetIQ for a professional who wants to turn raw meeting transcripts into structured decisions, action items, and commitments. The primary action is pasting a transcript and clicking Analyze Meeting. </a:t>
            </a:r>
            <a:br>
              <a:rPr lang="en" sz="800">
                <a:solidFill>
                  <a:schemeClr val="dk1"/>
                </a:solidFill>
              </a:rPr>
            </a:br>
            <a:r>
              <a:rPr lang="en" sz="800">
                <a:solidFill>
                  <a:schemeClr val="dk1"/>
                </a:solidFill>
              </a:rPr>
              <a:t>C: Include a top navigation bar with the product name MeetIQ and a User / Admin toggle. Include a workspace section with a greeting heading, a subtext line, and an Upload transcript button top right. Include a hero card with a badge labelled "Meeting intelligence, with accountability", a bold headline, two lines of supporting text, and a second Upload transcript button. Include a This Session panel below the hero card showing an empty state with a clock icon and the message "No meetings yet" with a privacy note. Include an Upload modal with a Meeting Title field, an Upload File / Paste Transcript tab toggle, a Load demo transcript link, a transcript textarea, and an Analyze Meeting button. Include a meeting detail page with a header showing meeting title, date, duration, participant count, and a status badge. Include four tabs: Overview, Key Moments, Accountability, Ask AI. Show skeleton loaders on all four tabs while analysis is running.</a:t>
            </a:r>
            <a:br>
              <a:rPr lang="en" sz="800">
                <a:solidFill>
                  <a:schemeClr val="dk1"/>
                </a:solidFill>
              </a:rPr>
            </a:br>
            <a:r>
              <a:rPr lang="en" sz="800">
                <a:solidFill>
                  <a:schemeClr val="dk1"/>
                </a:solidFill>
              </a:rPr>
              <a:t>O: When the user clicks Upload transcript, open the modal. When the user clicks Analyze Meeting, close the modal, navigate to the meeting detail page, show skeleton loaders across all tabs, and trigger the LLM call. On success, populate all four tabs with the returned JSON. Share button triggers a PDF download and opens a mailto link with a pre-written email. Download button generates and downloads a PDF. Both buttons are disabled while analysis is running.</a:t>
            </a:r>
            <a:br>
              <a:rPr lang="en" sz="800">
                <a:solidFill>
                  <a:schemeClr val="dk1"/>
                </a:solidFill>
              </a:rPr>
            </a:br>
            <a:r>
              <a:rPr lang="en" sz="800">
                <a:solidFill>
                  <a:schemeClr val="dk1"/>
                </a:solidFill>
              </a:rPr>
              <a:t>P: Clean, minimal SaaS style similar to Linear and Notion. White background, light grey surface cards, blue primary action color (</a:t>
            </a:r>
            <a:r>
              <a:rPr lang="en" sz="800">
                <a:solidFill>
                  <a:srgbClr val="188038"/>
                </a:solidFill>
                <a:latin typeface="Roboto Mono"/>
                <a:ea typeface="Roboto Mono"/>
                <a:cs typeface="Roboto Mono"/>
                <a:sym typeface="Roboto Mono"/>
              </a:rPr>
              <a:t>#2563EB</a:t>
            </a:r>
            <a:r>
              <a:rPr lang="en" sz="800">
                <a:solidFill>
                  <a:schemeClr val="dk1"/>
                </a:solidFill>
              </a:rPr>
              <a:t>), green for confirmed items, yellow for orphaned, grey for passing. Inter or system sans-serif font. Desktop viewport first.</a:t>
            </a:r>
            <a:br>
              <a:rPr lang="en" sz="800">
                <a:solidFill>
                  <a:schemeClr val="dk1"/>
                </a:solidFill>
              </a:rPr>
            </a:br>
            <a:r>
              <a:rPr lang="en" sz="800">
                <a:solidFill>
                  <a:schemeClr val="dk1"/>
                </a:solidFill>
              </a:rPr>
              <a:t>E: Do not add login or signup. Do not add a database or any backend persistence. Do not store any transcript data. Do not add any navigation beyond the User / Admin toggle. Do not build the Admin panel yet.</a:t>
            </a:r>
            <a:endParaRPr sz="800">
              <a:solidFill>
                <a:schemeClr val="dk1"/>
              </a:solidFill>
            </a:endParaRPr>
          </a:p>
          <a:p>
            <a:pPr indent="0" lvl="0" marL="0" rtl="0" algn="l">
              <a:spcBef>
                <a:spcPts val="1200"/>
              </a:spcBef>
              <a:spcAft>
                <a:spcPts val="0"/>
              </a:spcAft>
              <a:buClr>
                <a:schemeClr val="dk1"/>
              </a:buClr>
              <a:buSzPts val="1100"/>
              <a:buFont typeface="Arial"/>
              <a:buNone/>
            </a:pPr>
            <a:r>
              <a:t/>
            </a:r>
            <a:endParaRPr sz="800">
              <a:solidFill>
                <a:schemeClr val="dk1"/>
              </a:solidFill>
            </a:endParaRPr>
          </a:p>
        </p:txBody>
      </p:sp>
      <p:sp>
        <p:nvSpPr>
          <p:cNvPr id="314" name="Google Shape;314;p22"/>
          <p:cNvSpPr/>
          <p:nvPr/>
        </p:nvSpPr>
        <p:spPr>
          <a:xfrm>
            <a:off x="457200" y="3715941"/>
            <a:ext cx="9052560" cy="1333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lang="en" sz="900">
                <a:solidFill>
                  <a:srgbClr val="5B21B6"/>
                </a:solidFill>
                <a:latin typeface="JetBrains Mono"/>
                <a:ea typeface="JetBrains Mono"/>
                <a:cs typeface="JetBrains Mono"/>
                <a:sym typeface="JetBrains Mono"/>
              </a:rPr>
              <a:t>EVERY SECTION OF THE SCOPE PROMPT FILLED</a:t>
            </a:r>
            <a:endParaRPr b="0" i="0" sz="900" u="none" cap="none" strike="noStrike">
              <a:solidFill>
                <a:schemeClr val="dk1"/>
              </a:solidFill>
              <a:latin typeface="Calibri"/>
              <a:ea typeface="Calibri"/>
              <a:cs typeface="Calibri"/>
              <a:sym typeface="Calibri"/>
            </a:endParaRPr>
          </a:p>
        </p:txBody>
      </p:sp>
      <p:sp>
        <p:nvSpPr>
          <p:cNvPr id="315" name="Google Shape;315;p22"/>
          <p:cNvSpPr/>
          <p:nvPr/>
        </p:nvSpPr>
        <p:spPr>
          <a:xfrm>
            <a:off x="457200" y="3906441"/>
            <a:ext cx="1584960" cy="488632"/>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16" name="Google Shape;316;p22"/>
          <p:cNvSpPr/>
          <p:nvPr/>
        </p:nvSpPr>
        <p:spPr>
          <a:xfrm>
            <a:off x="556260" y="4081224"/>
            <a:ext cx="139065" cy="139065"/>
          </a:xfrm>
          <a:prstGeom prst="rect">
            <a:avLst/>
          </a:prstGeom>
          <a:noFill/>
          <a:ln cap="flat" cmpd="sng" w="15225">
            <a:solidFill>
              <a:srgbClr val="7C3AED"/>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17" name="Google Shape;317;p22"/>
          <p:cNvSpPr/>
          <p:nvPr/>
        </p:nvSpPr>
        <p:spPr>
          <a:xfrm>
            <a:off x="771525" y="4069795"/>
            <a:ext cx="144184" cy="180975"/>
          </a:xfrm>
          <a:prstGeom prst="rect">
            <a:avLst/>
          </a:prstGeom>
          <a:noFill/>
          <a:ln>
            <a:noFill/>
          </a:ln>
        </p:spPr>
        <p:txBody>
          <a:bodyPr anchorCtr="0" anchor="t" bIns="12700" lIns="12700" spcFirstLastPara="1" rIns="12700" wrap="square" tIns="12700">
            <a:noAutofit/>
          </a:bodyPr>
          <a:lstStyle/>
          <a:p>
            <a:pPr indent="0" lvl="0" marL="0" marR="0" rtl="0" algn="l">
              <a:lnSpc>
                <a:spcPct val="83333"/>
              </a:lnSpc>
              <a:spcBef>
                <a:spcPts val="0"/>
              </a:spcBef>
              <a:spcAft>
                <a:spcPts val="0"/>
              </a:spcAft>
              <a:buClr>
                <a:srgbClr val="7C3AED"/>
              </a:buClr>
              <a:buSzPts val="1300"/>
              <a:buFont typeface="Inter"/>
              <a:buNone/>
            </a:pPr>
            <a:r>
              <a:rPr b="1" i="0" lang="en" sz="1300" u="none" cap="none" strike="noStrike">
                <a:solidFill>
                  <a:srgbClr val="7C3AED"/>
                </a:solidFill>
                <a:latin typeface="Inter"/>
                <a:ea typeface="Inter"/>
                <a:cs typeface="Inter"/>
                <a:sym typeface="Inter"/>
              </a:rPr>
              <a:t>S</a:t>
            </a:r>
            <a:endParaRPr b="0" i="0" sz="1300" u="none" cap="none" strike="noStrike">
              <a:solidFill>
                <a:schemeClr val="dk1"/>
              </a:solidFill>
              <a:latin typeface="Calibri"/>
              <a:ea typeface="Calibri"/>
              <a:cs typeface="Calibri"/>
              <a:sym typeface="Calibri"/>
            </a:endParaRPr>
          </a:p>
        </p:txBody>
      </p:sp>
      <p:sp>
        <p:nvSpPr>
          <p:cNvPr id="318" name="Google Shape;318;p22"/>
          <p:cNvSpPr/>
          <p:nvPr/>
        </p:nvSpPr>
        <p:spPr>
          <a:xfrm>
            <a:off x="953810" y="3995976"/>
            <a:ext cx="1027391" cy="328613"/>
          </a:xfrm>
          <a:prstGeom prst="rect">
            <a:avLst/>
          </a:prstGeom>
          <a:noFill/>
          <a:ln>
            <a:noFill/>
          </a:ln>
        </p:spPr>
        <p:txBody>
          <a:bodyPr anchorCtr="0" anchor="t" bIns="12700" lIns="12700" spcFirstLastPara="1" rIns="12700" wrap="square" tIns="12700">
            <a:noAutofit/>
          </a:bodyPr>
          <a:lstStyle/>
          <a:p>
            <a:pPr indent="0" lvl="0" marL="0" marR="0" rtl="0" algn="l">
              <a:lnSpc>
                <a:spcPct val="104167"/>
              </a:lnSpc>
              <a:spcBef>
                <a:spcPts val="0"/>
              </a:spcBef>
              <a:spcAft>
                <a:spcPts val="0"/>
              </a:spcAft>
              <a:buClr>
                <a:srgbClr val="4B5563"/>
              </a:buClr>
              <a:buSzPts val="1000"/>
              <a:buFont typeface="Inter"/>
              <a:buNone/>
            </a:pPr>
            <a:r>
              <a:rPr b="0" i="0" lang="en" sz="1000" u="none" cap="none" strike="noStrike">
                <a:solidFill>
                  <a:srgbClr val="4B5563"/>
                </a:solidFill>
                <a:latin typeface="Inter"/>
                <a:ea typeface="Inter"/>
                <a:cs typeface="Inter"/>
                <a:sym typeface="Inter"/>
              </a:rPr>
              <a:t>Screen and purpose</a:t>
            </a:r>
            <a:endParaRPr b="0" i="0" sz="1000" u="none" cap="none" strike="noStrike">
              <a:solidFill>
                <a:schemeClr val="dk1"/>
              </a:solidFill>
              <a:latin typeface="Calibri"/>
              <a:ea typeface="Calibri"/>
              <a:cs typeface="Calibri"/>
              <a:sym typeface="Calibri"/>
            </a:endParaRPr>
          </a:p>
        </p:txBody>
      </p:sp>
      <p:sp>
        <p:nvSpPr>
          <p:cNvPr id="319" name="Google Shape;319;p22"/>
          <p:cNvSpPr/>
          <p:nvPr/>
        </p:nvSpPr>
        <p:spPr>
          <a:xfrm>
            <a:off x="2118360" y="3906441"/>
            <a:ext cx="1584960" cy="488632"/>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20" name="Google Shape;320;p22"/>
          <p:cNvSpPr/>
          <p:nvPr/>
        </p:nvSpPr>
        <p:spPr>
          <a:xfrm>
            <a:off x="2217420" y="4081224"/>
            <a:ext cx="139065" cy="139065"/>
          </a:xfrm>
          <a:prstGeom prst="rect">
            <a:avLst/>
          </a:prstGeom>
          <a:noFill/>
          <a:ln cap="flat" cmpd="sng" w="15225">
            <a:solidFill>
              <a:srgbClr val="7C3AED"/>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21" name="Google Shape;321;p22"/>
          <p:cNvSpPr/>
          <p:nvPr/>
        </p:nvSpPr>
        <p:spPr>
          <a:xfrm>
            <a:off x="2432685" y="4069795"/>
            <a:ext cx="157937" cy="180975"/>
          </a:xfrm>
          <a:prstGeom prst="rect">
            <a:avLst/>
          </a:prstGeom>
          <a:noFill/>
          <a:ln>
            <a:noFill/>
          </a:ln>
        </p:spPr>
        <p:txBody>
          <a:bodyPr anchorCtr="0" anchor="t" bIns="12700" lIns="12700" spcFirstLastPara="1" rIns="12700" wrap="square" tIns="12700">
            <a:noAutofit/>
          </a:bodyPr>
          <a:lstStyle/>
          <a:p>
            <a:pPr indent="0" lvl="0" marL="0" marR="0" rtl="0" algn="l">
              <a:lnSpc>
                <a:spcPct val="83333"/>
              </a:lnSpc>
              <a:spcBef>
                <a:spcPts val="0"/>
              </a:spcBef>
              <a:spcAft>
                <a:spcPts val="0"/>
              </a:spcAft>
              <a:buClr>
                <a:srgbClr val="7C3AED"/>
              </a:buClr>
              <a:buSzPts val="1300"/>
              <a:buFont typeface="Inter"/>
              <a:buNone/>
            </a:pPr>
            <a:r>
              <a:rPr b="1" i="0" lang="en" sz="1300" u="none" cap="none" strike="noStrike">
                <a:solidFill>
                  <a:srgbClr val="7C3AED"/>
                </a:solidFill>
                <a:latin typeface="Inter"/>
                <a:ea typeface="Inter"/>
                <a:cs typeface="Inter"/>
                <a:sym typeface="Inter"/>
              </a:rPr>
              <a:t>C</a:t>
            </a:r>
            <a:endParaRPr b="0" i="0" sz="1300" u="none" cap="none" strike="noStrike">
              <a:solidFill>
                <a:schemeClr val="dk1"/>
              </a:solidFill>
              <a:latin typeface="Calibri"/>
              <a:ea typeface="Calibri"/>
              <a:cs typeface="Calibri"/>
              <a:sym typeface="Calibri"/>
            </a:endParaRPr>
          </a:p>
        </p:txBody>
      </p:sp>
      <p:sp>
        <p:nvSpPr>
          <p:cNvPr id="322" name="Google Shape;322;p22"/>
          <p:cNvSpPr/>
          <p:nvPr/>
        </p:nvSpPr>
        <p:spPr>
          <a:xfrm>
            <a:off x="2628721" y="4073366"/>
            <a:ext cx="821043" cy="173832"/>
          </a:xfrm>
          <a:prstGeom prst="rect">
            <a:avLst/>
          </a:prstGeom>
          <a:noFill/>
          <a:ln>
            <a:noFill/>
          </a:ln>
        </p:spPr>
        <p:txBody>
          <a:bodyPr anchorCtr="0" anchor="t" bIns="12700" lIns="12700" spcFirstLastPara="1" rIns="12700" wrap="square" tIns="12700">
            <a:noAutofit/>
          </a:bodyPr>
          <a:lstStyle/>
          <a:p>
            <a:pPr indent="0" lvl="0" marL="0" marR="0" rtl="0" algn="l">
              <a:lnSpc>
                <a:spcPct val="104167"/>
              </a:lnSpc>
              <a:spcBef>
                <a:spcPts val="0"/>
              </a:spcBef>
              <a:spcAft>
                <a:spcPts val="0"/>
              </a:spcAft>
              <a:buClr>
                <a:srgbClr val="4B5563"/>
              </a:buClr>
              <a:buSzPts val="1000"/>
              <a:buFont typeface="Inter"/>
              <a:buNone/>
            </a:pPr>
            <a:r>
              <a:rPr b="0" i="0" lang="en" sz="1000" u="none" cap="none" strike="noStrike">
                <a:solidFill>
                  <a:srgbClr val="4B5563"/>
                </a:solidFill>
                <a:latin typeface="Inter"/>
                <a:ea typeface="Inter"/>
                <a:cs typeface="Inter"/>
                <a:sym typeface="Inter"/>
              </a:rPr>
              <a:t>Components</a:t>
            </a:r>
            <a:endParaRPr b="0" i="0" sz="1000" u="none" cap="none" strike="noStrike">
              <a:solidFill>
                <a:schemeClr val="dk1"/>
              </a:solidFill>
              <a:latin typeface="Calibri"/>
              <a:ea typeface="Calibri"/>
              <a:cs typeface="Calibri"/>
              <a:sym typeface="Calibri"/>
            </a:endParaRPr>
          </a:p>
        </p:txBody>
      </p:sp>
      <p:sp>
        <p:nvSpPr>
          <p:cNvPr id="323" name="Google Shape;323;p22"/>
          <p:cNvSpPr/>
          <p:nvPr/>
        </p:nvSpPr>
        <p:spPr>
          <a:xfrm>
            <a:off x="3779520" y="3906441"/>
            <a:ext cx="1584960" cy="488632"/>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24" name="Google Shape;324;p22"/>
          <p:cNvSpPr/>
          <p:nvPr/>
        </p:nvSpPr>
        <p:spPr>
          <a:xfrm>
            <a:off x="3878580" y="4081224"/>
            <a:ext cx="139065" cy="139065"/>
          </a:xfrm>
          <a:prstGeom prst="rect">
            <a:avLst/>
          </a:prstGeom>
          <a:noFill/>
          <a:ln cap="flat" cmpd="sng" w="15225">
            <a:solidFill>
              <a:srgbClr val="7C3AED"/>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25" name="Google Shape;325;p22"/>
          <p:cNvSpPr/>
          <p:nvPr/>
        </p:nvSpPr>
        <p:spPr>
          <a:xfrm>
            <a:off x="4093845" y="4069795"/>
            <a:ext cx="162878" cy="180975"/>
          </a:xfrm>
          <a:prstGeom prst="rect">
            <a:avLst/>
          </a:prstGeom>
          <a:noFill/>
          <a:ln>
            <a:noFill/>
          </a:ln>
        </p:spPr>
        <p:txBody>
          <a:bodyPr anchorCtr="0" anchor="t" bIns="12700" lIns="12700" spcFirstLastPara="1" rIns="12700" wrap="square" tIns="12700">
            <a:noAutofit/>
          </a:bodyPr>
          <a:lstStyle/>
          <a:p>
            <a:pPr indent="0" lvl="0" marL="0" marR="0" rtl="0" algn="l">
              <a:lnSpc>
                <a:spcPct val="83333"/>
              </a:lnSpc>
              <a:spcBef>
                <a:spcPts val="0"/>
              </a:spcBef>
              <a:spcAft>
                <a:spcPts val="0"/>
              </a:spcAft>
              <a:buClr>
                <a:srgbClr val="7C3AED"/>
              </a:buClr>
              <a:buSzPts val="1300"/>
              <a:buFont typeface="Inter"/>
              <a:buNone/>
            </a:pPr>
            <a:r>
              <a:rPr b="1" i="0" lang="en" sz="1300" u="none" cap="none" strike="noStrike">
                <a:solidFill>
                  <a:srgbClr val="7C3AED"/>
                </a:solidFill>
                <a:latin typeface="Inter"/>
                <a:ea typeface="Inter"/>
                <a:cs typeface="Inter"/>
                <a:sym typeface="Inter"/>
              </a:rPr>
              <a:t>O</a:t>
            </a:r>
            <a:endParaRPr b="0" i="0" sz="1300" u="none" cap="none" strike="noStrike">
              <a:solidFill>
                <a:schemeClr val="dk1"/>
              </a:solidFill>
              <a:latin typeface="Calibri"/>
              <a:ea typeface="Calibri"/>
              <a:cs typeface="Calibri"/>
              <a:sym typeface="Calibri"/>
            </a:endParaRPr>
          </a:p>
        </p:txBody>
      </p:sp>
      <p:sp>
        <p:nvSpPr>
          <p:cNvPr id="326" name="Google Shape;326;p22"/>
          <p:cNvSpPr/>
          <p:nvPr/>
        </p:nvSpPr>
        <p:spPr>
          <a:xfrm>
            <a:off x="4294823" y="3995976"/>
            <a:ext cx="1008697" cy="328613"/>
          </a:xfrm>
          <a:prstGeom prst="rect">
            <a:avLst/>
          </a:prstGeom>
          <a:noFill/>
          <a:ln>
            <a:noFill/>
          </a:ln>
        </p:spPr>
        <p:txBody>
          <a:bodyPr anchorCtr="0" anchor="t" bIns="12700" lIns="12700" spcFirstLastPara="1" rIns="12700" wrap="square" tIns="12700">
            <a:noAutofit/>
          </a:bodyPr>
          <a:lstStyle/>
          <a:p>
            <a:pPr indent="0" lvl="0" marL="0" marR="0" rtl="0" algn="l">
              <a:lnSpc>
                <a:spcPct val="104167"/>
              </a:lnSpc>
              <a:spcBef>
                <a:spcPts val="0"/>
              </a:spcBef>
              <a:spcAft>
                <a:spcPts val="0"/>
              </a:spcAft>
              <a:buClr>
                <a:srgbClr val="4B5563"/>
              </a:buClr>
              <a:buSzPts val="1000"/>
              <a:buFont typeface="Inter"/>
              <a:buNone/>
            </a:pPr>
            <a:r>
              <a:rPr b="0" i="0" lang="en" sz="1000" u="none" cap="none" strike="noStrike">
                <a:solidFill>
                  <a:srgbClr val="4B5563"/>
                </a:solidFill>
                <a:latin typeface="Inter"/>
                <a:ea typeface="Inter"/>
                <a:cs typeface="Inter"/>
                <a:sym typeface="Inter"/>
              </a:rPr>
              <a:t>Output and behaviour</a:t>
            </a:r>
            <a:endParaRPr b="0" i="0" sz="1000" u="none" cap="none" strike="noStrike">
              <a:solidFill>
                <a:schemeClr val="dk1"/>
              </a:solidFill>
              <a:latin typeface="Calibri"/>
              <a:ea typeface="Calibri"/>
              <a:cs typeface="Calibri"/>
              <a:sym typeface="Calibri"/>
            </a:endParaRPr>
          </a:p>
        </p:txBody>
      </p:sp>
      <p:sp>
        <p:nvSpPr>
          <p:cNvPr id="327" name="Google Shape;327;p22"/>
          <p:cNvSpPr/>
          <p:nvPr/>
        </p:nvSpPr>
        <p:spPr>
          <a:xfrm>
            <a:off x="5440680" y="3906441"/>
            <a:ext cx="1584960" cy="488632"/>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28" name="Google Shape;328;p22"/>
          <p:cNvSpPr/>
          <p:nvPr/>
        </p:nvSpPr>
        <p:spPr>
          <a:xfrm>
            <a:off x="5539741" y="4081224"/>
            <a:ext cx="139065" cy="139065"/>
          </a:xfrm>
          <a:prstGeom prst="rect">
            <a:avLst/>
          </a:prstGeom>
          <a:noFill/>
          <a:ln cap="flat" cmpd="sng" w="15225">
            <a:solidFill>
              <a:srgbClr val="7C3AED"/>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29" name="Google Shape;329;p22"/>
          <p:cNvSpPr/>
          <p:nvPr/>
        </p:nvSpPr>
        <p:spPr>
          <a:xfrm>
            <a:off x="5755005" y="4069795"/>
            <a:ext cx="143054" cy="180975"/>
          </a:xfrm>
          <a:prstGeom prst="rect">
            <a:avLst/>
          </a:prstGeom>
          <a:noFill/>
          <a:ln>
            <a:noFill/>
          </a:ln>
        </p:spPr>
        <p:txBody>
          <a:bodyPr anchorCtr="0" anchor="t" bIns="12700" lIns="12700" spcFirstLastPara="1" rIns="12700" wrap="square" tIns="12700">
            <a:noAutofit/>
          </a:bodyPr>
          <a:lstStyle/>
          <a:p>
            <a:pPr indent="0" lvl="0" marL="0" marR="0" rtl="0" algn="l">
              <a:lnSpc>
                <a:spcPct val="83333"/>
              </a:lnSpc>
              <a:spcBef>
                <a:spcPts val="0"/>
              </a:spcBef>
              <a:spcAft>
                <a:spcPts val="0"/>
              </a:spcAft>
              <a:buClr>
                <a:srgbClr val="7C3AED"/>
              </a:buClr>
              <a:buSzPts val="1300"/>
              <a:buFont typeface="Inter"/>
              <a:buNone/>
            </a:pPr>
            <a:r>
              <a:rPr b="1" i="0" lang="en" sz="1300" u="none" cap="none" strike="noStrike">
                <a:solidFill>
                  <a:srgbClr val="7C3AED"/>
                </a:solidFill>
                <a:latin typeface="Inter"/>
                <a:ea typeface="Inter"/>
                <a:cs typeface="Inter"/>
                <a:sym typeface="Inter"/>
              </a:rPr>
              <a:t>P</a:t>
            </a:r>
            <a:endParaRPr b="0" i="0" sz="1300" u="none" cap="none" strike="noStrike">
              <a:solidFill>
                <a:schemeClr val="dk1"/>
              </a:solidFill>
              <a:latin typeface="Calibri"/>
              <a:ea typeface="Calibri"/>
              <a:cs typeface="Calibri"/>
              <a:sym typeface="Calibri"/>
            </a:endParaRPr>
          </a:p>
        </p:txBody>
      </p:sp>
      <p:sp>
        <p:nvSpPr>
          <p:cNvPr id="330" name="Google Shape;330;p22"/>
          <p:cNvSpPr/>
          <p:nvPr/>
        </p:nvSpPr>
        <p:spPr>
          <a:xfrm>
            <a:off x="5936158" y="3995976"/>
            <a:ext cx="1028522" cy="328613"/>
          </a:xfrm>
          <a:prstGeom prst="rect">
            <a:avLst/>
          </a:prstGeom>
          <a:noFill/>
          <a:ln>
            <a:noFill/>
          </a:ln>
        </p:spPr>
        <p:txBody>
          <a:bodyPr anchorCtr="0" anchor="t" bIns="12700" lIns="12700" spcFirstLastPara="1" rIns="12700" wrap="square" tIns="12700">
            <a:noAutofit/>
          </a:bodyPr>
          <a:lstStyle/>
          <a:p>
            <a:pPr indent="0" lvl="0" marL="0" marR="0" rtl="0" algn="l">
              <a:lnSpc>
                <a:spcPct val="104167"/>
              </a:lnSpc>
              <a:spcBef>
                <a:spcPts val="0"/>
              </a:spcBef>
              <a:spcAft>
                <a:spcPts val="0"/>
              </a:spcAft>
              <a:buClr>
                <a:srgbClr val="4B5563"/>
              </a:buClr>
              <a:buSzPts val="1000"/>
              <a:buFont typeface="Inter"/>
              <a:buNone/>
            </a:pPr>
            <a:r>
              <a:rPr b="0" i="0" lang="en" sz="1000" u="none" cap="none" strike="noStrike">
                <a:solidFill>
                  <a:srgbClr val="4B5563"/>
                </a:solidFill>
                <a:latin typeface="Inter"/>
                <a:ea typeface="Inter"/>
                <a:cs typeface="Inter"/>
                <a:sym typeface="Inter"/>
              </a:rPr>
              <a:t>Polish and design</a:t>
            </a:r>
            <a:endParaRPr b="0" i="0" sz="1000" u="none" cap="none" strike="noStrike">
              <a:solidFill>
                <a:schemeClr val="dk1"/>
              </a:solidFill>
              <a:latin typeface="Calibri"/>
              <a:ea typeface="Calibri"/>
              <a:cs typeface="Calibri"/>
              <a:sym typeface="Calibri"/>
            </a:endParaRPr>
          </a:p>
        </p:txBody>
      </p:sp>
      <p:sp>
        <p:nvSpPr>
          <p:cNvPr id="331" name="Google Shape;331;p22"/>
          <p:cNvSpPr/>
          <p:nvPr/>
        </p:nvSpPr>
        <p:spPr>
          <a:xfrm>
            <a:off x="7101841" y="3906441"/>
            <a:ext cx="1584960" cy="488632"/>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32" name="Google Shape;332;p22"/>
          <p:cNvSpPr/>
          <p:nvPr/>
        </p:nvSpPr>
        <p:spPr>
          <a:xfrm>
            <a:off x="7200900" y="4081224"/>
            <a:ext cx="139065" cy="139065"/>
          </a:xfrm>
          <a:prstGeom prst="rect">
            <a:avLst/>
          </a:prstGeom>
          <a:noFill/>
          <a:ln cap="flat" cmpd="sng" w="15225">
            <a:solidFill>
              <a:srgbClr val="7C3AED"/>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33" name="Google Shape;333;p22"/>
          <p:cNvSpPr/>
          <p:nvPr/>
        </p:nvSpPr>
        <p:spPr>
          <a:xfrm>
            <a:off x="7416166" y="4069795"/>
            <a:ext cx="136505" cy="180975"/>
          </a:xfrm>
          <a:prstGeom prst="rect">
            <a:avLst/>
          </a:prstGeom>
          <a:noFill/>
          <a:ln>
            <a:noFill/>
          </a:ln>
        </p:spPr>
        <p:txBody>
          <a:bodyPr anchorCtr="0" anchor="t" bIns="12700" lIns="12700" spcFirstLastPara="1" rIns="12700" wrap="square" tIns="12700">
            <a:noAutofit/>
          </a:bodyPr>
          <a:lstStyle/>
          <a:p>
            <a:pPr indent="0" lvl="0" marL="0" marR="0" rtl="0" algn="l">
              <a:lnSpc>
                <a:spcPct val="83333"/>
              </a:lnSpc>
              <a:spcBef>
                <a:spcPts val="0"/>
              </a:spcBef>
              <a:spcAft>
                <a:spcPts val="0"/>
              </a:spcAft>
              <a:buClr>
                <a:srgbClr val="7C3AED"/>
              </a:buClr>
              <a:buSzPts val="1300"/>
              <a:buFont typeface="Inter"/>
              <a:buNone/>
            </a:pPr>
            <a:r>
              <a:rPr b="1" i="0" lang="en" sz="1300" u="none" cap="none" strike="noStrike">
                <a:solidFill>
                  <a:srgbClr val="7C3AED"/>
                </a:solidFill>
                <a:latin typeface="Inter"/>
                <a:ea typeface="Inter"/>
                <a:cs typeface="Inter"/>
                <a:sym typeface="Inter"/>
              </a:rPr>
              <a:t>E</a:t>
            </a:r>
            <a:endParaRPr b="0" i="0" sz="1300" u="none" cap="none" strike="noStrike">
              <a:solidFill>
                <a:schemeClr val="dk1"/>
              </a:solidFill>
              <a:latin typeface="Calibri"/>
              <a:ea typeface="Calibri"/>
              <a:cs typeface="Calibri"/>
              <a:sym typeface="Calibri"/>
            </a:endParaRPr>
          </a:p>
        </p:txBody>
      </p:sp>
      <p:sp>
        <p:nvSpPr>
          <p:cNvPr id="334" name="Google Shape;334;p22"/>
          <p:cNvSpPr/>
          <p:nvPr/>
        </p:nvSpPr>
        <p:spPr>
          <a:xfrm>
            <a:off x="7590771" y="4073366"/>
            <a:ext cx="683460" cy="173832"/>
          </a:xfrm>
          <a:prstGeom prst="rect">
            <a:avLst/>
          </a:prstGeom>
          <a:noFill/>
          <a:ln>
            <a:noFill/>
          </a:ln>
        </p:spPr>
        <p:txBody>
          <a:bodyPr anchorCtr="0" anchor="t" bIns="12700" lIns="12700" spcFirstLastPara="1" rIns="12700" wrap="square" tIns="12700">
            <a:noAutofit/>
          </a:bodyPr>
          <a:lstStyle/>
          <a:p>
            <a:pPr indent="0" lvl="0" marL="0" marR="0" rtl="0" algn="l">
              <a:lnSpc>
                <a:spcPct val="104167"/>
              </a:lnSpc>
              <a:spcBef>
                <a:spcPts val="0"/>
              </a:spcBef>
              <a:spcAft>
                <a:spcPts val="0"/>
              </a:spcAft>
              <a:buClr>
                <a:srgbClr val="4B5563"/>
              </a:buClr>
              <a:buSzPts val="1000"/>
              <a:buFont typeface="Inter"/>
              <a:buNone/>
            </a:pPr>
            <a:r>
              <a:rPr b="0" i="0" lang="en" sz="1000" u="none" cap="none" strike="noStrike">
                <a:solidFill>
                  <a:srgbClr val="4B5563"/>
                </a:solidFill>
                <a:latin typeface="Inter"/>
                <a:ea typeface="Inter"/>
                <a:cs typeface="Inter"/>
                <a:sym typeface="Inter"/>
              </a:rPr>
              <a:t>Exclusions</a:t>
            </a:r>
            <a:endParaRPr b="0" i="0" sz="1000" u="none" cap="none" strike="noStrike">
              <a:solidFill>
                <a:schemeClr val="dk1"/>
              </a:solidFill>
              <a:latin typeface="Calibri"/>
              <a:ea typeface="Calibri"/>
              <a:cs typeface="Calibri"/>
              <a:sym typeface="Calibri"/>
            </a:endParaRPr>
          </a:p>
        </p:txBody>
      </p:sp>
      <p:sp>
        <p:nvSpPr>
          <p:cNvPr id="335" name="Google Shape;335;p22"/>
          <p:cNvSpPr txBox="1"/>
          <p:nvPr/>
        </p:nvSpPr>
        <p:spPr>
          <a:xfrm>
            <a:off x="489575" y="3983463"/>
            <a:ext cx="304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125"/>
              </a:spcAft>
              <a:buNone/>
            </a:pPr>
            <a:r>
              <a:rPr lang="en" sz="800">
                <a:solidFill>
                  <a:schemeClr val="dk1"/>
                </a:solidFill>
              </a:rPr>
              <a:t>✔</a:t>
            </a:r>
            <a:endParaRPr/>
          </a:p>
        </p:txBody>
      </p:sp>
      <p:sp>
        <p:nvSpPr>
          <p:cNvPr id="336" name="Google Shape;336;p22"/>
          <p:cNvSpPr txBox="1"/>
          <p:nvPr/>
        </p:nvSpPr>
        <p:spPr>
          <a:xfrm>
            <a:off x="2159503" y="4004981"/>
            <a:ext cx="304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125"/>
              </a:spcAft>
              <a:buNone/>
            </a:pPr>
            <a:r>
              <a:rPr lang="en" sz="800">
                <a:solidFill>
                  <a:schemeClr val="dk1"/>
                </a:solidFill>
              </a:rPr>
              <a:t>✔</a:t>
            </a:r>
            <a:endParaRPr/>
          </a:p>
        </p:txBody>
      </p:sp>
      <p:sp>
        <p:nvSpPr>
          <p:cNvPr id="337" name="Google Shape;337;p22"/>
          <p:cNvSpPr txBox="1"/>
          <p:nvPr/>
        </p:nvSpPr>
        <p:spPr>
          <a:xfrm>
            <a:off x="3823613" y="4002810"/>
            <a:ext cx="304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125"/>
              </a:spcAft>
              <a:buNone/>
            </a:pPr>
            <a:r>
              <a:rPr lang="en" sz="800">
                <a:solidFill>
                  <a:schemeClr val="dk1"/>
                </a:solidFill>
              </a:rPr>
              <a:t>✔</a:t>
            </a:r>
            <a:endParaRPr/>
          </a:p>
        </p:txBody>
      </p:sp>
      <p:sp>
        <p:nvSpPr>
          <p:cNvPr id="338" name="Google Shape;338;p22"/>
          <p:cNvSpPr txBox="1"/>
          <p:nvPr/>
        </p:nvSpPr>
        <p:spPr>
          <a:xfrm>
            <a:off x="5483106" y="4005004"/>
            <a:ext cx="304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125"/>
              </a:spcAft>
              <a:buNone/>
            </a:pPr>
            <a:r>
              <a:rPr lang="en" sz="800">
                <a:solidFill>
                  <a:schemeClr val="dk1"/>
                </a:solidFill>
              </a:rPr>
              <a:t>✔</a:t>
            </a:r>
            <a:endParaRPr/>
          </a:p>
        </p:txBody>
      </p:sp>
      <p:sp>
        <p:nvSpPr>
          <p:cNvPr id="339" name="Google Shape;339;p22"/>
          <p:cNvSpPr txBox="1"/>
          <p:nvPr/>
        </p:nvSpPr>
        <p:spPr>
          <a:xfrm>
            <a:off x="7141013" y="3989316"/>
            <a:ext cx="304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125"/>
              </a:spcAft>
              <a:buNone/>
            </a:pPr>
            <a:r>
              <a:rPr lang="en" sz="800">
                <a:solidFill>
                  <a:schemeClr val="dk1"/>
                </a:solidFill>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C"/>
        </a:solidFill>
      </p:bgPr>
    </p:bg>
    <p:spTree>
      <p:nvGrpSpPr>
        <p:cNvPr id="344" name="Shape 344"/>
        <p:cNvGrpSpPr/>
        <p:nvPr/>
      </p:nvGrpSpPr>
      <p:grpSpPr>
        <a:xfrm>
          <a:off x="0" y="0"/>
          <a:ext cx="0" cy="0"/>
          <a:chOff x="0" y="0"/>
          <a:chExt cx="0" cy="0"/>
        </a:xfrm>
      </p:grpSpPr>
      <p:sp>
        <p:nvSpPr>
          <p:cNvPr id="345" name="Google Shape;345;p23"/>
          <p:cNvSpPr/>
          <p:nvPr/>
        </p:nvSpPr>
        <p:spPr>
          <a:xfrm>
            <a:off x="457200" y="528638"/>
            <a:ext cx="9052560" cy="320218"/>
          </a:xfrm>
          <a:prstGeom prst="rect">
            <a:avLst/>
          </a:prstGeom>
          <a:noFill/>
          <a:ln>
            <a:noFill/>
          </a:ln>
        </p:spPr>
        <p:txBody>
          <a:bodyPr anchorCtr="0" anchor="t" bIns="12700" lIns="12700" spcFirstLastPara="1" rIns="12700" wrap="square" tIns="12700">
            <a:noAutofit/>
          </a:bodyPr>
          <a:lstStyle/>
          <a:p>
            <a:pPr indent="0" lvl="0" marL="0" marR="0" rtl="0" algn="l">
              <a:lnSpc>
                <a:spcPct val="84096"/>
              </a:lnSpc>
              <a:spcBef>
                <a:spcPts val="0"/>
              </a:spcBef>
              <a:spcAft>
                <a:spcPts val="0"/>
              </a:spcAft>
              <a:buClr>
                <a:srgbClr val="1F2937"/>
              </a:buClr>
              <a:buSzPts val="2300"/>
              <a:buFont typeface="Inter"/>
              <a:buNone/>
            </a:pPr>
            <a:r>
              <a:rPr b="1" i="0" lang="en" sz="2300" u="none" cap="none" strike="noStrike">
                <a:solidFill>
                  <a:srgbClr val="1F2937"/>
                </a:solidFill>
                <a:latin typeface="Inter"/>
                <a:ea typeface="Inter"/>
                <a:cs typeface="Inter"/>
                <a:sym typeface="Inter"/>
              </a:rPr>
              <a:t>The multi-shot prompts</a:t>
            </a:r>
            <a:endParaRPr b="0" i="0" sz="2300" u="none" cap="none" strike="noStrike">
              <a:solidFill>
                <a:schemeClr val="dk1"/>
              </a:solidFill>
              <a:latin typeface="Calibri"/>
              <a:ea typeface="Calibri"/>
              <a:cs typeface="Calibri"/>
              <a:sym typeface="Calibri"/>
            </a:endParaRPr>
          </a:p>
        </p:txBody>
      </p:sp>
      <p:sp>
        <p:nvSpPr>
          <p:cNvPr id="346" name="Google Shape;346;p23"/>
          <p:cNvSpPr/>
          <p:nvPr/>
        </p:nvSpPr>
        <p:spPr>
          <a:xfrm>
            <a:off x="457200" y="906006"/>
            <a:ext cx="6810375" cy="191691"/>
          </a:xfrm>
          <a:prstGeom prst="rect">
            <a:avLst/>
          </a:prstGeom>
          <a:noFill/>
          <a:ln>
            <a:noFill/>
          </a:ln>
        </p:spPr>
        <p:txBody>
          <a:bodyPr anchorCtr="0" anchor="t" bIns="12700" lIns="12700" spcFirstLastPara="1" rIns="12700" wrap="square" tIns="12700">
            <a:noAutofit/>
          </a:bodyPr>
          <a:lstStyle/>
          <a:p>
            <a:pPr indent="0" lvl="0" marL="0" marR="0" rtl="0" algn="l">
              <a:lnSpc>
                <a:spcPct val="119243"/>
              </a:lnSpc>
              <a:spcBef>
                <a:spcPts val="0"/>
              </a:spcBef>
              <a:spcAft>
                <a:spcPts val="0"/>
              </a:spcAft>
              <a:buClr>
                <a:srgbClr val="4B5563"/>
              </a:buClr>
              <a:buSzPts val="900"/>
              <a:buFont typeface="Inter"/>
              <a:buNone/>
            </a:pPr>
            <a:r>
              <a:rPr lang="en" sz="900">
                <a:solidFill>
                  <a:srgbClr val="4B5563"/>
                </a:solidFill>
                <a:latin typeface="Inter"/>
                <a:ea typeface="Inter"/>
                <a:cs typeface="Inter"/>
                <a:sym typeface="Inter"/>
              </a:rPr>
              <a:t>Five prompts. One per screen. Each needed a scoped correction.</a:t>
            </a:r>
            <a:endParaRPr b="0" i="0" sz="900" u="none" cap="none" strike="noStrike">
              <a:solidFill>
                <a:schemeClr val="dk1"/>
              </a:solidFill>
              <a:latin typeface="Calibri"/>
              <a:ea typeface="Calibri"/>
              <a:cs typeface="Calibri"/>
              <a:sym typeface="Calibri"/>
            </a:endParaRPr>
          </a:p>
        </p:txBody>
      </p:sp>
      <p:sp>
        <p:nvSpPr>
          <p:cNvPr id="347" name="Google Shape;347;p23"/>
          <p:cNvSpPr/>
          <p:nvPr/>
        </p:nvSpPr>
        <p:spPr>
          <a:xfrm>
            <a:off x="457200" y="1221522"/>
            <a:ext cx="8229600" cy="23889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48" name="Google Shape;348;p23"/>
          <p:cNvSpPr/>
          <p:nvPr/>
        </p:nvSpPr>
        <p:spPr>
          <a:xfrm>
            <a:off x="461010" y="1225331"/>
            <a:ext cx="8221980" cy="365760"/>
          </a:xfrm>
          <a:prstGeom prst="rect">
            <a:avLst/>
          </a:prstGeom>
          <a:solidFill>
            <a:srgbClr val="F5F3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49" name="Google Shape;349;p23"/>
          <p:cNvSpPr/>
          <p:nvPr/>
        </p:nvSpPr>
        <p:spPr>
          <a:xfrm>
            <a:off x="461010" y="1587282"/>
            <a:ext cx="8221980" cy="4763"/>
          </a:xfrm>
          <a:prstGeom prst="rect">
            <a:avLst/>
          </a:prstGeom>
          <a:solidFill>
            <a:srgbClr val="E5E7E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50" name="Google Shape;350;p23"/>
          <p:cNvSpPr/>
          <p:nvPr/>
        </p:nvSpPr>
        <p:spPr>
          <a:xfrm>
            <a:off x="565785" y="1292007"/>
            <a:ext cx="257175" cy="2476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a:t>
            </a:r>
            <a:endParaRPr b="0" i="0" sz="900" u="none" cap="none" strike="noStrike">
              <a:solidFill>
                <a:schemeClr val="dk1"/>
              </a:solidFill>
              <a:latin typeface="Calibri"/>
              <a:ea typeface="Calibri"/>
              <a:cs typeface="Calibri"/>
              <a:sym typeface="Calibri"/>
            </a:endParaRPr>
          </a:p>
        </p:txBody>
      </p:sp>
      <p:sp>
        <p:nvSpPr>
          <p:cNvPr id="351" name="Google Shape;351;p23"/>
          <p:cNvSpPr/>
          <p:nvPr/>
        </p:nvSpPr>
        <p:spPr>
          <a:xfrm>
            <a:off x="994410" y="1292007"/>
            <a:ext cx="3697091" cy="2476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SCREEN OR FEATURE</a:t>
            </a:r>
            <a:endParaRPr b="0" i="0" sz="900" u="none" cap="none" strike="noStrike">
              <a:solidFill>
                <a:schemeClr val="dk1"/>
              </a:solidFill>
              <a:latin typeface="Calibri"/>
              <a:ea typeface="Calibri"/>
              <a:cs typeface="Calibri"/>
              <a:sym typeface="Calibri"/>
            </a:endParaRPr>
          </a:p>
        </p:txBody>
      </p:sp>
      <p:sp>
        <p:nvSpPr>
          <p:cNvPr id="352" name="Google Shape;352;p23"/>
          <p:cNvSpPr/>
          <p:nvPr/>
        </p:nvSpPr>
        <p:spPr>
          <a:xfrm>
            <a:off x="4787265" y="1292007"/>
            <a:ext cx="2046923" cy="2476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ALL FIVE SCOPE SECTIONS?</a:t>
            </a:r>
            <a:endParaRPr b="0" i="0" sz="900" u="none" cap="none" strike="noStrike">
              <a:solidFill>
                <a:schemeClr val="dk1"/>
              </a:solidFill>
              <a:latin typeface="Calibri"/>
              <a:ea typeface="Calibri"/>
              <a:cs typeface="Calibri"/>
              <a:sym typeface="Calibri"/>
            </a:endParaRPr>
          </a:p>
        </p:txBody>
      </p:sp>
      <p:sp>
        <p:nvSpPr>
          <p:cNvPr id="353" name="Google Shape;353;p23"/>
          <p:cNvSpPr/>
          <p:nvPr/>
        </p:nvSpPr>
        <p:spPr>
          <a:xfrm>
            <a:off x="6978016" y="1292007"/>
            <a:ext cx="1654493" cy="2476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WORKED FIRST TIME?</a:t>
            </a:r>
            <a:endParaRPr b="0" i="0" sz="900" u="none" cap="none" strike="noStrike">
              <a:solidFill>
                <a:schemeClr val="dk1"/>
              </a:solidFill>
              <a:latin typeface="Calibri"/>
              <a:ea typeface="Calibri"/>
              <a:cs typeface="Calibri"/>
              <a:sym typeface="Calibri"/>
            </a:endParaRPr>
          </a:p>
        </p:txBody>
      </p:sp>
      <p:sp>
        <p:nvSpPr>
          <p:cNvPr id="354" name="Google Shape;354;p23"/>
          <p:cNvSpPr/>
          <p:nvPr/>
        </p:nvSpPr>
        <p:spPr>
          <a:xfrm>
            <a:off x="461010" y="1991142"/>
            <a:ext cx="8221980" cy="4763"/>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55" name="Google Shape;355;p23"/>
          <p:cNvSpPr/>
          <p:nvPr/>
        </p:nvSpPr>
        <p:spPr>
          <a:xfrm>
            <a:off x="565785" y="1591092"/>
            <a:ext cx="257175" cy="419100"/>
          </a:xfrm>
          <a:prstGeom prst="rect">
            <a:avLst/>
          </a:prstGeom>
          <a:noFill/>
          <a:ln>
            <a:noFill/>
          </a:ln>
        </p:spPr>
        <p:txBody>
          <a:bodyPr anchorCtr="0" anchor="ctr" bIns="12700" lIns="12700" spcFirstLastPara="1" rIns="12700" wrap="square" tIns="12700">
            <a:noAutofit/>
          </a:bodyPr>
          <a:lstStyle/>
          <a:p>
            <a:pPr indent="0" lvl="0" marL="0" marR="0" rtl="0" algn="l">
              <a:lnSpc>
                <a:spcPct val="74468"/>
              </a:lnSpc>
              <a:spcBef>
                <a:spcPts val="0"/>
              </a:spcBef>
              <a:spcAft>
                <a:spcPts val="0"/>
              </a:spcAft>
              <a:buClr>
                <a:srgbClr val="7C3AED"/>
              </a:buClr>
              <a:buSzPts val="1100"/>
              <a:buFont typeface="JetBrains Mono"/>
              <a:buNone/>
            </a:pPr>
            <a:r>
              <a:rPr b="1" i="0" lang="en" sz="1100" u="none" cap="none" strike="noStrike">
                <a:solidFill>
                  <a:srgbClr val="7C3AED"/>
                </a:solidFill>
                <a:latin typeface="JetBrains Mono"/>
                <a:ea typeface="JetBrains Mono"/>
                <a:cs typeface="JetBrains Mono"/>
                <a:sym typeface="JetBrains Mono"/>
              </a:rPr>
              <a:t>1</a:t>
            </a:r>
            <a:endParaRPr b="0" i="0" sz="1100" u="none" cap="none" strike="noStrike">
              <a:solidFill>
                <a:schemeClr val="dk1"/>
              </a:solidFill>
              <a:latin typeface="Calibri"/>
              <a:ea typeface="Calibri"/>
              <a:cs typeface="Calibri"/>
              <a:sym typeface="Calibri"/>
            </a:endParaRPr>
          </a:p>
        </p:txBody>
      </p:sp>
      <p:sp>
        <p:nvSpPr>
          <p:cNvPr id="356" name="Google Shape;356;p23"/>
          <p:cNvSpPr/>
          <p:nvPr/>
        </p:nvSpPr>
        <p:spPr>
          <a:xfrm>
            <a:off x="889635" y="1591092"/>
            <a:ext cx="4763" cy="4000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57" name="Google Shape;357;p23"/>
          <p:cNvSpPr/>
          <p:nvPr/>
        </p:nvSpPr>
        <p:spPr>
          <a:xfrm>
            <a:off x="4682490" y="1591092"/>
            <a:ext cx="4763" cy="4000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58" name="Google Shape;358;p23"/>
          <p:cNvSpPr/>
          <p:nvPr/>
        </p:nvSpPr>
        <p:spPr>
          <a:xfrm>
            <a:off x="6873241" y="1591092"/>
            <a:ext cx="4763" cy="4000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59" name="Google Shape;359;p23"/>
          <p:cNvSpPr/>
          <p:nvPr/>
        </p:nvSpPr>
        <p:spPr>
          <a:xfrm>
            <a:off x="461010" y="1994952"/>
            <a:ext cx="8221980" cy="40386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0" name="Google Shape;360;p23"/>
          <p:cNvSpPr/>
          <p:nvPr/>
        </p:nvSpPr>
        <p:spPr>
          <a:xfrm>
            <a:off x="461010" y="2395002"/>
            <a:ext cx="8221980" cy="4763"/>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1" name="Google Shape;361;p23"/>
          <p:cNvSpPr/>
          <p:nvPr/>
        </p:nvSpPr>
        <p:spPr>
          <a:xfrm>
            <a:off x="565785" y="1994952"/>
            <a:ext cx="257175" cy="419100"/>
          </a:xfrm>
          <a:prstGeom prst="rect">
            <a:avLst/>
          </a:prstGeom>
          <a:noFill/>
          <a:ln>
            <a:noFill/>
          </a:ln>
        </p:spPr>
        <p:txBody>
          <a:bodyPr anchorCtr="0" anchor="ctr" bIns="12700" lIns="12700" spcFirstLastPara="1" rIns="12700" wrap="square" tIns="12700">
            <a:noAutofit/>
          </a:bodyPr>
          <a:lstStyle/>
          <a:p>
            <a:pPr indent="0" lvl="0" marL="0" marR="0" rtl="0" algn="l">
              <a:lnSpc>
                <a:spcPct val="74468"/>
              </a:lnSpc>
              <a:spcBef>
                <a:spcPts val="0"/>
              </a:spcBef>
              <a:spcAft>
                <a:spcPts val="0"/>
              </a:spcAft>
              <a:buClr>
                <a:srgbClr val="7C3AED"/>
              </a:buClr>
              <a:buSzPts val="1100"/>
              <a:buFont typeface="JetBrains Mono"/>
              <a:buNone/>
            </a:pPr>
            <a:r>
              <a:rPr b="1" i="0" lang="en" sz="1100" u="none" cap="none" strike="noStrike">
                <a:solidFill>
                  <a:srgbClr val="7C3AED"/>
                </a:solidFill>
                <a:latin typeface="JetBrains Mono"/>
                <a:ea typeface="JetBrains Mono"/>
                <a:cs typeface="JetBrains Mono"/>
                <a:sym typeface="JetBrains Mono"/>
              </a:rPr>
              <a:t>2</a:t>
            </a:r>
            <a:endParaRPr b="0" i="0" sz="1100" u="none" cap="none" strike="noStrike">
              <a:solidFill>
                <a:schemeClr val="dk1"/>
              </a:solidFill>
              <a:latin typeface="Calibri"/>
              <a:ea typeface="Calibri"/>
              <a:cs typeface="Calibri"/>
              <a:sym typeface="Calibri"/>
            </a:endParaRPr>
          </a:p>
        </p:txBody>
      </p:sp>
      <p:sp>
        <p:nvSpPr>
          <p:cNvPr id="362" name="Google Shape;362;p23"/>
          <p:cNvSpPr/>
          <p:nvPr/>
        </p:nvSpPr>
        <p:spPr>
          <a:xfrm>
            <a:off x="889635" y="1994952"/>
            <a:ext cx="4763" cy="4000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3" name="Google Shape;363;p23"/>
          <p:cNvSpPr/>
          <p:nvPr/>
        </p:nvSpPr>
        <p:spPr>
          <a:xfrm>
            <a:off x="4682490" y="1994952"/>
            <a:ext cx="4763" cy="4000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4" name="Google Shape;364;p23"/>
          <p:cNvSpPr/>
          <p:nvPr/>
        </p:nvSpPr>
        <p:spPr>
          <a:xfrm>
            <a:off x="6873241" y="1994952"/>
            <a:ext cx="4763" cy="4000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5" name="Google Shape;365;p23"/>
          <p:cNvSpPr/>
          <p:nvPr/>
        </p:nvSpPr>
        <p:spPr>
          <a:xfrm>
            <a:off x="461010" y="2798862"/>
            <a:ext cx="8221980" cy="4763"/>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6" name="Google Shape;366;p23"/>
          <p:cNvSpPr/>
          <p:nvPr/>
        </p:nvSpPr>
        <p:spPr>
          <a:xfrm>
            <a:off x="565785" y="2398812"/>
            <a:ext cx="257175" cy="419100"/>
          </a:xfrm>
          <a:prstGeom prst="rect">
            <a:avLst/>
          </a:prstGeom>
          <a:noFill/>
          <a:ln>
            <a:noFill/>
          </a:ln>
        </p:spPr>
        <p:txBody>
          <a:bodyPr anchorCtr="0" anchor="ctr" bIns="12700" lIns="12700" spcFirstLastPara="1" rIns="12700" wrap="square" tIns="12700">
            <a:noAutofit/>
          </a:bodyPr>
          <a:lstStyle/>
          <a:p>
            <a:pPr indent="0" lvl="0" marL="0" marR="0" rtl="0" algn="l">
              <a:lnSpc>
                <a:spcPct val="74468"/>
              </a:lnSpc>
              <a:spcBef>
                <a:spcPts val="0"/>
              </a:spcBef>
              <a:spcAft>
                <a:spcPts val="0"/>
              </a:spcAft>
              <a:buClr>
                <a:srgbClr val="7C3AED"/>
              </a:buClr>
              <a:buSzPts val="1100"/>
              <a:buFont typeface="JetBrains Mono"/>
              <a:buNone/>
            </a:pPr>
            <a:r>
              <a:rPr b="1" i="0" lang="en" sz="1100" u="none" cap="none" strike="noStrike">
                <a:solidFill>
                  <a:srgbClr val="7C3AED"/>
                </a:solidFill>
                <a:latin typeface="JetBrains Mono"/>
                <a:ea typeface="JetBrains Mono"/>
                <a:cs typeface="JetBrains Mono"/>
                <a:sym typeface="JetBrains Mono"/>
              </a:rPr>
              <a:t>3</a:t>
            </a:r>
            <a:endParaRPr b="0" i="0" sz="1100" u="none" cap="none" strike="noStrike">
              <a:solidFill>
                <a:schemeClr val="dk1"/>
              </a:solidFill>
              <a:latin typeface="Calibri"/>
              <a:ea typeface="Calibri"/>
              <a:cs typeface="Calibri"/>
              <a:sym typeface="Calibri"/>
            </a:endParaRPr>
          </a:p>
        </p:txBody>
      </p:sp>
      <p:sp>
        <p:nvSpPr>
          <p:cNvPr id="367" name="Google Shape;367;p23"/>
          <p:cNvSpPr/>
          <p:nvPr/>
        </p:nvSpPr>
        <p:spPr>
          <a:xfrm>
            <a:off x="889635" y="2398812"/>
            <a:ext cx="4763" cy="4000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8" name="Google Shape;368;p23"/>
          <p:cNvSpPr/>
          <p:nvPr/>
        </p:nvSpPr>
        <p:spPr>
          <a:xfrm>
            <a:off x="4682490" y="2398812"/>
            <a:ext cx="4763" cy="4000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9" name="Google Shape;369;p23"/>
          <p:cNvSpPr/>
          <p:nvPr/>
        </p:nvSpPr>
        <p:spPr>
          <a:xfrm>
            <a:off x="6873241" y="2398812"/>
            <a:ext cx="4763" cy="4000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0" name="Google Shape;370;p23"/>
          <p:cNvSpPr/>
          <p:nvPr/>
        </p:nvSpPr>
        <p:spPr>
          <a:xfrm>
            <a:off x="461010" y="2802672"/>
            <a:ext cx="8221980" cy="40386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1" name="Google Shape;371;p23"/>
          <p:cNvSpPr/>
          <p:nvPr/>
        </p:nvSpPr>
        <p:spPr>
          <a:xfrm>
            <a:off x="461010" y="3202722"/>
            <a:ext cx="8221980" cy="4763"/>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2" name="Google Shape;372;p23"/>
          <p:cNvSpPr/>
          <p:nvPr/>
        </p:nvSpPr>
        <p:spPr>
          <a:xfrm>
            <a:off x="565785" y="2802672"/>
            <a:ext cx="257175" cy="419100"/>
          </a:xfrm>
          <a:prstGeom prst="rect">
            <a:avLst/>
          </a:prstGeom>
          <a:noFill/>
          <a:ln>
            <a:noFill/>
          </a:ln>
        </p:spPr>
        <p:txBody>
          <a:bodyPr anchorCtr="0" anchor="ctr" bIns="12700" lIns="12700" spcFirstLastPara="1" rIns="12700" wrap="square" tIns="12700">
            <a:noAutofit/>
          </a:bodyPr>
          <a:lstStyle/>
          <a:p>
            <a:pPr indent="0" lvl="0" marL="0" marR="0" rtl="0" algn="l">
              <a:lnSpc>
                <a:spcPct val="74468"/>
              </a:lnSpc>
              <a:spcBef>
                <a:spcPts val="0"/>
              </a:spcBef>
              <a:spcAft>
                <a:spcPts val="0"/>
              </a:spcAft>
              <a:buClr>
                <a:srgbClr val="7C3AED"/>
              </a:buClr>
              <a:buSzPts val="1100"/>
              <a:buFont typeface="JetBrains Mono"/>
              <a:buNone/>
            </a:pPr>
            <a:r>
              <a:rPr b="1" i="0" lang="en" sz="1100" u="none" cap="none" strike="noStrike">
                <a:solidFill>
                  <a:srgbClr val="7C3AED"/>
                </a:solidFill>
                <a:latin typeface="JetBrains Mono"/>
                <a:ea typeface="JetBrains Mono"/>
                <a:cs typeface="JetBrains Mono"/>
                <a:sym typeface="JetBrains Mono"/>
              </a:rPr>
              <a:t>4</a:t>
            </a:r>
            <a:endParaRPr b="0" i="0" sz="1100" u="none" cap="none" strike="noStrike">
              <a:solidFill>
                <a:schemeClr val="dk1"/>
              </a:solidFill>
              <a:latin typeface="Calibri"/>
              <a:ea typeface="Calibri"/>
              <a:cs typeface="Calibri"/>
              <a:sym typeface="Calibri"/>
            </a:endParaRPr>
          </a:p>
        </p:txBody>
      </p:sp>
      <p:sp>
        <p:nvSpPr>
          <p:cNvPr id="373" name="Google Shape;373;p23"/>
          <p:cNvSpPr/>
          <p:nvPr/>
        </p:nvSpPr>
        <p:spPr>
          <a:xfrm>
            <a:off x="889635" y="2802672"/>
            <a:ext cx="4763" cy="4000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4" name="Google Shape;374;p23"/>
          <p:cNvSpPr/>
          <p:nvPr/>
        </p:nvSpPr>
        <p:spPr>
          <a:xfrm>
            <a:off x="4682490" y="2802672"/>
            <a:ext cx="4763" cy="4000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5" name="Google Shape;375;p23"/>
          <p:cNvSpPr/>
          <p:nvPr/>
        </p:nvSpPr>
        <p:spPr>
          <a:xfrm>
            <a:off x="6873241" y="2802672"/>
            <a:ext cx="4763" cy="4000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6" name="Google Shape;376;p23"/>
          <p:cNvSpPr/>
          <p:nvPr/>
        </p:nvSpPr>
        <p:spPr>
          <a:xfrm>
            <a:off x="565785" y="3206532"/>
            <a:ext cx="257175" cy="419100"/>
          </a:xfrm>
          <a:prstGeom prst="rect">
            <a:avLst/>
          </a:prstGeom>
          <a:noFill/>
          <a:ln>
            <a:noFill/>
          </a:ln>
        </p:spPr>
        <p:txBody>
          <a:bodyPr anchorCtr="0" anchor="ctr" bIns="12700" lIns="12700" spcFirstLastPara="1" rIns="12700" wrap="square" tIns="12700">
            <a:noAutofit/>
          </a:bodyPr>
          <a:lstStyle/>
          <a:p>
            <a:pPr indent="0" lvl="0" marL="0" marR="0" rtl="0" algn="l">
              <a:lnSpc>
                <a:spcPct val="74468"/>
              </a:lnSpc>
              <a:spcBef>
                <a:spcPts val="0"/>
              </a:spcBef>
              <a:spcAft>
                <a:spcPts val="0"/>
              </a:spcAft>
              <a:buClr>
                <a:srgbClr val="7C3AED"/>
              </a:buClr>
              <a:buSzPts val="1100"/>
              <a:buFont typeface="JetBrains Mono"/>
              <a:buNone/>
            </a:pPr>
            <a:r>
              <a:rPr b="1" i="0" lang="en" sz="1100" u="none" cap="none" strike="noStrike">
                <a:solidFill>
                  <a:srgbClr val="7C3AED"/>
                </a:solidFill>
                <a:latin typeface="JetBrains Mono"/>
                <a:ea typeface="JetBrains Mono"/>
                <a:cs typeface="JetBrains Mono"/>
                <a:sym typeface="JetBrains Mono"/>
              </a:rPr>
              <a:t>5</a:t>
            </a:r>
            <a:endParaRPr b="0" i="0" sz="1100" u="none" cap="none" strike="noStrike">
              <a:solidFill>
                <a:schemeClr val="dk1"/>
              </a:solidFill>
              <a:latin typeface="Calibri"/>
              <a:ea typeface="Calibri"/>
              <a:cs typeface="Calibri"/>
              <a:sym typeface="Calibri"/>
            </a:endParaRPr>
          </a:p>
        </p:txBody>
      </p:sp>
      <p:sp>
        <p:nvSpPr>
          <p:cNvPr id="377" name="Google Shape;377;p23"/>
          <p:cNvSpPr/>
          <p:nvPr/>
        </p:nvSpPr>
        <p:spPr>
          <a:xfrm>
            <a:off x="889635" y="3206532"/>
            <a:ext cx="4763" cy="4000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8" name="Google Shape;378;p23"/>
          <p:cNvSpPr/>
          <p:nvPr/>
        </p:nvSpPr>
        <p:spPr>
          <a:xfrm>
            <a:off x="4682490" y="3206532"/>
            <a:ext cx="4763" cy="4000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9" name="Google Shape;379;p23"/>
          <p:cNvSpPr/>
          <p:nvPr/>
        </p:nvSpPr>
        <p:spPr>
          <a:xfrm>
            <a:off x="6873241" y="3206532"/>
            <a:ext cx="4763" cy="4000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80" name="Google Shape;380;p23"/>
          <p:cNvSpPr txBox="1"/>
          <p:nvPr/>
        </p:nvSpPr>
        <p:spPr>
          <a:xfrm>
            <a:off x="961075" y="1584751"/>
            <a:ext cx="3542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Overview tab: AI summary, key takeaways, decisions with confidence, action items table, questions raised, topics </a:t>
            </a:r>
            <a:endParaRPr sz="1200"/>
          </a:p>
        </p:txBody>
      </p:sp>
      <p:sp>
        <p:nvSpPr>
          <p:cNvPr id="381" name="Google Shape;381;p23"/>
          <p:cNvSpPr txBox="1"/>
          <p:nvPr/>
        </p:nvSpPr>
        <p:spPr>
          <a:xfrm>
            <a:off x="961075" y="1973575"/>
            <a:ext cx="369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Key Moments tab: important transcript moments with speaker, timestamp, quote, search bar, speaker filter, copy button </a:t>
            </a:r>
            <a:endParaRPr sz="700"/>
          </a:p>
        </p:txBody>
      </p:sp>
      <p:sp>
        <p:nvSpPr>
          <p:cNvPr id="382" name="Google Shape;382;p23"/>
          <p:cNvSpPr txBox="1"/>
          <p:nvPr/>
        </p:nvSpPr>
        <p:spPr>
          <a:xfrm>
            <a:off x="961075" y="2338822"/>
            <a:ext cx="3610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Accountability Board: 3-column layout (Confirmed, Orphaned, Passing) with commitment cards, owner badge, due date, confidence score, Assign Owner modal with participant dropdown </a:t>
            </a:r>
            <a:endParaRPr sz="800"/>
          </a:p>
        </p:txBody>
      </p:sp>
      <p:sp>
        <p:nvSpPr>
          <p:cNvPr id="383" name="Google Shape;383;p23"/>
          <p:cNvSpPr txBox="1"/>
          <p:nvPr/>
        </p:nvSpPr>
        <p:spPr>
          <a:xfrm>
            <a:off x="964077" y="2776376"/>
            <a:ext cx="3610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Ask AI tab: suggested question chips, chat-style response area, free-text input, disclaimer, grounded answer format with citations </a:t>
            </a:r>
            <a:endParaRPr sz="800"/>
          </a:p>
        </p:txBody>
      </p:sp>
      <p:sp>
        <p:nvSpPr>
          <p:cNvPr id="384" name="Google Shape;384;p23"/>
          <p:cNvSpPr txBox="1"/>
          <p:nvPr/>
        </p:nvSpPr>
        <p:spPr>
          <a:xfrm>
            <a:off x="969981" y="3164535"/>
            <a:ext cx="3355500" cy="1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t>Admin panel: User/Admin toggle, System Prompts tab showing 8-block grid for both calls, Session Log tab </a:t>
            </a:r>
            <a:endParaRPr sz="800"/>
          </a:p>
        </p:txBody>
      </p:sp>
      <p:sp>
        <p:nvSpPr>
          <p:cNvPr id="385" name="Google Shape;385;p23"/>
          <p:cNvSpPr txBox="1"/>
          <p:nvPr/>
        </p:nvSpPr>
        <p:spPr>
          <a:xfrm>
            <a:off x="5257790" y="1685369"/>
            <a:ext cx="661200" cy="1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Yes </a:t>
            </a:r>
            <a:endParaRPr sz="1100"/>
          </a:p>
        </p:txBody>
      </p:sp>
      <p:sp>
        <p:nvSpPr>
          <p:cNvPr id="386" name="Google Shape;386;p23"/>
          <p:cNvSpPr txBox="1"/>
          <p:nvPr/>
        </p:nvSpPr>
        <p:spPr>
          <a:xfrm>
            <a:off x="5274823" y="1983446"/>
            <a:ext cx="661200" cy="1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Yes </a:t>
            </a:r>
            <a:endParaRPr sz="1100"/>
          </a:p>
        </p:txBody>
      </p:sp>
      <p:sp>
        <p:nvSpPr>
          <p:cNvPr id="387" name="Google Shape;387;p23"/>
          <p:cNvSpPr txBox="1"/>
          <p:nvPr/>
        </p:nvSpPr>
        <p:spPr>
          <a:xfrm>
            <a:off x="5269444" y="2449610"/>
            <a:ext cx="661200" cy="1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Yes </a:t>
            </a:r>
            <a:endParaRPr sz="1100"/>
          </a:p>
        </p:txBody>
      </p:sp>
      <p:sp>
        <p:nvSpPr>
          <p:cNvPr id="388" name="Google Shape;388;p23"/>
          <p:cNvSpPr txBox="1"/>
          <p:nvPr/>
        </p:nvSpPr>
        <p:spPr>
          <a:xfrm>
            <a:off x="5307096" y="2848540"/>
            <a:ext cx="661200" cy="1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Yes </a:t>
            </a:r>
            <a:endParaRPr sz="1100"/>
          </a:p>
        </p:txBody>
      </p:sp>
      <p:sp>
        <p:nvSpPr>
          <p:cNvPr id="389" name="Google Shape;389;p23"/>
          <p:cNvSpPr txBox="1"/>
          <p:nvPr/>
        </p:nvSpPr>
        <p:spPr>
          <a:xfrm>
            <a:off x="5336231" y="3213851"/>
            <a:ext cx="661200" cy="1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Yes </a:t>
            </a:r>
            <a:endParaRPr sz="1100"/>
          </a:p>
        </p:txBody>
      </p:sp>
      <p:sp>
        <p:nvSpPr>
          <p:cNvPr id="390" name="Google Shape;390;p23"/>
          <p:cNvSpPr txBox="1"/>
          <p:nvPr/>
        </p:nvSpPr>
        <p:spPr>
          <a:xfrm>
            <a:off x="7319672" y="3209369"/>
            <a:ext cx="661200" cy="1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Yes </a:t>
            </a:r>
            <a:endParaRPr sz="1100"/>
          </a:p>
        </p:txBody>
      </p:sp>
      <p:sp>
        <p:nvSpPr>
          <p:cNvPr id="391" name="Google Shape;391;p23"/>
          <p:cNvSpPr txBox="1"/>
          <p:nvPr/>
        </p:nvSpPr>
        <p:spPr>
          <a:xfrm>
            <a:off x="7225543" y="1624857"/>
            <a:ext cx="661200" cy="1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rPr>
              <a:t>No</a:t>
            </a:r>
            <a:endParaRPr sz="1100"/>
          </a:p>
        </p:txBody>
      </p:sp>
      <p:sp>
        <p:nvSpPr>
          <p:cNvPr id="392" name="Google Shape;392;p23"/>
          <p:cNvSpPr txBox="1"/>
          <p:nvPr/>
        </p:nvSpPr>
        <p:spPr>
          <a:xfrm>
            <a:off x="7259163" y="2077575"/>
            <a:ext cx="549000" cy="2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No</a:t>
            </a:r>
            <a:endParaRPr sz="1100"/>
          </a:p>
        </p:txBody>
      </p:sp>
      <p:sp>
        <p:nvSpPr>
          <p:cNvPr id="393" name="Google Shape;393;p23"/>
          <p:cNvSpPr txBox="1"/>
          <p:nvPr/>
        </p:nvSpPr>
        <p:spPr>
          <a:xfrm>
            <a:off x="10502150" y="2682700"/>
            <a:ext cx="626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94" name="Google Shape;394;p23"/>
          <p:cNvSpPr txBox="1"/>
          <p:nvPr/>
        </p:nvSpPr>
        <p:spPr>
          <a:xfrm>
            <a:off x="7241250" y="2458575"/>
            <a:ext cx="549000" cy="2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No</a:t>
            </a:r>
            <a:endParaRPr sz="1100"/>
          </a:p>
        </p:txBody>
      </p:sp>
      <p:sp>
        <p:nvSpPr>
          <p:cNvPr id="395" name="Google Shape;395;p23"/>
          <p:cNvSpPr txBox="1"/>
          <p:nvPr/>
        </p:nvSpPr>
        <p:spPr>
          <a:xfrm>
            <a:off x="7297275" y="2884400"/>
            <a:ext cx="549000" cy="2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No</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C"/>
        </a:solidFill>
      </p:bgPr>
    </p:bg>
    <p:spTree>
      <p:nvGrpSpPr>
        <p:cNvPr id="400" name="Shape 400"/>
        <p:cNvGrpSpPr/>
        <p:nvPr/>
      </p:nvGrpSpPr>
      <p:grpSpPr>
        <a:xfrm>
          <a:off x="0" y="0"/>
          <a:ext cx="0" cy="0"/>
          <a:chOff x="0" y="0"/>
          <a:chExt cx="0" cy="0"/>
        </a:xfrm>
      </p:grpSpPr>
      <p:sp>
        <p:nvSpPr>
          <p:cNvPr id="401" name="Google Shape;401;p24"/>
          <p:cNvSpPr/>
          <p:nvPr/>
        </p:nvSpPr>
        <p:spPr>
          <a:xfrm>
            <a:off x="457200" y="528638"/>
            <a:ext cx="9052560" cy="320218"/>
          </a:xfrm>
          <a:prstGeom prst="rect">
            <a:avLst/>
          </a:prstGeom>
          <a:noFill/>
          <a:ln>
            <a:noFill/>
          </a:ln>
        </p:spPr>
        <p:txBody>
          <a:bodyPr anchorCtr="0" anchor="t" bIns="12700" lIns="12700" spcFirstLastPara="1" rIns="12700" wrap="square" tIns="12700">
            <a:noAutofit/>
          </a:bodyPr>
          <a:lstStyle/>
          <a:p>
            <a:pPr indent="0" lvl="0" marL="0" marR="0" rtl="0" algn="l">
              <a:lnSpc>
                <a:spcPct val="84096"/>
              </a:lnSpc>
              <a:spcBef>
                <a:spcPts val="0"/>
              </a:spcBef>
              <a:spcAft>
                <a:spcPts val="0"/>
              </a:spcAft>
              <a:buClr>
                <a:srgbClr val="1F2937"/>
              </a:buClr>
              <a:buSzPts val="2300"/>
              <a:buFont typeface="Inter"/>
              <a:buNone/>
            </a:pPr>
            <a:r>
              <a:rPr b="1" i="0" lang="en" sz="2300" u="none" cap="none" strike="noStrike">
                <a:solidFill>
                  <a:srgbClr val="1F2937"/>
                </a:solidFill>
                <a:latin typeface="Inter"/>
                <a:ea typeface="Inter"/>
                <a:cs typeface="Inter"/>
                <a:sym typeface="Inter"/>
              </a:rPr>
              <a:t>When Lovable got it wrong</a:t>
            </a:r>
            <a:endParaRPr b="0" i="0" sz="2300" u="none" cap="none" strike="noStrike">
              <a:solidFill>
                <a:schemeClr val="dk1"/>
              </a:solidFill>
              <a:latin typeface="Calibri"/>
              <a:ea typeface="Calibri"/>
              <a:cs typeface="Calibri"/>
              <a:sym typeface="Calibri"/>
            </a:endParaRPr>
          </a:p>
        </p:txBody>
      </p:sp>
      <p:sp>
        <p:nvSpPr>
          <p:cNvPr id="402" name="Google Shape;402;p24"/>
          <p:cNvSpPr/>
          <p:nvPr/>
        </p:nvSpPr>
        <p:spPr>
          <a:xfrm>
            <a:off x="457200" y="906006"/>
            <a:ext cx="7334250" cy="191691"/>
          </a:xfrm>
          <a:prstGeom prst="rect">
            <a:avLst/>
          </a:prstGeom>
          <a:noFill/>
          <a:ln>
            <a:noFill/>
          </a:ln>
        </p:spPr>
        <p:txBody>
          <a:bodyPr anchorCtr="0" anchor="t" bIns="12700" lIns="12700" spcFirstLastPara="1" rIns="12700" wrap="square" tIns="12700">
            <a:noAutofit/>
          </a:bodyPr>
          <a:lstStyle/>
          <a:p>
            <a:pPr indent="0" lvl="0" marL="0" marR="0" rtl="0" algn="l">
              <a:lnSpc>
                <a:spcPct val="119243"/>
              </a:lnSpc>
              <a:spcBef>
                <a:spcPts val="0"/>
              </a:spcBef>
              <a:spcAft>
                <a:spcPts val="0"/>
              </a:spcAft>
              <a:buClr>
                <a:srgbClr val="4B5563"/>
              </a:buClr>
              <a:buSzPts val="900"/>
              <a:buFont typeface="Inter"/>
              <a:buNone/>
            </a:pPr>
            <a:r>
              <a:rPr lang="en" sz="900">
                <a:solidFill>
                  <a:srgbClr val="4B5563"/>
                </a:solidFill>
                <a:latin typeface="Inter"/>
                <a:ea typeface="Inter"/>
                <a:cs typeface="Inter"/>
                <a:sym typeface="Inter"/>
              </a:rPr>
              <a:t>Five corrections. Each scoped before being sent — no freeform editing in Lovable.</a:t>
            </a:r>
            <a:endParaRPr b="0" i="0" sz="900" u="none" cap="none" strike="noStrike">
              <a:solidFill>
                <a:schemeClr val="dk1"/>
              </a:solidFill>
              <a:latin typeface="Calibri"/>
              <a:ea typeface="Calibri"/>
              <a:cs typeface="Calibri"/>
              <a:sym typeface="Calibri"/>
            </a:endParaRPr>
          </a:p>
        </p:txBody>
      </p:sp>
      <p:sp>
        <p:nvSpPr>
          <p:cNvPr id="403" name="Google Shape;403;p24"/>
          <p:cNvSpPr/>
          <p:nvPr/>
        </p:nvSpPr>
        <p:spPr>
          <a:xfrm>
            <a:off x="457200" y="4154805"/>
            <a:ext cx="1428750" cy="721995"/>
          </a:xfrm>
          <a:prstGeom prst="rect">
            <a:avLst/>
          </a:prstGeom>
          <a:solidFill>
            <a:srgbClr val="F5F3FF"/>
          </a:solidFill>
          <a:ln cap="flat" cmpd="sng" w="9525">
            <a:solidFill>
              <a:srgbClr val="C4B5FD"/>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04" name="Google Shape;404;p24"/>
          <p:cNvSpPr/>
          <p:nvPr/>
        </p:nvSpPr>
        <p:spPr>
          <a:xfrm>
            <a:off x="584835" y="4263390"/>
            <a:ext cx="1211580" cy="2476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CREDITS USED, OUT OF 50</a:t>
            </a:r>
            <a:endParaRPr b="0" i="0" sz="900" u="none" cap="none" strike="noStrike">
              <a:solidFill>
                <a:schemeClr val="dk1"/>
              </a:solidFill>
              <a:latin typeface="Calibri"/>
              <a:ea typeface="Calibri"/>
              <a:cs typeface="Calibri"/>
              <a:sym typeface="Calibri"/>
            </a:endParaRPr>
          </a:p>
        </p:txBody>
      </p:sp>
      <p:sp>
        <p:nvSpPr>
          <p:cNvPr id="405" name="Google Shape;405;p24"/>
          <p:cNvSpPr/>
          <p:nvPr/>
        </p:nvSpPr>
        <p:spPr>
          <a:xfrm>
            <a:off x="584835" y="4558665"/>
            <a:ext cx="1290828" cy="228600"/>
          </a:xfrm>
          <a:prstGeom prst="rect">
            <a:avLst/>
          </a:prstGeom>
          <a:noFill/>
          <a:ln>
            <a:noFill/>
          </a:ln>
        </p:spPr>
        <p:txBody>
          <a:bodyPr anchorCtr="0" anchor="t" bIns="12700" lIns="12700" spcFirstLastPara="1" rIns="12700" wrap="square" tIns="12700">
            <a:noAutofit/>
          </a:bodyPr>
          <a:lstStyle/>
          <a:p>
            <a:pPr indent="0" lvl="0" marL="0" marR="0" rtl="0" algn="l">
              <a:lnSpc>
                <a:spcPct val="75342"/>
              </a:lnSpc>
              <a:spcBef>
                <a:spcPts val="0"/>
              </a:spcBef>
              <a:spcAft>
                <a:spcPts val="0"/>
              </a:spcAft>
              <a:buClr>
                <a:srgbClr val="5B21B6"/>
              </a:buClr>
              <a:buSzPts val="1700"/>
              <a:buFont typeface="JetBrains Mono"/>
              <a:buNone/>
            </a:pPr>
            <a:r>
              <a:rPr b="1" lang="en" sz="1700">
                <a:solidFill>
                  <a:srgbClr val="5B21B6"/>
                </a:solidFill>
                <a:latin typeface="JetBrains Mono"/>
                <a:ea typeface="JetBrains Mono"/>
                <a:cs typeface="JetBrains Mono"/>
                <a:sym typeface="JetBrains Mono"/>
              </a:rPr>
              <a:t>48 </a:t>
            </a:r>
            <a:r>
              <a:rPr b="1" i="0" lang="en" sz="1700" u="none" cap="none" strike="noStrike">
                <a:solidFill>
                  <a:srgbClr val="5B21B6"/>
                </a:solidFill>
                <a:latin typeface="JetBrains Mono"/>
                <a:ea typeface="JetBrains Mono"/>
                <a:cs typeface="JetBrains Mono"/>
                <a:sym typeface="JetBrains Mono"/>
              </a:rPr>
              <a:t>/ 50</a:t>
            </a:r>
            <a:endParaRPr b="0" i="0" sz="1700" u="none" cap="none" strike="noStrike">
              <a:solidFill>
                <a:schemeClr val="dk1"/>
              </a:solidFill>
              <a:latin typeface="Calibri"/>
              <a:ea typeface="Calibri"/>
              <a:cs typeface="Calibri"/>
              <a:sym typeface="Calibri"/>
            </a:endParaRPr>
          </a:p>
        </p:txBody>
      </p:sp>
      <p:sp>
        <p:nvSpPr>
          <p:cNvPr id="406" name="Google Shape;406;p24"/>
          <p:cNvSpPr/>
          <p:nvPr/>
        </p:nvSpPr>
        <p:spPr>
          <a:xfrm>
            <a:off x="1990725" y="4154800"/>
            <a:ext cx="6504000" cy="7221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800"/>
          </a:p>
          <a:p>
            <a:pPr indent="0" lvl="0" marL="0" rtl="0" algn="l">
              <a:spcBef>
                <a:spcPts val="0"/>
              </a:spcBef>
              <a:spcAft>
                <a:spcPts val="0"/>
              </a:spcAft>
              <a:buNone/>
            </a:pPr>
            <a:r>
              <a:rPr lang="en" sz="800"/>
              <a:t>   </a:t>
            </a:r>
            <a:endParaRPr sz="800"/>
          </a:p>
          <a:p>
            <a:pPr indent="0" lvl="0" marL="0" rtl="0" algn="l">
              <a:spcBef>
                <a:spcPts val="0"/>
              </a:spcBef>
              <a:spcAft>
                <a:spcPts val="0"/>
              </a:spcAft>
              <a:buNone/>
            </a:pPr>
            <a:r>
              <a:t/>
            </a:r>
            <a:endParaRPr sz="800"/>
          </a:p>
        </p:txBody>
      </p:sp>
      <p:sp>
        <p:nvSpPr>
          <p:cNvPr id="407" name="Google Shape;407;p24"/>
          <p:cNvSpPr/>
          <p:nvPr/>
        </p:nvSpPr>
        <p:spPr>
          <a:xfrm>
            <a:off x="2118360" y="4263390"/>
            <a:ext cx="7084885" cy="1333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WHERE MOST OF THEM WENT</a:t>
            </a:r>
            <a:endParaRPr b="0" i="0" sz="900" u="none" cap="none" strike="noStrike">
              <a:solidFill>
                <a:schemeClr val="dk1"/>
              </a:solidFill>
              <a:latin typeface="Calibri"/>
              <a:ea typeface="Calibri"/>
              <a:cs typeface="Calibri"/>
              <a:sym typeface="Calibri"/>
            </a:endParaRPr>
          </a:p>
        </p:txBody>
      </p:sp>
      <p:graphicFrame>
        <p:nvGraphicFramePr>
          <p:cNvPr id="408" name="Google Shape;408;p24"/>
          <p:cNvGraphicFramePr/>
          <p:nvPr/>
        </p:nvGraphicFramePr>
        <p:xfrm>
          <a:off x="504825" y="1154850"/>
          <a:ext cx="3000000" cy="3000000"/>
        </p:xfrm>
        <a:graphic>
          <a:graphicData uri="http://schemas.openxmlformats.org/drawingml/2006/table">
            <a:tbl>
              <a:tblPr>
                <a:noFill/>
                <a:tableStyleId>{176A7EA2-FE08-439B-A426-083CC1B6AA19}</a:tableStyleId>
              </a:tblPr>
              <a:tblGrid>
                <a:gridCol w="2663275"/>
                <a:gridCol w="2663275"/>
                <a:gridCol w="2663275"/>
              </a:tblGrid>
              <a:tr h="381000">
                <a:tc>
                  <a:txBody>
                    <a:bodyPr/>
                    <a:lstStyle/>
                    <a:p>
                      <a:pPr indent="0" lvl="0" marL="0" rtl="0" algn="l">
                        <a:lnSpc>
                          <a:spcPct val="75000"/>
                        </a:lnSpc>
                        <a:spcBef>
                          <a:spcPts val="0"/>
                        </a:spcBef>
                        <a:spcAft>
                          <a:spcPts val="0"/>
                        </a:spcAft>
                        <a:buNone/>
                      </a:pPr>
                      <a:r>
                        <a:rPr b="1" lang="en" sz="900">
                          <a:solidFill>
                            <a:srgbClr val="5B21B6"/>
                          </a:solidFill>
                          <a:latin typeface="JetBrains Mono"/>
                          <a:ea typeface="JetBrains Mono"/>
                          <a:cs typeface="JetBrains Mono"/>
                          <a:sym typeface="JetBrains Mono"/>
                        </a:rPr>
                        <a:t>WHAT IT BUILT</a:t>
                      </a:r>
                      <a:endParaRPr/>
                    </a:p>
                  </a:txBody>
                  <a:tcPr marT="91425" marB="91425" marR="91425" marL="91425"/>
                </a:tc>
                <a:tc>
                  <a:txBody>
                    <a:bodyPr/>
                    <a:lstStyle/>
                    <a:p>
                      <a:pPr indent="0" lvl="0" marL="0" rtl="0" algn="l">
                        <a:lnSpc>
                          <a:spcPct val="75000"/>
                        </a:lnSpc>
                        <a:spcBef>
                          <a:spcPts val="0"/>
                        </a:spcBef>
                        <a:spcAft>
                          <a:spcPts val="0"/>
                        </a:spcAft>
                        <a:buNone/>
                      </a:pPr>
                      <a:r>
                        <a:rPr b="1" lang="en" sz="900">
                          <a:solidFill>
                            <a:srgbClr val="5B21B6"/>
                          </a:solidFill>
                          <a:latin typeface="JetBrains Mono"/>
                          <a:ea typeface="JetBrains Mono"/>
                          <a:cs typeface="JetBrains Mono"/>
                          <a:sym typeface="JetBrains Mono"/>
                        </a:rPr>
                        <a:t>WHAT WE INTENDED</a:t>
                      </a:r>
                      <a:endParaRPr/>
                    </a:p>
                  </a:txBody>
                  <a:tcPr marT="91425" marB="91425" marR="91425" marL="91425"/>
                </a:tc>
                <a:tc>
                  <a:txBody>
                    <a:bodyPr/>
                    <a:lstStyle/>
                    <a:p>
                      <a:pPr indent="0" lvl="0" marL="0" rtl="0" algn="l">
                        <a:lnSpc>
                          <a:spcPct val="75000"/>
                        </a:lnSpc>
                        <a:spcBef>
                          <a:spcPts val="0"/>
                        </a:spcBef>
                        <a:spcAft>
                          <a:spcPts val="0"/>
                        </a:spcAft>
                        <a:buNone/>
                      </a:pPr>
                      <a:r>
                        <a:rPr b="1" lang="en" sz="900">
                          <a:solidFill>
                            <a:srgbClr val="5B21B6"/>
                          </a:solidFill>
                          <a:latin typeface="JetBrains Mono"/>
                          <a:ea typeface="JetBrains Mono"/>
                          <a:cs typeface="JetBrains Mono"/>
                          <a:sym typeface="JetBrains Mono"/>
                        </a:rPr>
                        <a:t>THE CORRECTION WE SENT</a:t>
                      </a:r>
                      <a:endParaRPr/>
                    </a:p>
                  </a:txBody>
                  <a:tcPr marT="91425" marB="91425" marR="91425" marL="91425"/>
                </a:tc>
              </a:tr>
              <a:tr h="381000">
                <a:tc>
                  <a:txBody>
                    <a:bodyPr/>
                    <a:lstStyle/>
                    <a:p>
                      <a:pPr indent="0" lvl="0" marL="0" rtl="0" algn="l">
                        <a:spcBef>
                          <a:spcPts val="0"/>
                        </a:spcBef>
                        <a:spcAft>
                          <a:spcPts val="0"/>
                        </a:spcAft>
                        <a:buNone/>
                      </a:pPr>
                      <a:r>
                        <a:rPr lang="en" sz="800"/>
                        <a:t>Accountability Board rendered as a flat list, no columns </a:t>
                      </a:r>
                      <a:endParaRPr sz="800"/>
                    </a:p>
                  </a:txBody>
                  <a:tcPr marT="91425" marB="91425" marR="91425" marL="91425"/>
                </a:tc>
                <a:tc>
                  <a:txBody>
                    <a:bodyPr/>
                    <a:lstStyle/>
                    <a:p>
                      <a:pPr indent="0" lvl="0" marL="0" rtl="0" algn="l">
                        <a:spcBef>
                          <a:spcPts val="0"/>
                        </a:spcBef>
                        <a:spcAft>
                          <a:spcPts val="0"/>
                        </a:spcAft>
                        <a:buNone/>
                      </a:pPr>
                      <a:r>
                        <a:rPr lang="en" sz="800"/>
                        <a:t>3-column kanban layout: CONFIRMED / ORPHANED / PASSING, each card color-coded </a:t>
                      </a:r>
                      <a:endParaRPr sz="800"/>
                    </a:p>
                  </a:txBody>
                  <a:tcPr marT="91425" marB="91425" marR="91425" marL="91425"/>
                </a:tc>
                <a:tc>
                  <a:txBody>
                    <a:bodyPr/>
                    <a:lstStyle/>
                    <a:p>
                      <a:pPr indent="0" lvl="0" marL="0" rtl="0" algn="l">
                        <a:spcBef>
                          <a:spcPts val="0"/>
                        </a:spcBef>
                        <a:spcAft>
                          <a:spcPts val="0"/>
                        </a:spcAft>
                        <a:buNone/>
                      </a:pPr>
                      <a:r>
                        <a:rPr lang="en" sz="800"/>
                        <a:t>Specified column structure, card colors (green/yellow/gray), and commitment type as column header in prompt </a:t>
                      </a:r>
                      <a:endParaRPr sz="800"/>
                    </a:p>
                  </a:txBody>
                  <a:tcPr marT="91425" marB="91425" marR="91425" marL="91425"/>
                </a:tc>
              </a:tr>
              <a:tr h="381000">
                <a:tc>
                  <a:txBody>
                    <a:bodyPr/>
                    <a:lstStyle/>
                    <a:p>
                      <a:pPr indent="0" lvl="0" marL="0" rtl="0" algn="l">
                        <a:spcBef>
                          <a:spcPts val="0"/>
                        </a:spcBef>
                        <a:spcAft>
                          <a:spcPts val="0"/>
                        </a:spcAft>
                        <a:buNone/>
                      </a:pPr>
                      <a:r>
                        <a:rPr lang="en" sz="800"/>
                        <a:t>Drag and drop moved cards between columns but did not update the commitment type </a:t>
                      </a:r>
                      <a:endParaRPr sz="800"/>
                    </a:p>
                  </a:txBody>
                  <a:tcPr marT="91425" marB="91425" marR="91425" marL="91425"/>
                </a:tc>
                <a:tc>
                  <a:txBody>
                    <a:bodyPr/>
                    <a:lstStyle/>
                    <a:p>
                      <a:pPr indent="0" lvl="0" marL="0" rtl="0" algn="l">
                        <a:spcBef>
                          <a:spcPts val="0"/>
                        </a:spcBef>
                        <a:spcAft>
                          <a:spcPts val="0"/>
                        </a:spcAft>
                        <a:buNone/>
                      </a:pPr>
                      <a:r>
                        <a:rPr lang="en" sz="800"/>
                        <a:t>Dragging a card across columns should reclassify the commitment (type changes to match destination column) </a:t>
                      </a:r>
                      <a:endParaRPr sz="800"/>
                    </a:p>
                  </a:txBody>
                  <a:tcPr marT="91425" marB="91425" marR="91425" marL="91425"/>
                </a:tc>
                <a:tc>
                  <a:txBody>
                    <a:bodyPr/>
                    <a:lstStyle/>
                    <a:p>
                      <a:pPr indent="0" lvl="0" marL="0" rtl="0" algn="l">
                        <a:spcBef>
                          <a:spcPts val="0"/>
                        </a:spcBef>
                        <a:spcAft>
                          <a:spcPts val="0"/>
                        </a:spcAft>
                        <a:buNone/>
                      </a:pPr>
                      <a:r>
                        <a:rPr lang="en" sz="800"/>
                        <a:t>Clarified that column = type; drop handler must update the commitment object's type field, not just reorder DOM </a:t>
                      </a:r>
                      <a:endParaRPr sz="800"/>
                    </a:p>
                  </a:txBody>
                  <a:tcPr marT="91425" marB="91425" marR="91425" marL="91425"/>
                </a:tc>
              </a:tr>
              <a:tr h="381000">
                <a:tc>
                  <a:txBody>
                    <a:bodyPr/>
                    <a:lstStyle/>
                    <a:p>
                      <a:pPr indent="0" lvl="0" marL="0" rtl="0" algn="l">
                        <a:spcBef>
                          <a:spcPts val="0"/>
                        </a:spcBef>
                        <a:spcAft>
                          <a:spcPts val="0"/>
                        </a:spcAft>
                        <a:buNone/>
                      </a:pPr>
                      <a:r>
                        <a:rPr lang="en" sz="800"/>
                        <a:t>Assign Owner dropdown showed hardcoded names (Alex, Sarah, Mike) </a:t>
                      </a:r>
                      <a:endParaRPr sz="800"/>
                    </a:p>
                  </a:txBody>
                  <a:tcPr marT="91425" marB="91425" marR="91425" marL="91425"/>
                </a:tc>
                <a:tc>
                  <a:txBody>
                    <a:bodyPr/>
                    <a:lstStyle/>
                    <a:p>
                      <a:pPr indent="0" lvl="0" marL="0" rtl="0" algn="l">
                        <a:spcBef>
                          <a:spcPts val="0"/>
                        </a:spcBef>
                        <a:spcAft>
                          <a:spcPts val="0"/>
                        </a:spcAft>
                        <a:buNone/>
                      </a:pPr>
                      <a:r>
                        <a:rPr lang="en" sz="800"/>
                        <a:t>Owner list must come from actual meeting participants, no invented names </a:t>
                      </a:r>
                      <a:endParaRPr sz="800"/>
                    </a:p>
                  </a:txBody>
                  <a:tcPr marT="91425" marB="91425" marR="91425" marL="91425"/>
                </a:tc>
                <a:tc>
                  <a:txBody>
                    <a:bodyPr/>
                    <a:lstStyle/>
                    <a:p>
                      <a:pPr indent="0" lvl="0" marL="0" rtl="0" algn="l">
                        <a:spcBef>
                          <a:spcPts val="0"/>
                        </a:spcBef>
                        <a:spcAft>
                          <a:spcPts val="0"/>
                        </a:spcAft>
                        <a:buNone/>
                      </a:pPr>
                      <a:r>
                        <a:rPr lang="en" sz="800"/>
                        <a:t>Prompted to derive dropdown options from transcript_moments[].speaker — no static data allowed </a:t>
                      </a:r>
                      <a:endParaRPr sz="800"/>
                    </a:p>
                  </a:txBody>
                  <a:tcPr marT="91425" marB="91425" marR="91425" marL="91425"/>
                </a:tc>
              </a:tr>
              <a:tr h="381000">
                <a:tc>
                  <a:txBody>
                    <a:bodyPr/>
                    <a:lstStyle/>
                    <a:p>
                      <a:pPr indent="0" lvl="0" marL="0" rtl="0" algn="l">
                        <a:spcBef>
                          <a:spcPts val="0"/>
                        </a:spcBef>
                        <a:spcAft>
                          <a:spcPts val="0"/>
                        </a:spcAft>
                        <a:buNone/>
                      </a:pPr>
                      <a:r>
                        <a:rPr lang="en" sz="800"/>
                        <a:t>Transcript tab incorrectly  filtered rows for key moments </a:t>
                      </a:r>
                      <a:endParaRPr sz="800"/>
                    </a:p>
                  </a:txBody>
                  <a:tcPr marT="91425" marB="91425" marR="91425" marL="91425"/>
                </a:tc>
                <a:tc>
                  <a:txBody>
                    <a:bodyPr/>
                    <a:lstStyle/>
                    <a:p>
                      <a:pPr indent="0" lvl="0" marL="0" rtl="0" algn="l">
                        <a:spcBef>
                          <a:spcPts val="0"/>
                        </a:spcBef>
                        <a:spcAft>
                          <a:spcPts val="0"/>
                        </a:spcAft>
                        <a:buNone/>
                      </a:pPr>
                      <a:r>
                        <a:rPr lang="en" sz="800"/>
                        <a:t>Full turn-by-turn log of every speaker turn in the meeting </a:t>
                      </a:r>
                      <a:endParaRPr sz="800"/>
                    </a:p>
                  </a:txBody>
                  <a:tcPr marT="91425" marB="91425" marR="91425" marL="91425"/>
                </a:tc>
                <a:tc>
                  <a:txBody>
                    <a:bodyPr/>
                    <a:lstStyle/>
                    <a:p>
                      <a:pPr indent="0" lvl="0" marL="0" rtl="0" algn="l">
                        <a:spcBef>
                          <a:spcPts val="0"/>
                        </a:spcBef>
                        <a:spcAft>
                          <a:spcPts val="0"/>
                        </a:spcAft>
                        <a:buNone/>
                      </a:pPr>
                      <a:r>
                        <a:rPr lang="en" sz="800"/>
                        <a:t>Renamed tab to "Key Moments," locked filter to is_important === true, clarified this is a curated view not a full transcript </a:t>
                      </a:r>
                      <a:endParaRPr sz="800"/>
                    </a:p>
                  </a:txBody>
                  <a:tcPr marT="91425" marB="91425" marR="91425" marL="91425"/>
                </a:tc>
              </a:tr>
              <a:tr h="381000">
                <a:tc>
                  <a:txBody>
                    <a:bodyPr/>
                    <a:lstStyle/>
                    <a:p>
                      <a:pPr indent="0" lvl="0" marL="0" rtl="0" algn="l">
                        <a:spcBef>
                          <a:spcPts val="0"/>
                        </a:spcBef>
                        <a:spcAft>
                          <a:spcPts val="0"/>
                        </a:spcAft>
                        <a:buNone/>
                      </a:pPr>
                      <a:r>
                        <a:rPr lang="en" sz="800"/>
                        <a:t>Downloaded PDF had raw JSON structure visible; no readable formatting </a:t>
                      </a:r>
                      <a:endParaRPr sz="800"/>
                    </a:p>
                  </a:txBody>
                  <a:tcPr marT="91425" marB="91425" marR="91425" marL="91425"/>
                </a:tc>
                <a:tc>
                  <a:txBody>
                    <a:bodyPr/>
                    <a:lstStyle/>
                    <a:p>
                      <a:pPr indent="0" lvl="0" marL="0" rtl="0" algn="l">
                        <a:spcBef>
                          <a:spcPts val="0"/>
                        </a:spcBef>
                        <a:spcAft>
                          <a:spcPts val="0"/>
                        </a:spcAft>
                        <a:buNone/>
                      </a:pPr>
                      <a:r>
                        <a:rPr lang="en" sz="800"/>
                        <a:t>Clean document with sections: Summary, Key Takeaways, Action Items, Commitments, each clearly headed </a:t>
                      </a:r>
                      <a:endParaRPr sz="800"/>
                    </a:p>
                  </a:txBody>
                  <a:tcPr marT="91425" marB="91425" marR="91425" marL="91425"/>
                </a:tc>
                <a:tc>
                  <a:txBody>
                    <a:bodyPr/>
                    <a:lstStyle/>
                    <a:p>
                      <a:pPr indent="0" lvl="0" marL="0" rtl="0" algn="l">
                        <a:spcBef>
                          <a:spcPts val="0"/>
                        </a:spcBef>
                        <a:spcAft>
                          <a:spcPts val="0"/>
                        </a:spcAft>
                        <a:buNone/>
                      </a:pPr>
                      <a:r>
                        <a:rPr lang="en" sz="800"/>
                        <a:t>Specified PDF layout section by section with heading hierarchy, font size, and no raw field names visible </a:t>
                      </a:r>
                      <a:endParaRPr sz="800"/>
                    </a:p>
                  </a:txBody>
                  <a:tcPr marT="91425" marB="91425" marR="91425" marL="91425"/>
                </a:tc>
              </a:tr>
            </a:tbl>
          </a:graphicData>
        </a:graphic>
      </p:graphicFrame>
      <p:sp>
        <p:nvSpPr>
          <p:cNvPr id="409" name="Google Shape;409;p24"/>
          <p:cNvSpPr txBox="1"/>
          <p:nvPr/>
        </p:nvSpPr>
        <p:spPr>
          <a:xfrm>
            <a:off x="2059824" y="4337476"/>
            <a:ext cx="62328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1"/>
                </a:solidFill>
              </a:rPr>
              <a:t>Accountability Board iterations (column structure, drag reclassification logic, dynamic owner list) consumed the largest share. PDF layout required 3 correction cycles to get clean section rendering without raw JSON bleed-through. Each fix meant a full rebuild-and-test loop through the prompt. </a:t>
            </a:r>
            <a:endParaRPr sz="800">
              <a:solidFill>
                <a:schemeClr val="dk1"/>
              </a:solidFill>
            </a:endParaRPr>
          </a:p>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C"/>
        </a:solidFill>
      </p:bgPr>
    </p:bg>
    <p:spTree>
      <p:nvGrpSpPr>
        <p:cNvPr id="414" name="Shape 414"/>
        <p:cNvGrpSpPr/>
        <p:nvPr/>
      </p:nvGrpSpPr>
      <p:grpSpPr>
        <a:xfrm>
          <a:off x="0" y="0"/>
          <a:ext cx="0" cy="0"/>
          <a:chOff x="0" y="0"/>
          <a:chExt cx="0" cy="0"/>
        </a:xfrm>
      </p:grpSpPr>
      <p:sp>
        <p:nvSpPr>
          <p:cNvPr id="415" name="Google Shape;415;p25"/>
          <p:cNvSpPr/>
          <p:nvPr/>
        </p:nvSpPr>
        <p:spPr>
          <a:xfrm>
            <a:off x="457200" y="528638"/>
            <a:ext cx="9052560" cy="320218"/>
          </a:xfrm>
          <a:prstGeom prst="rect">
            <a:avLst/>
          </a:prstGeom>
          <a:noFill/>
          <a:ln>
            <a:noFill/>
          </a:ln>
        </p:spPr>
        <p:txBody>
          <a:bodyPr anchorCtr="0" anchor="t" bIns="12700" lIns="12700" spcFirstLastPara="1" rIns="12700" wrap="square" tIns="12700">
            <a:noAutofit/>
          </a:bodyPr>
          <a:lstStyle/>
          <a:p>
            <a:pPr indent="0" lvl="0" marL="0" marR="0" rtl="0" algn="l">
              <a:lnSpc>
                <a:spcPct val="84096"/>
              </a:lnSpc>
              <a:spcBef>
                <a:spcPts val="0"/>
              </a:spcBef>
              <a:spcAft>
                <a:spcPts val="0"/>
              </a:spcAft>
              <a:buClr>
                <a:srgbClr val="1F2937"/>
              </a:buClr>
              <a:buSzPts val="2300"/>
              <a:buFont typeface="Inter"/>
              <a:buNone/>
            </a:pPr>
            <a:r>
              <a:rPr b="1" i="0" lang="en" sz="2300" u="none" cap="none" strike="noStrike">
                <a:solidFill>
                  <a:srgbClr val="1F2937"/>
                </a:solidFill>
                <a:latin typeface="Inter"/>
                <a:ea typeface="Inter"/>
                <a:cs typeface="Inter"/>
                <a:sym typeface="Inter"/>
              </a:rPr>
              <a:t>What </a:t>
            </a:r>
            <a:r>
              <a:rPr b="1" lang="en" sz="2300">
                <a:solidFill>
                  <a:srgbClr val="1F2937"/>
                </a:solidFill>
                <a:latin typeface="Inter"/>
                <a:ea typeface="Inter"/>
                <a:cs typeface="Inter"/>
                <a:sym typeface="Inter"/>
              </a:rPr>
              <a:t>we</a:t>
            </a:r>
            <a:r>
              <a:rPr b="1" i="0" lang="en" sz="2300" u="none" cap="none" strike="noStrike">
                <a:solidFill>
                  <a:srgbClr val="1F2937"/>
                </a:solidFill>
                <a:latin typeface="Inter"/>
                <a:ea typeface="Inter"/>
                <a:cs typeface="Inter"/>
                <a:sym typeface="Inter"/>
              </a:rPr>
              <a:t> actually built</a:t>
            </a:r>
            <a:endParaRPr b="0" i="0" sz="2300" u="none" cap="none" strike="noStrike">
              <a:solidFill>
                <a:schemeClr val="dk1"/>
              </a:solidFill>
              <a:latin typeface="Calibri"/>
              <a:ea typeface="Calibri"/>
              <a:cs typeface="Calibri"/>
              <a:sym typeface="Calibri"/>
            </a:endParaRPr>
          </a:p>
        </p:txBody>
      </p:sp>
      <p:sp>
        <p:nvSpPr>
          <p:cNvPr id="416" name="Google Shape;416;p25"/>
          <p:cNvSpPr/>
          <p:nvPr/>
        </p:nvSpPr>
        <p:spPr>
          <a:xfrm>
            <a:off x="457200" y="906006"/>
            <a:ext cx="6810375" cy="191691"/>
          </a:xfrm>
          <a:prstGeom prst="rect">
            <a:avLst/>
          </a:prstGeom>
          <a:noFill/>
          <a:ln>
            <a:noFill/>
          </a:ln>
        </p:spPr>
        <p:txBody>
          <a:bodyPr anchorCtr="0" anchor="t" bIns="12700" lIns="12700" spcFirstLastPara="1" rIns="12700" wrap="square" tIns="12700">
            <a:noAutofit/>
          </a:bodyPr>
          <a:lstStyle/>
          <a:p>
            <a:pPr indent="0" lvl="0" marL="0" marR="0" rtl="0" algn="l">
              <a:lnSpc>
                <a:spcPct val="119243"/>
              </a:lnSpc>
              <a:spcBef>
                <a:spcPts val="0"/>
              </a:spcBef>
              <a:spcAft>
                <a:spcPts val="0"/>
              </a:spcAft>
              <a:buClr>
                <a:srgbClr val="4B5563"/>
              </a:buClr>
              <a:buSzPts val="900"/>
              <a:buFont typeface="Inter"/>
              <a:buNone/>
            </a:pPr>
            <a:r>
              <a:rPr lang="en" sz="900">
                <a:solidFill>
                  <a:srgbClr val="4B5563"/>
                </a:solidFill>
                <a:latin typeface="Inter"/>
                <a:ea typeface="Inter"/>
                <a:cs typeface="Inter"/>
                <a:sym typeface="Inter"/>
              </a:rPr>
              <a:t>Everything in this table was live and working — zero 'in progress' rows. </a:t>
            </a:r>
            <a:endParaRPr b="0" i="0" sz="900" u="none" cap="none" strike="noStrike">
              <a:solidFill>
                <a:schemeClr val="dk1"/>
              </a:solidFill>
              <a:latin typeface="Calibri"/>
              <a:ea typeface="Calibri"/>
              <a:cs typeface="Calibri"/>
              <a:sym typeface="Calibri"/>
            </a:endParaRPr>
          </a:p>
        </p:txBody>
      </p:sp>
      <p:sp>
        <p:nvSpPr>
          <p:cNvPr id="417" name="Google Shape;417;p25"/>
          <p:cNvSpPr/>
          <p:nvPr/>
        </p:nvSpPr>
        <p:spPr>
          <a:xfrm>
            <a:off x="457200" y="1221522"/>
            <a:ext cx="8229600" cy="208407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18" name="Google Shape;418;p25"/>
          <p:cNvSpPr/>
          <p:nvPr/>
        </p:nvSpPr>
        <p:spPr>
          <a:xfrm>
            <a:off x="461010" y="1225331"/>
            <a:ext cx="8221980" cy="251460"/>
          </a:xfrm>
          <a:prstGeom prst="rect">
            <a:avLst/>
          </a:prstGeom>
          <a:solidFill>
            <a:srgbClr val="F5F3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19" name="Google Shape;419;p25"/>
          <p:cNvSpPr/>
          <p:nvPr/>
        </p:nvSpPr>
        <p:spPr>
          <a:xfrm>
            <a:off x="461010" y="1472982"/>
            <a:ext cx="8221980" cy="4763"/>
          </a:xfrm>
          <a:prstGeom prst="rect">
            <a:avLst/>
          </a:prstGeom>
          <a:solidFill>
            <a:srgbClr val="E5E7E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20" name="Google Shape;420;p25"/>
          <p:cNvSpPr/>
          <p:nvPr/>
        </p:nvSpPr>
        <p:spPr>
          <a:xfrm>
            <a:off x="565785" y="1292007"/>
            <a:ext cx="2341245" cy="1333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SCREEN</a:t>
            </a:r>
            <a:endParaRPr b="0" i="0" sz="900" u="none" cap="none" strike="noStrike">
              <a:solidFill>
                <a:schemeClr val="dk1"/>
              </a:solidFill>
              <a:latin typeface="Calibri"/>
              <a:ea typeface="Calibri"/>
              <a:cs typeface="Calibri"/>
              <a:sym typeface="Calibri"/>
            </a:endParaRPr>
          </a:p>
        </p:txBody>
      </p:sp>
      <p:sp>
        <p:nvSpPr>
          <p:cNvPr id="421" name="Google Shape;421;p25"/>
          <p:cNvSpPr/>
          <p:nvPr/>
        </p:nvSpPr>
        <p:spPr>
          <a:xfrm>
            <a:off x="3042285" y="1292007"/>
            <a:ext cx="4727220" cy="1333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WHAT A USER CAN DO THERE</a:t>
            </a:r>
            <a:endParaRPr b="0" i="0" sz="900" u="none" cap="none" strike="noStrike">
              <a:solidFill>
                <a:schemeClr val="dk1"/>
              </a:solidFill>
              <a:latin typeface="Calibri"/>
              <a:ea typeface="Calibri"/>
              <a:cs typeface="Calibri"/>
              <a:sym typeface="Calibri"/>
            </a:endParaRPr>
          </a:p>
        </p:txBody>
      </p:sp>
      <p:sp>
        <p:nvSpPr>
          <p:cNvPr id="422" name="Google Shape;422;p25"/>
          <p:cNvSpPr/>
          <p:nvPr/>
        </p:nvSpPr>
        <p:spPr>
          <a:xfrm>
            <a:off x="7835266" y="1292007"/>
            <a:ext cx="781050" cy="1333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BUILT?</a:t>
            </a:r>
            <a:endParaRPr b="0" i="0" sz="900" u="none" cap="none" strike="noStrike">
              <a:solidFill>
                <a:schemeClr val="dk1"/>
              </a:solidFill>
              <a:latin typeface="Calibri"/>
              <a:ea typeface="Calibri"/>
              <a:cs typeface="Calibri"/>
              <a:sym typeface="Calibri"/>
            </a:endParaRPr>
          </a:p>
        </p:txBody>
      </p:sp>
      <p:sp>
        <p:nvSpPr>
          <p:cNvPr id="423" name="Google Shape;423;p25"/>
          <p:cNvSpPr/>
          <p:nvPr/>
        </p:nvSpPr>
        <p:spPr>
          <a:xfrm>
            <a:off x="461010" y="1838742"/>
            <a:ext cx="8221980" cy="4763"/>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24" name="Google Shape;424;p25"/>
          <p:cNvSpPr/>
          <p:nvPr/>
        </p:nvSpPr>
        <p:spPr>
          <a:xfrm>
            <a:off x="2937510" y="1476792"/>
            <a:ext cx="4763" cy="3619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25" name="Google Shape;425;p25"/>
          <p:cNvSpPr/>
          <p:nvPr/>
        </p:nvSpPr>
        <p:spPr>
          <a:xfrm>
            <a:off x="7730491" y="1476792"/>
            <a:ext cx="4763" cy="3619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26" name="Google Shape;426;p25"/>
          <p:cNvSpPr/>
          <p:nvPr/>
        </p:nvSpPr>
        <p:spPr>
          <a:xfrm>
            <a:off x="461010" y="1842552"/>
            <a:ext cx="8221980" cy="36576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27" name="Google Shape;427;p25"/>
          <p:cNvSpPr/>
          <p:nvPr/>
        </p:nvSpPr>
        <p:spPr>
          <a:xfrm>
            <a:off x="461010" y="2204502"/>
            <a:ext cx="8221980" cy="4763"/>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28" name="Google Shape;428;p25"/>
          <p:cNvSpPr/>
          <p:nvPr/>
        </p:nvSpPr>
        <p:spPr>
          <a:xfrm>
            <a:off x="2937510" y="1842552"/>
            <a:ext cx="4763" cy="3619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29" name="Google Shape;429;p25"/>
          <p:cNvSpPr/>
          <p:nvPr/>
        </p:nvSpPr>
        <p:spPr>
          <a:xfrm>
            <a:off x="7730491" y="1842552"/>
            <a:ext cx="4763" cy="3619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0" name="Google Shape;430;p25"/>
          <p:cNvSpPr/>
          <p:nvPr/>
        </p:nvSpPr>
        <p:spPr>
          <a:xfrm>
            <a:off x="461010" y="2570262"/>
            <a:ext cx="8221980" cy="4763"/>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1" name="Google Shape;431;p25"/>
          <p:cNvSpPr/>
          <p:nvPr/>
        </p:nvSpPr>
        <p:spPr>
          <a:xfrm>
            <a:off x="2937510" y="2208312"/>
            <a:ext cx="4763" cy="3619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2" name="Google Shape;432;p25"/>
          <p:cNvSpPr/>
          <p:nvPr/>
        </p:nvSpPr>
        <p:spPr>
          <a:xfrm>
            <a:off x="7730491" y="2208312"/>
            <a:ext cx="4763" cy="3619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3" name="Google Shape;433;p25"/>
          <p:cNvSpPr/>
          <p:nvPr/>
        </p:nvSpPr>
        <p:spPr>
          <a:xfrm>
            <a:off x="461010" y="2574072"/>
            <a:ext cx="8221980" cy="365760"/>
          </a:xfrm>
          <a:prstGeom prst="rect">
            <a:avLst/>
          </a:prstGeom>
          <a:solidFill>
            <a:srgbClr val="FCFC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4" name="Google Shape;434;p25"/>
          <p:cNvSpPr/>
          <p:nvPr/>
        </p:nvSpPr>
        <p:spPr>
          <a:xfrm>
            <a:off x="461010" y="2936022"/>
            <a:ext cx="8221980" cy="4763"/>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5" name="Google Shape;435;p25"/>
          <p:cNvSpPr/>
          <p:nvPr/>
        </p:nvSpPr>
        <p:spPr>
          <a:xfrm>
            <a:off x="2937510" y="2574072"/>
            <a:ext cx="4763" cy="3619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6" name="Google Shape;436;p25"/>
          <p:cNvSpPr/>
          <p:nvPr/>
        </p:nvSpPr>
        <p:spPr>
          <a:xfrm>
            <a:off x="7730491" y="2574072"/>
            <a:ext cx="4763" cy="3619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7" name="Google Shape;437;p25"/>
          <p:cNvSpPr/>
          <p:nvPr/>
        </p:nvSpPr>
        <p:spPr>
          <a:xfrm>
            <a:off x="2937510" y="2939832"/>
            <a:ext cx="4763" cy="3619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8" name="Google Shape;438;p25"/>
          <p:cNvSpPr/>
          <p:nvPr/>
        </p:nvSpPr>
        <p:spPr>
          <a:xfrm>
            <a:off x="7730491" y="2939832"/>
            <a:ext cx="4763" cy="361950"/>
          </a:xfrm>
          <a:prstGeom prst="rect">
            <a:avLst/>
          </a:prstGeom>
          <a:solidFill>
            <a:srgbClr val="F0F0F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9" name="Google Shape;439;p25"/>
          <p:cNvSpPr/>
          <p:nvPr/>
        </p:nvSpPr>
        <p:spPr>
          <a:xfrm>
            <a:off x="457200" y="3429424"/>
            <a:ext cx="4062300" cy="1248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40" name="Google Shape;440;p25"/>
          <p:cNvSpPr/>
          <p:nvPr/>
        </p:nvSpPr>
        <p:spPr>
          <a:xfrm>
            <a:off x="584835" y="3538002"/>
            <a:ext cx="4187857" cy="1333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BACKEND USED</a:t>
            </a:r>
            <a:endParaRPr b="0" i="0" sz="900" u="none" cap="none" strike="noStrike">
              <a:solidFill>
                <a:schemeClr val="dk1"/>
              </a:solidFill>
              <a:latin typeface="Calibri"/>
              <a:ea typeface="Calibri"/>
              <a:cs typeface="Calibri"/>
              <a:sym typeface="Calibri"/>
            </a:endParaRPr>
          </a:p>
        </p:txBody>
      </p:sp>
      <p:sp>
        <p:nvSpPr>
          <p:cNvPr id="441" name="Google Shape;441;p25"/>
          <p:cNvSpPr/>
          <p:nvPr/>
        </p:nvSpPr>
        <p:spPr>
          <a:xfrm>
            <a:off x="584826" y="3690400"/>
            <a:ext cx="3742800" cy="192300"/>
          </a:xfrm>
          <a:prstGeom prst="rect">
            <a:avLst/>
          </a:prstGeom>
          <a:noFill/>
          <a:ln>
            <a:noFill/>
          </a:ln>
        </p:spPr>
        <p:txBody>
          <a:bodyPr anchorCtr="0" anchor="t" bIns="12700" lIns="12700" spcFirstLastPara="1" rIns="12700" wrap="square" tIns="12700">
            <a:noAutofit/>
          </a:bodyPr>
          <a:lstStyle/>
          <a:p>
            <a:pPr indent="0" lvl="0" marL="0" marR="0" rtl="0" algn="l">
              <a:lnSpc>
                <a:spcPct val="116667"/>
              </a:lnSpc>
              <a:spcBef>
                <a:spcPts val="0"/>
              </a:spcBef>
              <a:spcAft>
                <a:spcPts val="0"/>
              </a:spcAft>
              <a:buClr>
                <a:srgbClr val="6B7280"/>
              </a:buClr>
              <a:buSzPts val="1000"/>
              <a:buFont typeface="Inter"/>
              <a:buNone/>
            </a:pPr>
            <a:r>
              <a:rPr lang="en" sz="1000">
                <a:solidFill>
                  <a:schemeClr val="dk1"/>
                </a:solidFill>
                <a:latin typeface="Inter"/>
                <a:ea typeface="Inter"/>
                <a:cs typeface="Inter"/>
                <a:sym typeface="Inter"/>
              </a:rPr>
              <a:t>No. MeetIQ runs entirely in the browser. All processing happens natively through Lovable's internal AI capabilities  from the frontend. There is no server, no database, and no backend infrastructure. Session state lives in React component state only. </a:t>
            </a:r>
            <a:endParaRPr b="0" i="0" sz="1000" u="none" cap="none" strike="noStrike">
              <a:solidFill>
                <a:schemeClr val="dk1"/>
              </a:solidFill>
              <a:latin typeface="Calibri"/>
              <a:ea typeface="Calibri"/>
              <a:cs typeface="Calibri"/>
              <a:sym typeface="Calibri"/>
            </a:endParaRPr>
          </a:p>
        </p:txBody>
      </p:sp>
      <p:sp>
        <p:nvSpPr>
          <p:cNvPr id="442" name="Google Shape;442;p25"/>
          <p:cNvSpPr/>
          <p:nvPr/>
        </p:nvSpPr>
        <p:spPr>
          <a:xfrm>
            <a:off x="4624400" y="3429435"/>
            <a:ext cx="4062300" cy="1248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43" name="Google Shape;443;p25"/>
          <p:cNvSpPr/>
          <p:nvPr/>
        </p:nvSpPr>
        <p:spPr>
          <a:xfrm>
            <a:off x="4752022" y="3538002"/>
            <a:ext cx="4187857" cy="1333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RECORDS PERSIST</a:t>
            </a:r>
            <a:endParaRPr b="0" i="0" sz="900" u="none" cap="none" strike="noStrike">
              <a:solidFill>
                <a:schemeClr val="dk1"/>
              </a:solidFill>
              <a:latin typeface="Calibri"/>
              <a:ea typeface="Calibri"/>
              <a:cs typeface="Calibri"/>
              <a:sym typeface="Calibri"/>
            </a:endParaRPr>
          </a:p>
        </p:txBody>
      </p:sp>
      <p:sp>
        <p:nvSpPr>
          <p:cNvPr id="444" name="Google Shape;444;p25"/>
          <p:cNvSpPr/>
          <p:nvPr/>
        </p:nvSpPr>
        <p:spPr>
          <a:xfrm>
            <a:off x="4752024" y="3690400"/>
            <a:ext cx="3308100" cy="192300"/>
          </a:xfrm>
          <a:prstGeom prst="rect">
            <a:avLst/>
          </a:prstGeom>
          <a:noFill/>
          <a:ln>
            <a:noFill/>
          </a:ln>
        </p:spPr>
        <p:txBody>
          <a:bodyPr anchorCtr="0" anchor="t" bIns="12700" lIns="12700" spcFirstLastPara="1" rIns="12700" wrap="square" tIns="12700">
            <a:noAutofit/>
          </a:bodyPr>
          <a:lstStyle/>
          <a:p>
            <a:pPr indent="0" lvl="0" marL="0" rtl="0" algn="l">
              <a:spcBef>
                <a:spcPts val="0"/>
              </a:spcBef>
              <a:spcAft>
                <a:spcPts val="0"/>
              </a:spcAft>
              <a:buNone/>
            </a:pPr>
            <a:r>
              <a:rPr lang="en" sz="1100"/>
              <a:t>No. Every session is stateless. When the user closes or refreshes the tab, all data is gone. This is a deliberate privacy design choice — no transcript, no summary, and no commitment data is ever stored anywhere. </a:t>
            </a:r>
            <a:endParaRPr sz="1100"/>
          </a:p>
          <a:p>
            <a:pPr indent="0" lvl="0" marL="0" marR="0" rtl="0" algn="l">
              <a:lnSpc>
                <a:spcPct val="116667"/>
              </a:lnSpc>
              <a:spcBef>
                <a:spcPts val="0"/>
              </a:spcBef>
              <a:spcAft>
                <a:spcPts val="0"/>
              </a:spcAft>
              <a:buClr>
                <a:srgbClr val="6B7280"/>
              </a:buClr>
              <a:buSzPts val="1000"/>
              <a:buFont typeface="Inter"/>
              <a:buNone/>
            </a:pPr>
            <a:r>
              <a:t/>
            </a:r>
            <a:endParaRPr sz="1000">
              <a:solidFill>
                <a:srgbClr val="6B7280"/>
              </a:solidFill>
              <a:latin typeface="Inter"/>
              <a:ea typeface="Inter"/>
              <a:cs typeface="Inter"/>
              <a:sym typeface="Inter"/>
            </a:endParaRPr>
          </a:p>
        </p:txBody>
      </p:sp>
      <p:sp>
        <p:nvSpPr>
          <p:cNvPr id="445" name="Google Shape;445;p25"/>
          <p:cNvSpPr txBox="1"/>
          <p:nvPr/>
        </p:nvSpPr>
        <p:spPr>
          <a:xfrm>
            <a:off x="685344" y="1505425"/>
            <a:ext cx="2226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Workspace </a:t>
            </a:r>
            <a:endParaRPr/>
          </a:p>
        </p:txBody>
      </p:sp>
      <p:sp>
        <p:nvSpPr>
          <p:cNvPr id="446" name="Google Shape;446;p25"/>
          <p:cNvSpPr txBox="1"/>
          <p:nvPr/>
        </p:nvSpPr>
        <p:spPr>
          <a:xfrm>
            <a:off x="663266" y="1880138"/>
            <a:ext cx="2085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New Meeting </a:t>
            </a:r>
            <a:endParaRPr/>
          </a:p>
        </p:txBody>
      </p:sp>
      <p:sp>
        <p:nvSpPr>
          <p:cNvPr id="447" name="Google Shape;447;p25"/>
          <p:cNvSpPr txBox="1"/>
          <p:nvPr/>
        </p:nvSpPr>
        <p:spPr>
          <a:xfrm>
            <a:off x="3031500" y="1484700"/>
            <a:ext cx="4727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Upload a transcript, view meetings processed in the current session, and open a meeting </a:t>
            </a:r>
            <a:endParaRPr sz="900"/>
          </a:p>
        </p:txBody>
      </p:sp>
      <p:sp>
        <p:nvSpPr>
          <p:cNvPr id="448" name="Google Shape;448;p25"/>
          <p:cNvSpPr txBox="1"/>
          <p:nvPr/>
        </p:nvSpPr>
        <p:spPr>
          <a:xfrm>
            <a:off x="3027841" y="1775004"/>
            <a:ext cx="4501500" cy="1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Enter a meeting title, upload a </a:t>
            </a:r>
            <a:r>
              <a:rPr lang="en" sz="900">
                <a:solidFill>
                  <a:srgbClr val="188038"/>
                </a:solidFill>
                <a:latin typeface="Roboto Mono"/>
                <a:ea typeface="Roboto Mono"/>
                <a:cs typeface="Roboto Mono"/>
                <a:sym typeface="Roboto Mono"/>
              </a:rPr>
              <a:t>.txt</a:t>
            </a:r>
            <a:r>
              <a:rPr lang="en" sz="900">
                <a:solidFill>
                  <a:schemeClr val="dk1"/>
                </a:solidFill>
              </a:rPr>
              <a:t> / </a:t>
            </a:r>
            <a:r>
              <a:rPr lang="en" sz="900">
                <a:solidFill>
                  <a:srgbClr val="188038"/>
                </a:solidFill>
                <a:latin typeface="Roboto Mono"/>
                <a:ea typeface="Roboto Mono"/>
                <a:cs typeface="Roboto Mono"/>
                <a:sym typeface="Roboto Mono"/>
              </a:rPr>
              <a:t>.md</a:t>
            </a:r>
            <a:r>
              <a:rPr lang="en" sz="900">
                <a:solidFill>
                  <a:schemeClr val="dk1"/>
                </a:solidFill>
              </a:rPr>
              <a:t> file or paste a transcript, then start AI analysis </a:t>
            </a:r>
            <a:endParaRPr sz="900"/>
          </a:p>
        </p:txBody>
      </p:sp>
      <p:sp>
        <p:nvSpPr>
          <p:cNvPr id="449" name="Google Shape;449;p25"/>
          <p:cNvSpPr txBox="1"/>
          <p:nvPr/>
        </p:nvSpPr>
        <p:spPr>
          <a:xfrm>
            <a:off x="718529" y="2268082"/>
            <a:ext cx="17256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Meeting Overview </a:t>
            </a:r>
            <a:endParaRPr sz="1000"/>
          </a:p>
        </p:txBody>
      </p:sp>
      <p:sp>
        <p:nvSpPr>
          <p:cNvPr id="450" name="Google Shape;450;p25"/>
          <p:cNvSpPr txBox="1"/>
          <p:nvPr/>
        </p:nvSpPr>
        <p:spPr>
          <a:xfrm>
            <a:off x="694321" y="2660288"/>
            <a:ext cx="20859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t>Key Moments / Accountability </a:t>
            </a:r>
            <a:endParaRPr sz="900"/>
          </a:p>
        </p:txBody>
      </p:sp>
      <p:sp>
        <p:nvSpPr>
          <p:cNvPr id="451" name="Google Shape;451;p25"/>
          <p:cNvSpPr txBox="1"/>
          <p:nvPr/>
        </p:nvSpPr>
        <p:spPr>
          <a:xfrm>
            <a:off x="697007" y="2974032"/>
            <a:ext cx="20529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Ask AI / Share </a:t>
            </a:r>
            <a:endParaRPr sz="1000"/>
          </a:p>
        </p:txBody>
      </p:sp>
      <p:sp>
        <p:nvSpPr>
          <p:cNvPr id="452" name="Google Shape;452;p25"/>
          <p:cNvSpPr txBox="1"/>
          <p:nvPr/>
        </p:nvSpPr>
        <p:spPr>
          <a:xfrm>
            <a:off x="3016625" y="2234450"/>
            <a:ext cx="46338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t>View the AI summary, key takeaways, decisions, action items, unresolved questions, and topics </a:t>
            </a:r>
            <a:endParaRPr sz="900"/>
          </a:p>
        </p:txBody>
      </p:sp>
      <p:sp>
        <p:nvSpPr>
          <p:cNvPr id="453" name="Google Shape;453;p25"/>
          <p:cNvSpPr txBox="1"/>
          <p:nvPr/>
        </p:nvSpPr>
        <p:spPr>
          <a:xfrm>
            <a:off x="3015946" y="2541487"/>
            <a:ext cx="4727100" cy="1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t>Review important meeting moments and see commitments classified as confirmed, orphaned, or passing, with accountability details. </a:t>
            </a:r>
            <a:endParaRPr sz="900"/>
          </a:p>
        </p:txBody>
      </p:sp>
      <p:sp>
        <p:nvSpPr>
          <p:cNvPr id="454" name="Google Shape;454;p25"/>
          <p:cNvSpPr txBox="1"/>
          <p:nvPr/>
        </p:nvSpPr>
        <p:spPr>
          <a:xfrm>
            <a:off x="3022461" y="2918000"/>
            <a:ext cx="4555200" cy="32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t>Ask transcript-grounded questions, download the accountability report as PDF, and share it through email </a:t>
            </a:r>
            <a:endParaRPr sz="900"/>
          </a:p>
        </p:txBody>
      </p:sp>
      <p:sp>
        <p:nvSpPr>
          <p:cNvPr id="455" name="Google Shape;455;p25"/>
          <p:cNvSpPr txBox="1"/>
          <p:nvPr/>
        </p:nvSpPr>
        <p:spPr>
          <a:xfrm>
            <a:off x="7868775" y="1506078"/>
            <a:ext cx="549000" cy="13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t>yes</a:t>
            </a:r>
            <a:endParaRPr sz="900"/>
          </a:p>
        </p:txBody>
      </p:sp>
      <p:sp>
        <p:nvSpPr>
          <p:cNvPr id="456" name="Google Shape;456;p25"/>
          <p:cNvSpPr txBox="1"/>
          <p:nvPr/>
        </p:nvSpPr>
        <p:spPr>
          <a:xfrm>
            <a:off x="9549650" y="1819825"/>
            <a:ext cx="568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457" name="Google Shape;457;p25"/>
          <p:cNvSpPr txBox="1"/>
          <p:nvPr/>
        </p:nvSpPr>
        <p:spPr>
          <a:xfrm>
            <a:off x="7913600" y="1887075"/>
            <a:ext cx="5043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t>yes</a:t>
            </a:r>
            <a:endParaRPr sz="900"/>
          </a:p>
        </p:txBody>
      </p:sp>
      <p:sp>
        <p:nvSpPr>
          <p:cNvPr id="458" name="Google Shape;458;p25"/>
          <p:cNvSpPr txBox="1"/>
          <p:nvPr/>
        </p:nvSpPr>
        <p:spPr>
          <a:xfrm>
            <a:off x="7947200" y="2301700"/>
            <a:ext cx="5043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t>yes</a:t>
            </a:r>
            <a:endParaRPr sz="900"/>
          </a:p>
        </p:txBody>
      </p:sp>
      <p:sp>
        <p:nvSpPr>
          <p:cNvPr id="459" name="Google Shape;459;p25"/>
          <p:cNvSpPr txBox="1"/>
          <p:nvPr/>
        </p:nvSpPr>
        <p:spPr>
          <a:xfrm>
            <a:off x="7913600" y="2593046"/>
            <a:ext cx="549000" cy="2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yes</a:t>
            </a:r>
            <a:endParaRPr sz="1000"/>
          </a:p>
        </p:txBody>
      </p:sp>
      <p:sp>
        <p:nvSpPr>
          <p:cNvPr id="460" name="Google Shape;460;p25"/>
          <p:cNvSpPr txBox="1"/>
          <p:nvPr/>
        </p:nvSpPr>
        <p:spPr>
          <a:xfrm>
            <a:off x="7958425" y="2940416"/>
            <a:ext cx="504300" cy="1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t>yes</a:t>
            </a:r>
            <a:endParaRPr sz="9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C"/>
        </a:solidFill>
      </p:bgPr>
    </p:bg>
    <p:spTree>
      <p:nvGrpSpPr>
        <p:cNvPr id="465" name="Shape 465"/>
        <p:cNvGrpSpPr/>
        <p:nvPr/>
      </p:nvGrpSpPr>
      <p:grpSpPr>
        <a:xfrm>
          <a:off x="0" y="0"/>
          <a:ext cx="0" cy="0"/>
          <a:chOff x="0" y="0"/>
          <a:chExt cx="0" cy="0"/>
        </a:xfrm>
      </p:grpSpPr>
      <p:sp>
        <p:nvSpPr>
          <p:cNvPr id="466" name="Google Shape;466;p26"/>
          <p:cNvSpPr/>
          <p:nvPr/>
        </p:nvSpPr>
        <p:spPr>
          <a:xfrm>
            <a:off x="457200" y="528638"/>
            <a:ext cx="9052560" cy="320218"/>
          </a:xfrm>
          <a:prstGeom prst="rect">
            <a:avLst/>
          </a:prstGeom>
          <a:noFill/>
          <a:ln>
            <a:noFill/>
          </a:ln>
        </p:spPr>
        <p:txBody>
          <a:bodyPr anchorCtr="0" anchor="t" bIns="12700" lIns="12700" spcFirstLastPara="1" rIns="12700" wrap="square" tIns="12700">
            <a:noAutofit/>
          </a:bodyPr>
          <a:lstStyle/>
          <a:p>
            <a:pPr indent="0" lvl="0" marL="0" marR="0" rtl="0" algn="l">
              <a:lnSpc>
                <a:spcPct val="84096"/>
              </a:lnSpc>
              <a:spcBef>
                <a:spcPts val="0"/>
              </a:spcBef>
              <a:spcAft>
                <a:spcPts val="0"/>
              </a:spcAft>
              <a:buClr>
                <a:srgbClr val="1F2937"/>
              </a:buClr>
              <a:buSzPts val="2300"/>
              <a:buFont typeface="Inter"/>
              <a:buNone/>
            </a:pPr>
            <a:r>
              <a:rPr b="1" i="0" lang="en" sz="2300" u="none" cap="none" strike="noStrike">
                <a:solidFill>
                  <a:srgbClr val="1F2937"/>
                </a:solidFill>
                <a:latin typeface="Inter"/>
                <a:ea typeface="Inter"/>
                <a:cs typeface="Inter"/>
                <a:sym typeface="Inter"/>
              </a:rPr>
              <a:t>The live link, and three checks</a:t>
            </a:r>
            <a:endParaRPr b="0" i="0" sz="2300" u="none" cap="none" strike="noStrike">
              <a:solidFill>
                <a:schemeClr val="dk1"/>
              </a:solidFill>
              <a:latin typeface="Calibri"/>
              <a:ea typeface="Calibri"/>
              <a:cs typeface="Calibri"/>
              <a:sym typeface="Calibri"/>
            </a:endParaRPr>
          </a:p>
        </p:txBody>
      </p:sp>
      <p:sp>
        <p:nvSpPr>
          <p:cNvPr id="467" name="Google Shape;467;p26"/>
          <p:cNvSpPr/>
          <p:nvPr/>
        </p:nvSpPr>
        <p:spPr>
          <a:xfrm>
            <a:off x="457200" y="906006"/>
            <a:ext cx="7334250" cy="191691"/>
          </a:xfrm>
          <a:prstGeom prst="rect">
            <a:avLst/>
          </a:prstGeom>
          <a:noFill/>
          <a:ln>
            <a:noFill/>
          </a:ln>
        </p:spPr>
        <p:txBody>
          <a:bodyPr anchorCtr="0" anchor="t" bIns="12700" lIns="12700" spcFirstLastPara="1" rIns="12700" wrap="square" tIns="12700">
            <a:noAutofit/>
          </a:bodyPr>
          <a:lstStyle/>
          <a:p>
            <a:pPr indent="0" lvl="0" marL="0" marR="0" rtl="0" algn="l">
              <a:lnSpc>
                <a:spcPct val="119243"/>
              </a:lnSpc>
              <a:spcBef>
                <a:spcPts val="0"/>
              </a:spcBef>
              <a:spcAft>
                <a:spcPts val="0"/>
              </a:spcAft>
              <a:buClr>
                <a:srgbClr val="4B5563"/>
              </a:buClr>
              <a:buSzPts val="900"/>
              <a:buFont typeface="Inter"/>
              <a:buNone/>
            </a:pPr>
            <a:r>
              <a:rPr lang="en" sz="900">
                <a:solidFill>
                  <a:srgbClr val="4B5563"/>
                </a:solidFill>
                <a:latin typeface="Inter"/>
                <a:ea typeface="Inter"/>
                <a:cs typeface="Inter"/>
                <a:sym typeface="Inter"/>
              </a:rPr>
              <a:t>Three checks run before sharing. All three passed.</a:t>
            </a:r>
            <a:endParaRPr b="0" i="0" sz="900" u="none" cap="none" strike="noStrike">
              <a:solidFill>
                <a:schemeClr val="dk1"/>
              </a:solidFill>
              <a:latin typeface="Calibri"/>
              <a:ea typeface="Calibri"/>
              <a:cs typeface="Calibri"/>
              <a:sym typeface="Calibri"/>
            </a:endParaRPr>
          </a:p>
        </p:txBody>
      </p:sp>
      <p:sp>
        <p:nvSpPr>
          <p:cNvPr id="468" name="Google Shape;468;p26"/>
          <p:cNvSpPr/>
          <p:nvPr/>
        </p:nvSpPr>
        <p:spPr>
          <a:xfrm>
            <a:off x="457200" y="1240572"/>
            <a:ext cx="8229600" cy="712470"/>
          </a:xfrm>
          <a:prstGeom prst="rect">
            <a:avLst/>
          </a:prstGeom>
          <a:solidFill>
            <a:srgbClr val="F5F3FF"/>
          </a:solidFill>
          <a:ln cap="flat" cmpd="sng" w="9525">
            <a:solidFill>
              <a:srgbClr val="C4B5FD"/>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69" name="Google Shape;469;p26"/>
          <p:cNvSpPr/>
          <p:nvPr/>
        </p:nvSpPr>
        <p:spPr>
          <a:xfrm>
            <a:off x="622935" y="1387257"/>
            <a:ext cx="8687943" cy="13335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lang="en" sz="900">
                <a:solidFill>
                  <a:srgbClr val="5B21B6"/>
                </a:solidFill>
                <a:latin typeface="JetBrains Mono"/>
                <a:ea typeface="JetBrains Mono"/>
                <a:cs typeface="JetBrains Mono"/>
                <a:sym typeface="JetBrains Mono"/>
              </a:rPr>
              <a:t>LIVE URL:</a:t>
            </a:r>
            <a:endParaRPr b="0" i="0" sz="900" u="none" cap="none" strike="noStrike">
              <a:solidFill>
                <a:schemeClr val="dk1"/>
              </a:solidFill>
              <a:latin typeface="Calibri"/>
              <a:ea typeface="Calibri"/>
              <a:cs typeface="Calibri"/>
              <a:sym typeface="Calibri"/>
            </a:endParaRPr>
          </a:p>
        </p:txBody>
      </p:sp>
      <p:sp>
        <p:nvSpPr>
          <p:cNvPr id="470" name="Google Shape;470;p26"/>
          <p:cNvSpPr/>
          <p:nvPr/>
        </p:nvSpPr>
        <p:spPr>
          <a:xfrm>
            <a:off x="622935" y="1577757"/>
            <a:ext cx="8687943" cy="247650"/>
          </a:xfrm>
          <a:prstGeom prst="rect">
            <a:avLst/>
          </a:prstGeom>
          <a:noFill/>
          <a:ln>
            <a:noFill/>
          </a:ln>
        </p:spPr>
        <p:txBody>
          <a:bodyPr anchorCtr="0" anchor="t" bIns="12700" lIns="12700" spcFirstLastPara="1" rIns="12700" wrap="square" tIns="12700">
            <a:noAutofit/>
          </a:bodyPr>
          <a:lstStyle/>
          <a:p>
            <a:pPr indent="0" lvl="0" marL="0" marR="0" rtl="0" algn="l">
              <a:lnSpc>
                <a:spcPct val="90909"/>
              </a:lnSpc>
              <a:spcBef>
                <a:spcPts val="0"/>
              </a:spcBef>
              <a:spcAft>
                <a:spcPts val="0"/>
              </a:spcAft>
              <a:buClr>
                <a:srgbClr val="7C3AED"/>
              </a:buClr>
              <a:buSzPts val="1500"/>
              <a:buFont typeface="JetBrains Mono"/>
              <a:buNone/>
            </a:pPr>
            <a:r>
              <a:rPr lang="en" sz="1500" u="sng">
                <a:solidFill>
                  <a:schemeClr val="hlink"/>
                </a:solidFill>
                <a:latin typeface="JetBrains Mono"/>
                <a:ea typeface="JetBrains Mono"/>
                <a:cs typeface="JetBrains Mono"/>
                <a:sym typeface="JetBrains Mono"/>
                <a:hlinkClick r:id="rId3"/>
              </a:rPr>
              <a:t>https://meetiq-summary-buddy.lovable.app/</a:t>
            </a:r>
            <a:endParaRPr b="0" i="0" sz="1500" u="none" cap="none" strike="noStrike">
              <a:solidFill>
                <a:schemeClr val="dk1"/>
              </a:solidFill>
              <a:latin typeface="Calibri"/>
              <a:ea typeface="Calibri"/>
              <a:cs typeface="Calibri"/>
              <a:sym typeface="Calibri"/>
            </a:endParaRPr>
          </a:p>
        </p:txBody>
      </p:sp>
      <p:sp>
        <p:nvSpPr>
          <p:cNvPr id="471" name="Google Shape;471;p26"/>
          <p:cNvSpPr/>
          <p:nvPr/>
        </p:nvSpPr>
        <p:spPr>
          <a:xfrm>
            <a:off x="457200" y="2095917"/>
            <a:ext cx="2673311" cy="2289631"/>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72" name="Google Shape;472;p26"/>
          <p:cNvSpPr/>
          <p:nvPr/>
        </p:nvSpPr>
        <p:spPr>
          <a:xfrm>
            <a:off x="603885" y="2233077"/>
            <a:ext cx="158115" cy="158115"/>
          </a:xfrm>
          <a:prstGeom prst="rect">
            <a:avLst/>
          </a:prstGeom>
          <a:noFill/>
          <a:ln cap="flat" cmpd="sng" w="15225">
            <a:solidFill>
              <a:srgbClr val="7C3AED"/>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1125"/>
              </a:spcAft>
              <a:buClr>
                <a:schemeClr val="dk1"/>
              </a:buClr>
              <a:buSzPts val="1100"/>
              <a:buFont typeface="Arial"/>
              <a:buNone/>
            </a:pPr>
            <a:r>
              <a:rPr lang="en" sz="800">
                <a:solidFill>
                  <a:schemeClr val="dk1"/>
                </a:solidFill>
              </a:rPr>
              <a:t>✔</a:t>
            </a:r>
            <a:endParaRPr/>
          </a:p>
        </p:txBody>
      </p:sp>
      <p:sp>
        <p:nvSpPr>
          <p:cNvPr id="473" name="Google Shape;473;p26"/>
          <p:cNvSpPr/>
          <p:nvPr/>
        </p:nvSpPr>
        <p:spPr>
          <a:xfrm>
            <a:off x="847725" y="2252603"/>
            <a:ext cx="223838" cy="138113"/>
          </a:xfrm>
          <a:prstGeom prst="rect">
            <a:avLst/>
          </a:prstGeom>
          <a:noFill/>
          <a:ln>
            <a:noFill/>
          </a:ln>
        </p:spPr>
        <p:txBody>
          <a:bodyPr anchorCtr="0" anchor="t" bIns="12700" lIns="12700" spcFirstLastPara="1" rIns="12700" wrap="square" tIns="12700">
            <a:noAutofit/>
          </a:bodyPr>
          <a:lstStyle/>
          <a:p>
            <a:pPr indent="0" lvl="0" marL="0" marR="0" rtl="0" algn="l">
              <a:lnSpc>
                <a:spcPct val="7622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01</a:t>
            </a:r>
            <a:endParaRPr b="0" i="0" sz="900" u="none" cap="none" strike="noStrike">
              <a:solidFill>
                <a:schemeClr val="dk1"/>
              </a:solidFill>
              <a:latin typeface="Calibri"/>
              <a:ea typeface="Calibri"/>
              <a:cs typeface="Calibri"/>
              <a:sym typeface="Calibri"/>
            </a:endParaRPr>
          </a:p>
        </p:txBody>
      </p:sp>
      <p:sp>
        <p:nvSpPr>
          <p:cNvPr id="474" name="Google Shape;474;p26"/>
          <p:cNvSpPr/>
          <p:nvPr/>
        </p:nvSpPr>
        <p:spPr>
          <a:xfrm>
            <a:off x="603885" y="2486442"/>
            <a:ext cx="2451339" cy="376238"/>
          </a:xfrm>
          <a:prstGeom prst="rect">
            <a:avLst/>
          </a:prstGeom>
          <a:noFill/>
          <a:ln>
            <a:noFill/>
          </a:ln>
        </p:spPr>
        <p:txBody>
          <a:bodyPr anchorCtr="0" anchor="t" bIns="12700" lIns="12700" spcFirstLastPara="1" rIns="12700" wrap="square" tIns="12700">
            <a:noAutofit/>
          </a:bodyPr>
          <a:lstStyle/>
          <a:p>
            <a:pPr indent="0" lvl="0" marL="0" marR="0" rtl="0" algn="l">
              <a:lnSpc>
                <a:spcPct val="104167"/>
              </a:lnSpc>
              <a:spcBef>
                <a:spcPts val="0"/>
              </a:spcBef>
              <a:spcAft>
                <a:spcPts val="0"/>
              </a:spcAft>
              <a:buClr>
                <a:srgbClr val="1F2937"/>
              </a:buClr>
              <a:buSzPts val="1100"/>
              <a:buFont typeface="Inter"/>
              <a:buNone/>
            </a:pPr>
            <a:r>
              <a:rPr b="1" i="0" lang="en" sz="1100" u="none" cap="none" strike="noStrike">
                <a:solidFill>
                  <a:srgbClr val="1F2937"/>
                </a:solidFill>
                <a:latin typeface="Inter"/>
                <a:ea typeface="Inter"/>
                <a:cs typeface="Inter"/>
                <a:sym typeface="Inter"/>
              </a:rPr>
              <a:t>It opens for someone not on our team</a:t>
            </a:r>
            <a:endParaRPr b="0" i="0" sz="1100" u="none" cap="none" strike="noStrike">
              <a:solidFill>
                <a:schemeClr val="dk1"/>
              </a:solidFill>
              <a:latin typeface="Calibri"/>
              <a:ea typeface="Calibri"/>
              <a:cs typeface="Calibri"/>
              <a:sym typeface="Calibri"/>
            </a:endParaRPr>
          </a:p>
        </p:txBody>
      </p:sp>
      <p:sp>
        <p:nvSpPr>
          <p:cNvPr id="475" name="Google Shape;475;p26"/>
          <p:cNvSpPr/>
          <p:nvPr/>
        </p:nvSpPr>
        <p:spPr>
          <a:xfrm>
            <a:off x="3235286" y="2095917"/>
            <a:ext cx="2673370" cy="2289631"/>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76" name="Google Shape;476;p26"/>
          <p:cNvSpPr/>
          <p:nvPr/>
        </p:nvSpPr>
        <p:spPr>
          <a:xfrm>
            <a:off x="3381971" y="2233077"/>
            <a:ext cx="158115" cy="158115"/>
          </a:xfrm>
          <a:prstGeom prst="rect">
            <a:avLst/>
          </a:prstGeom>
          <a:noFill/>
          <a:ln cap="flat" cmpd="sng" w="15225">
            <a:solidFill>
              <a:srgbClr val="7C3AED"/>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1125"/>
              </a:spcAft>
              <a:buClr>
                <a:schemeClr val="dk1"/>
              </a:buClr>
              <a:buSzPts val="1100"/>
              <a:buFont typeface="Arial"/>
              <a:buNone/>
            </a:pPr>
            <a:r>
              <a:rPr lang="en" sz="800">
                <a:solidFill>
                  <a:schemeClr val="dk1"/>
                </a:solidFill>
              </a:rPr>
              <a:t>✔</a:t>
            </a:r>
            <a:endParaRPr/>
          </a:p>
        </p:txBody>
      </p:sp>
      <p:sp>
        <p:nvSpPr>
          <p:cNvPr id="477" name="Google Shape;477;p26"/>
          <p:cNvSpPr/>
          <p:nvPr/>
        </p:nvSpPr>
        <p:spPr>
          <a:xfrm>
            <a:off x="3625811" y="2252603"/>
            <a:ext cx="223838" cy="138113"/>
          </a:xfrm>
          <a:prstGeom prst="rect">
            <a:avLst/>
          </a:prstGeom>
          <a:noFill/>
          <a:ln>
            <a:noFill/>
          </a:ln>
        </p:spPr>
        <p:txBody>
          <a:bodyPr anchorCtr="0" anchor="t" bIns="12700" lIns="12700" spcFirstLastPara="1" rIns="12700" wrap="square" tIns="12700">
            <a:noAutofit/>
          </a:bodyPr>
          <a:lstStyle/>
          <a:p>
            <a:pPr indent="0" lvl="0" marL="0" marR="0" rtl="0" algn="l">
              <a:lnSpc>
                <a:spcPct val="7622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02</a:t>
            </a:r>
            <a:endParaRPr b="0" i="0" sz="900" u="none" cap="none" strike="noStrike">
              <a:solidFill>
                <a:schemeClr val="dk1"/>
              </a:solidFill>
              <a:latin typeface="Calibri"/>
              <a:ea typeface="Calibri"/>
              <a:cs typeface="Calibri"/>
              <a:sym typeface="Calibri"/>
            </a:endParaRPr>
          </a:p>
        </p:txBody>
      </p:sp>
      <p:sp>
        <p:nvSpPr>
          <p:cNvPr id="478" name="Google Shape;478;p26"/>
          <p:cNvSpPr/>
          <p:nvPr/>
        </p:nvSpPr>
        <p:spPr>
          <a:xfrm>
            <a:off x="3381971" y="2486442"/>
            <a:ext cx="2618000" cy="197644"/>
          </a:xfrm>
          <a:prstGeom prst="rect">
            <a:avLst/>
          </a:prstGeom>
          <a:noFill/>
          <a:ln>
            <a:noFill/>
          </a:ln>
        </p:spPr>
        <p:txBody>
          <a:bodyPr anchorCtr="0" anchor="t" bIns="12700" lIns="12700" spcFirstLastPara="1" rIns="12700" wrap="square" tIns="12700">
            <a:noAutofit/>
          </a:bodyPr>
          <a:lstStyle/>
          <a:p>
            <a:pPr indent="0" lvl="0" marL="0" marR="0" rtl="0" algn="l">
              <a:lnSpc>
                <a:spcPct val="104167"/>
              </a:lnSpc>
              <a:spcBef>
                <a:spcPts val="0"/>
              </a:spcBef>
              <a:spcAft>
                <a:spcPts val="0"/>
              </a:spcAft>
              <a:buClr>
                <a:srgbClr val="1F2937"/>
              </a:buClr>
              <a:buSzPts val="1100"/>
              <a:buFont typeface="Inter"/>
              <a:buNone/>
            </a:pPr>
            <a:r>
              <a:rPr b="1" i="0" lang="en" sz="1100" u="none" cap="none" strike="noStrike">
                <a:solidFill>
                  <a:srgbClr val="1F2937"/>
                </a:solidFill>
                <a:latin typeface="Inter"/>
                <a:ea typeface="Inter"/>
                <a:cs typeface="Inter"/>
                <a:sym typeface="Inter"/>
              </a:rPr>
              <a:t>A fresh input gives a real result</a:t>
            </a:r>
            <a:endParaRPr b="0" i="0" sz="1100" u="none" cap="none" strike="noStrike">
              <a:solidFill>
                <a:schemeClr val="dk1"/>
              </a:solidFill>
              <a:latin typeface="Calibri"/>
              <a:ea typeface="Calibri"/>
              <a:cs typeface="Calibri"/>
              <a:sym typeface="Calibri"/>
            </a:endParaRPr>
          </a:p>
        </p:txBody>
      </p:sp>
      <p:sp>
        <p:nvSpPr>
          <p:cNvPr id="479" name="Google Shape;479;p26"/>
          <p:cNvSpPr/>
          <p:nvPr/>
        </p:nvSpPr>
        <p:spPr>
          <a:xfrm>
            <a:off x="6013430" y="2095917"/>
            <a:ext cx="2673370" cy="2289631"/>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80" name="Google Shape;480;p26"/>
          <p:cNvSpPr/>
          <p:nvPr/>
        </p:nvSpPr>
        <p:spPr>
          <a:xfrm>
            <a:off x="6160116" y="2233077"/>
            <a:ext cx="158115" cy="158115"/>
          </a:xfrm>
          <a:prstGeom prst="rect">
            <a:avLst/>
          </a:prstGeom>
          <a:noFill/>
          <a:ln cap="flat" cmpd="sng" w="15225">
            <a:solidFill>
              <a:srgbClr val="7C3AED"/>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1125"/>
              </a:spcAft>
              <a:buClr>
                <a:schemeClr val="dk1"/>
              </a:buClr>
              <a:buSzPts val="1100"/>
              <a:buFont typeface="Arial"/>
              <a:buNone/>
            </a:pPr>
            <a:r>
              <a:rPr lang="en" sz="800">
                <a:solidFill>
                  <a:schemeClr val="dk1"/>
                </a:solidFill>
              </a:rPr>
              <a:t>✔</a:t>
            </a:r>
            <a:endParaRPr/>
          </a:p>
        </p:txBody>
      </p:sp>
      <p:sp>
        <p:nvSpPr>
          <p:cNvPr id="481" name="Google Shape;481;p26"/>
          <p:cNvSpPr/>
          <p:nvPr/>
        </p:nvSpPr>
        <p:spPr>
          <a:xfrm>
            <a:off x="6403955" y="2252603"/>
            <a:ext cx="223838" cy="138113"/>
          </a:xfrm>
          <a:prstGeom prst="rect">
            <a:avLst/>
          </a:prstGeom>
          <a:noFill/>
          <a:ln>
            <a:noFill/>
          </a:ln>
        </p:spPr>
        <p:txBody>
          <a:bodyPr anchorCtr="0" anchor="t" bIns="12700" lIns="12700" spcFirstLastPara="1" rIns="12700" wrap="square" tIns="12700">
            <a:noAutofit/>
          </a:bodyPr>
          <a:lstStyle/>
          <a:p>
            <a:pPr indent="0" lvl="0" marL="0" marR="0" rtl="0" algn="l">
              <a:lnSpc>
                <a:spcPct val="7622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03</a:t>
            </a:r>
            <a:endParaRPr b="0" i="0" sz="900" u="none" cap="none" strike="noStrike">
              <a:solidFill>
                <a:schemeClr val="dk1"/>
              </a:solidFill>
              <a:latin typeface="Calibri"/>
              <a:ea typeface="Calibri"/>
              <a:cs typeface="Calibri"/>
              <a:sym typeface="Calibri"/>
            </a:endParaRPr>
          </a:p>
        </p:txBody>
      </p:sp>
      <p:sp>
        <p:nvSpPr>
          <p:cNvPr id="482" name="Google Shape;482;p26"/>
          <p:cNvSpPr/>
          <p:nvPr/>
        </p:nvSpPr>
        <p:spPr>
          <a:xfrm>
            <a:off x="6160116" y="2486442"/>
            <a:ext cx="2618000" cy="197644"/>
          </a:xfrm>
          <a:prstGeom prst="rect">
            <a:avLst/>
          </a:prstGeom>
          <a:noFill/>
          <a:ln>
            <a:noFill/>
          </a:ln>
        </p:spPr>
        <p:txBody>
          <a:bodyPr anchorCtr="0" anchor="t" bIns="12700" lIns="12700" spcFirstLastPara="1" rIns="12700" wrap="square" tIns="12700">
            <a:noAutofit/>
          </a:bodyPr>
          <a:lstStyle/>
          <a:p>
            <a:pPr indent="0" lvl="0" marL="0" marR="0" rtl="0" algn="l">
              <a:lnSpc>
                <a:spcPct val="104167"/>
              </a:lnSpc>
              <a:spcBef>
                <a:spcPts val="0"/>
              </a:spcBef>
              <a:spcAft>
                <a:spcPts val="0"/>
              </a:spcAft>
              <a:buClr>
                <a:srgbClr val="1F2937"/>
              </a:buClr>
              <a:buSzPts val="1100"/>
              <a:buFont typeface="Inter"/>
              <a:buNone/>
            </a:pPr>
            <a:r>
              <a:rPr b="1" i="0" lang="en" sz="1100" u="none" cap="none" strike="noStrike">
                <a:solidFill>
                  <a:srgbClr val="1F2937"/>
                </a:solidFill>
                <a:latin typeface="Inter"/>
                <a:ea typeface="Inter"/>
                <a:cs typeface="Inter"/>
                <a:sym typeface="Inter"/>
              </a:rPr>
              <a:t>The refusal case still works</a:t>
            </a:r>
            <a:endParaRPr b="0" i="0" sz="1100" u="none" cap="none" strike="noStrike">
              <a:solidFill>
                <a:schemeClr val="dk1"/>
              </a:solidFill>
              <a:latin typeface="Calibri"/>
              <a:ea typeface="Calibri"/>
              <a:cs typeface="Calibri"/>
              <a:sym typeface="Calibri"/>
            </a:endParaRPr>
          </a:p>
        </p:txBody>
      </p:sp>
      <p:sp>
        <p:nvSpPr>
          <p:cNvPr id="483" name="Google Shape;483;p26"/>
          <p:cNvSpPr txBox="1"/>
          <p:nvPr/>
        </p:nvSpPr>
        <p:spPr>
          <a:xfrm>
            <a:off x="600075" y="2823625"/>
            <a:ext cx="2451300" cy="124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900"/>
              <a:t>The app is publicly accessible with no login or access restriction. It is a cloud-hosted web application published via Lovable, which means it requires an active internet connection to load — both to serve the app assets from Lovable's hosting servers and to reach the AI processing layer. Verified accessible from outside the development environment on a stable connection.</a:t>
            </a:r>
            <a:endParaRPr sz="900"/>
          </a:p>
          <a:p>
            <a:pPr indent="0" lvl="0" marL="0" rtl="0" algn="l">
              <a:spcBef>
                <a:spcPts val="1200"/>
              </a:spcBef>
              <a:spcAft>
                <a:spcPts val="0"/>
              </a:spcAft>
              <a:buNone/>
            </a:pPr>
            <a:r>
              <a:t/>
            </a:r>
            <a:endParaRPr sz="900"/>
          </a:p>
        </p:txBody>
      </p:sp>
      <p:sp>
        <p:nvSpPr>
          <p:cNvPr id="484" name="Google Shape;484;p26"/>
          <p:cNvSpPr txBox="1"/>
          <p:nvPr/>
        </p:nvSpPr>
        <p:spPr>
          <a:xfrm>
            <a:off x="6154268" y="2727516"/>
            <a:ext cx="2474400" cy="15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900"/>
              <a:t>Asked "What was the budget approved?" in Ask AI for a transcript that contained no budget discussion. MeetIQ responded with exactly: "This wasn't discussed in the meeting." — the defined fallback from the Call 2 system prompt, with no hallucinated answer.</a:t>
            </a:r>
            <a:endParaRPr sz="900"/>
          </a:p>
          <a:p>
            <a:pPr indent="0" lvl="0" marL="0" rtl="0" algn="l">
              <a:spcBef>
                <a:spcPts val="1200"/>
              </a:spcBef>
              <a:spcAft>
                <a:spcPts val="0"/>
              </a:spcAft>
              <a:buNone/>
            </a:pPr>
            <a:r>
              <a:t/>
            </a:r>
            <a:endParaRPr sz="900"/>
          </a:p>
        </p:txBody>
      </p:sp>
      <p:sp>
        <p:nvSpPr>
          <p:cNvPr id="485" name="Google Shape;485;p26"/>
          <p:cNvSpPr txBox="1"/>
          <p:nvPr/>
        </p:nvSpPr>
        <p:spPr>
          <a:xfrm>
            <a:off x="3386425" y="2738725"/>
            <a:ext cx="2351100" cy="139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Uploaded a new transcript that was not used during development. MeetIQ returned a populated Summary, Accountability Board with classified commitments, Key Moments tab, and a working Ask AI response — all derived from the new input with no cached or hardcoded data. </a:t>
            </a:r>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C"/>
        </a:solidFill>
      </p:bgPr>
    </p:bg>
    <p:spTree>
      <p:nvGrpSpPr>
        <p:cNvPr id="490" name="Shape 490"/>
        <p:cNvGrpSpPr/>
        <p:nvPr/>
      </p:nvGrpSpPr>
      <p:grpSpPr>
        <a:xfrm>
          <a:off x="0" y="0"/>
          <a:ext cx="0" cy="0"/>
          <a:chOff x="0" y="0"/>
          <a:chExt cx="0" cy="0"/>
        </a:xfrm>
      </p:grpSpPr>
      <p:sp>
        <p:nvSpPr>
          <p:cNvPr id="491" name="Google Shape;491;p27"/>
          <p:cNvSpPr/>
          <p:nvPr/>
        </p:nvSpPr>
        <p:spPr>
          <a:xfrm>
            <a:off x="457200" y="528638"/>
            <a:ext cx="9052500" cy="320100"/>
          </a:xfrm>
          <a:prstGeom prst="rect">
            <a:avLst/>
          </a:prstGeom>
          <a:noFill/>
          <a:ln>
            <a:noFill/>
          </a:ln>
        </p:spPr>
        <p:txBody>
          <a:bodyPr anchorCtr="0" anchor="t" bIns="12700" lIns="12700" spcFirstLastPara="1" rIns="12700" wrap="square" tIns="12700">
            <a:noAutofit/>
          </a:bodyPr>
          <a:lstStyle/>
          <a:p>
            <a:pPr indent="0" lvl="0" marL="0" marR="0" rtl="0" algn="l">
              <a:lnSpc>
                <a:spcPct val="84096"/>
              </a:lnSpc>
              <a:spcBef>
                <a:spcPts val="0"/>
              </a:spcBef>
              <a:spcAft>
                <a:spcPts val="0"/>
              </a:spcAft>
              <a:buClr>
                <a:srgbClr val="1F2937"/>
              </a:buClr>
              <a:buSzPts val="2300"/>
              <a:buFont typeface="Inter"/>
              <a:buNone/>
            </a:pPr>
            <a:r>
              <a:rPr b="1" i="0" lang="en" sz="2300" u="none" cap="none" strike="noStrike">
                <a:solidFill>
                  <a:srgbClr val="1F2937"/>
                </a:solidFill>
                <a:latin typeface="Inter"/>
                <a:ea typeface="Inter"/>
                <a:cs typeface="Inter"/>
                <a:sym typeface="Inter"/>
              </a:rPr>
              <a:t>The holes </a:t>
            </a:r>
            <a:r>
              <a:rPr b="1" lang="en" sz="2300">
                <a:solidFill>
                  <a:srgbClr val="1F2937"/>
                </a:solidFill>
                <a:latin typeface="Inter"/>
                <a:ea typeface="Inter"/>
                <a:cs typeface="Inter"/>
                <a:sym typeface="Inter"/>
              </a:rPr>
              <a:t>that were</a:t>
            </a:r>
            <a:r>
              <a:rPr b="1" i="0" lang="en" sz="2300" u="none" cap="none" strike="noStrike">
                <a:solidFill>
                  <a:srgbClr val="1F2937"/>
                </a:solidFill>
                <a:latin typeface="Inter"/>
                <a:ea typeface="Inter"/>
                <a:cs typeface="Inter"/>
                <a:sym typeface="Inter"/>
              </a:rPr>
              <a:t> left unplugged</a:t>
            </a:r>
            <a:endParaRPr b="0" i="0" sz="2300" u="none" cap="none" strike="noStrike">
              <a:solidFill>
                <a:schemeClr val="dk1"/>
              </a:solidFill>
              <a:latin typeface="Calibri"/>
              <a:ea typeface="Calibri"/>
              <a:cs typeface="Calibri"/>
              <a:sym typeface="Calibri"/>
            </a:endParaRPr>
          </a:p>
        </p:txBody>
      </p:sp>
      <p:sp>
        <p:nvSpPr>
          <p:cNvPr id="492" name="Google Shape;492;p27"/>
          <p:cNvSpPr/>
          <p:nvPr/>
        </p:nvSpPr>
        <p:spPr>
          <a:xfrm>
            <a:off x="457200" y="906006"/>
            <a:ext cx="7543800" cy="191700"/>
          </a:xfrm>
          <a:prstGeom prst="rect">
            <a:avLst/>
          </a:prstGeom>
          <a:noFill/>
          <a:ln>
            <a:noFill/>
          </a:ln>
        </p:spPr>
        <p:txBody>
          <a:bodyPr anchorCtr="0" anchor="t" bIns="12700" lIns="12700" spcFirstLastPara="1" rIns="12700" wrap="square" tIns="12700">
            <a:noAutofit/>
          </a:bodyPr>
          <a:lstStyle/>
          <a:p>
            <a:pPr indent="0" lvl="0" marL="0" marR="0" rtl="0" algn="l">
              <a:lnSpc>
                <a:spcPct val="119243"/>
              </a:lnSpc>
              <a:spcBef>
                <a:spcPts val="0"/>
              </a:spcBef>
              <a:spcAft>
                <a:spcPts val="0"/>
              </a:spcAft>
              <a:buClr>
                <a:srgbClr val="4B5563"/>
              </a:buClr>
              <a:buSzPts val="900"/>
              <a:buFont typeface="Inter"/>
              <a:buNone/>
            </a:pPr>
            <a:r>
              <a:rPr lang="en" sz="900">
                <a:solidFill>
                  <a:srgbClr val="4B5563"/>
                </a:solidFill>
                <a:latin typeface="Inter"/>
                <a:ea typeface="Inter"/>
                <a:cs typeface="Inter"/>
                <a:sym typeface="Inter"/>
              </a:rPr>
              <a:t>Two gaps we saw and chose not to close. Both were deliberate calls, not oversights</a:t>
            </a:r>
            <a:endParaRPr b="0" i="0" sz="900" u="none" cap="none" strike="noStrike">
              <a:solidFill>
                <a:schemeClr val="dk1"/>
              </a:solidFill>
              <a:latin typeface="Calibri"/>
              <a:ea typeface="Calibri"/>
              <a:cs typeface="Calibri"/>
              <a:sym typeface="Calibri"/>
            </a:endParaRPr>
          </a:p>
        </p:txBody>
      </p:sp>
      <p:sp>
        <p:nvSpPr>
          <p:cNvPr id="493" name="Google Shape;493;p27"/>
          <p:cNvSpPr/>
          <p:nvPr/>
        </p:nvSpPr>
        <p:spPr>
          <a:xfrm>
            <a:off x="457200" y="1221522"/>
            <a:ext cx="2673300" cy="11886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94" name="Google Shape;494;p27"/>
          <p:cNvSpPr/>
          <p:nvPr/>
        </p:nvSpPr>
        <p:spPr>
          <a:xfrm>
            <a:off x="584835" y="1339632"/>
            <a:ext cx="2659800" cy="1335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THE STEP</a:t>
            </a:r>
            <a:endParaRPr b="0" i="0" sz="900" u="none" cap="none" strike="noStrike">
              <a:solidFill>
                <a:schemeClr val="dk1"/>
              </a:solidFill>
              <a:latin typeface="Calibri"/>
              <a:ea typeface="Calibri"/>
              <a:cs typeface="Calibri"/>
              <a:sym typeface="Calibri"/>
            </a:endParaRPr>
          </a:p>
        </p:txBody>
      </p:sp>
      <p:sp>
        <p:nvSpPr>
          <p:cNvPr id="495" name="Google Shape;495;p27"/>
          <p:cNvSpPr/>
          <p:nvPr/>
        </p:nvSpPr>
        <p:spPr>
          <a:xfrm>
            <a:off x="3235285" y="1211997"/>
            <a:ext cx="2673300" cy="11886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96" name="Google Shape;496;p27"/>
          <p:cNvSpPr/>
          <p:nvPr/>
        </p:nvSpPr>
        <p:spPr>
          <a:xfrm>
            <a:off x="3362921" y="1339632"/>
            <a:ext cx="2490600" cy="2478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WHICH OF THE SEVEN IT WOULD BE</a:t>
            </a:r>
            <a:endParaRPr b="0" i="0" sz="900" u="none" cap="none" strike="noStrike">
              <a:solidFill>
                <a:schemeClr val="dk1"/>
              </a:solidFill>
              <a:latin typeface="Calibri"/>
              <a:ea typeface="Calibri"/>
              <a:cs typeface="Calibri"/>
              <a:sym typeface="Calibri"/>
            </a:endParaRPr>
          </a:p>
        </p:txBody>
      </p:sp>
      <p:sp>
        <p:nvSpPr>
          <p:cNvPr id="497" name="Google Shape;497;p27"/>
          <p:cNvSpPr/>
          <p:nvPr/>
        </p:nvSpPr>
        <p:spPr>
          <a:xfrm>
            <a:off x="6013430" y="1221522"/>
            <a:ext cx="2673300" cy="11886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 sz="900"/>
              <a:t>Sending messages to real people requires identity resolution, calendar integration, and a notification layer — none of which Lovable can wire up within a single hackathon session. The core extraction and classification problem was higher priority to prove first. </a:t>
            </a:r>
            <a:endParaRPr sz="900"/>
          </a:p>
        </p:txBody>
      </p:sp>
      <p:sp>
        <p:nvSpPr>
          <p:cNvPr id="498" name="Google Shape;498;p27"/>
          <p:cNvSpPr/>
          <p:nvPr/>
        </p:nvSpPr>
        <p:spPr>
          <a:xfrm>
            <a:off x="6141066" y="1339632"/>
            <a:ext cx="2659800" cy="1335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WHY YOU LEFT IT</a:t>
            </a:r>
            <a:endParaRPr b="0" i="0" sz="900" u="none" cap="none" strike="noStrike">
              <a:solidFill>
                <a:schemeClr val="dk1"/>
              </a:solidFill>
              <a:latin typeface="Calibri"/>
              <a:ea typeface="Calibri"/>
              <a:cs typeface="Calibri"/>
              <a:sym typeface="Calibri"/>
            </a:endParaRPr>
          </a:p>
        </p:txBody>
      </p:sp>
      <p:sp>
        <p:nvSpPr>
          <p:cNvPr id="499" name="Google Shape;499;p27"/>
          <p:cNvSpPr txBox="1"/>
          <p:nvPr/>
        </p:nvSpPr>
        <p:spPr>
          <a:xfrm>
            <a:off x="415575" y="1495975"/>
            <a:ext cx="2659800" cy="127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900">
                <a:solidFill>
                  <a:schemeClr val="dk1"/>
                </a:solidFill>
              </a:rPr>
              <a:t>Commitment follow-up and nudge generation. After the meeting ends, owners with assigned tasks receive no reminder, no escalation, and no status check. The accountability loop closes at classification — it never follows through.</a:t>
            </a:r>
            <a:endParaRPr sz="900">
              <a:solidFill>
                <a:schemeClr val="dk1"/>
              </a:solidFill>
            </a:endParaRPr>
          </a:p>
          <a:p>
            <a:pPr indent="0" lvl="0" marL="0" rtl="0" algn="l">
              <a:spcBef>
                <a:spcPts val="1200"/>
              </a:spcBef>
              <a:spcAft>
                <a:spcPts val="0"/>
              </a:spcAft>
              <a:buNone/>
            </a:pPr>
            <a:r>
              <a:t/>
            </a:r>
            <a:endParaRPr sz="900">
              <a:solidFill>
                <a:schemeClr val="dk1"/>
              </a:solidFill>
            </a:endParaRPr>
          </a:p>
        </p:txBody>
      </p:sp>
      <p:sp>
        <p:nvSpPr>
          <p:cNvPr id="500" name="Google Shape;500;p27"/>
          <p:cNvSpPr txBox="1"/>
          <p:nvPr/>
        </p:nvSpPr>
        <p:spPr>
          <a:xfrm>
            <a:off x="3362925" y="1546425"/>
            <a:ext cx="24906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Generate. The system would need to produce follow-up messages, deadline nudge templates, and escalation drafts tailored to the commitment type, owner, and due date — none of which exist today. </a:t>
            </a:r>
            <a:endParaRPr sz="900">
              <a:solidFill>
                <a:schemeClr val="dk1"/>
              </a:solidFill>
            </a:endParaRPr>
          </a:p>
        </p:txBody>
      </p:sp>
      <p:sp>
        <p:nvSpPr>
          <p:cNvPr id="501" name="Google Shape;501;p27"/>
          <p:cNvSpPr/>
          <p:nvPr/>
        </p:nvSpPr>
        <p:spPr>
          <a:xfrm>
            <a:off x="441500" y="2550550"/>
            <a:ext cx="2673300" cy="19362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02" name="Google Shape;502;p27"/>
          <p:cNvSpPr/>
          <p:nvPr/>
        </p:nvSpPr>
        <p:spPr>
          <a:xfrm>
            <a:off x="569147" y="2668649"/>
            <a:ext cx="2659800" cy="1335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THE STEP</a:t>
            </a:r>
            <a:endParaRPr b="0" i="0" sz="900" u="none" cap="none" strike="noStrike">
              <a:solidFill>
                <a:schemeClr val="dk1"/>
              </a:solidFill>
              <a:latin typeface="Calibri"/>
              <a:ea typeface="Calibri"/>
              <a:cs typeface="Calibri"/>
              <a:sym typeface="Calibri"/>
            </a:endParaRPr>
          </a:p>
        </p:txBody>
      </p:sp>
      <p:sp>
        <p:nvSpPr>
          <p:cNvPr id="503" name="Google Shape;503;p27"/>
          <p:cNvSpPr/>
          <p:nvPr/>
        </p:nvSpPr>
        <p:spPr>
          <a:xfrm>
            <a:off x="3219600" y="2541030"/>
            <a:ext cx="2673300" cy="17217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04" name="Google Shape;504;p27"/>
          <p:cNvSpPr/>
          <p:nvPr/>
        </p:nvSpPr>
        <p:spPr>
          <a:xfrm>
            <a:off x="3347232" y="2668649"/>
            <a:ext cx="2490600" cy="2478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WHICH OF THE SEVEN IT WOULD BE</a:t>
            </a:r>
            <a:endParaRPr b="0" i="0" sz="900" u="none" cap="none" strike="noStrike">
              <a:solidFill>
                <a:schemeClr val="dk1"/>
              </a:solidFill>
              <a:latin typeface="Calibri"/>
              <a:ea typeface="Calibri"/>
              <a:cs typeface="Calibri"/>
              <a:sym typeface="Calibri"/>
            </a:endParaRPr>
          </a:p>
        </p:txBody>
      </p:sp>
      <p:sp>
        <p:nvSpPr>
          <p:cNvPr id="505" name="Google Shape;505;p27"/>
          <p:cNvSpPr/>
          <p:nvPr/>
        </p:nvSpPr>
        <p:spPr>
          <a:xfrm>
            <a:off x="5997750" y="2550552"/>
            <a:ext cx="2673300" cy="13983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 sz="900"/>
              <a:t>Adding a Judge call means a third LLM pass per session, which increases latency and credit consumption significantly. With 48 of 50 credits already used on getting the core two calls right, there was no room to build and test a quality-scoring layer within the hackathon window. </a:t>
            </a:r>
            <a:endParaRPr sz="900"/>
          </a:p>
        </p:txBody>
      </p:sp>
      <p:sp>
        <p:nvSpPr>
          <p:cNvPr id="506" name="Google Shape;506;p27"/>
          <p:cNvSpPr/>
          <p:nvPr/>
        </p:nvSpPr>
        <p:spPr>
          <a:xfrm>
            <a:off x="6125377" y="2668649"/>
            <a:ext cx="2659800" cy="1335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i="0" lang="en" sz="900" u="none" cap="none" strike="noStrike">
                <a:solidFill>
                  <a:srgbClr val="5B21B6"/>
                </a:solidFill>
                <a:latin typeface="JetBrains Mono"/>
                <a:ea typeface="JetBrains Mono"/>
                <a:cs typeface="JetBrains Mono"/>
                <a:sym typeface="JetBrains Mono"/>
              </a:rPr>
              <a:t>WHY YOU LEFT IT</a:t>
            </a:r>
            <a:endParaRPr b="0" i="0" sz="900" u="none" cap="none" strike="noStrike">
              <a:solidFill>
                <a:schemeClr val="dk1"/>
              </a:solidFill>
              <a:latin typeface="Calibri"/>
              <a:ea typeface="Calibri"/>
              <a:cs typeface="Calibri"/>
              <a:sym typeface="Calibri"/>
            </a:endParaRPr>
          </a:p>
        </p:txBody>
      </p:sp>
      <p:sp>
        <p:nvSpPr>
          <p:cNvPr id="507" name="Google Shape;507;p27"/>
          <p:cNvSpPr txBox="1"/>
          <p:nvPr/>
        </p:nvSpPr>
        <p:spPr>
          <a:xfrm>
            <a:off x="399887" y="2824993"/>
            <a:ext cx="2659800" cy="222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900">
                <a:solidFill>
                  <a:schemeClr val="dk1"/>
                </a:solidFill>
              </a:rPr>
              <a:t>Output quality refinement across all four views. The Summary section returns everything the model decides is relevant. The Key Moments tab has no way to filter by speaker or topic. The Accountability Board shows all commitments at equal weight with no confidence-based sorting. Ask AI answers are constrained but still occasionally verbose or off-target with ambiguous questions.</a:t>
            </a:r>
            <a:endParaRPr sz="900">
              <a:solidFill>
                <a:schemeClr val="dk1"/>
              </a:solidFill>
            </a:endParaRPr>
          </a:p>
          <a:p>
            <a:pPr indent="0" lvl="0" marL="0" rtl="0" algn="l">
              <a:lnSpc>
                <a:spcPct val="115000"/>
              </a:lnSpc>
              <a:spcBef>
                <a:spcPts val="1200"/>
              </a:spcBef>
              <a:spcAft>
                <a:spcPts val="0"/>
              </a:spcAft>
              <a:buNone/>
            </a:pPr>
            <a:r>
              <a:t/>
            </a:r>
            <a:endParaRPr sz="900">
              <a:solidFill>
                <a:schemeClr val="dk1"/>
              </a:solidFill>
            </a:endParaRPr>
          </a:p>
          <a:p>
            <a:pPr indent="0" lvl="0" marL="0" rtl="0" algn="l">
              <a:spcBef>
                <a:spcPts val="1200"/>
              </a:spcBef>
              <a:spcAft>
                <a:spcPts val="0"/>
              </a:spcAft>
              <a:buNone/>
            </a:pPr>
            <a:r>
              <a:t/>
            </a:r>
            <a:endParaRPr sz="900">
              <a:solidFill>
                <a:schemeClr val="dk1"/>
              </a:solidFill>
            </a:endParaRPr>
          </a:p>
        </p:txBody>
      </p:sp>
      <p:sp>
        <p:nvSpPr>
          <p:cNvPr id="508" name="Google Shape;508;p27"/>
          <p:cNvSpPr txBox="1"/>
          <p:nvPr/>
        </p:nvSpPr>
        <p:spPr>
          <a:xfrm>
            <a:off x="3347237" y="2875443"/>
            <a:ext cx="24906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Judge. A second AI pass would evaluate the quality of each output — scoring summary completeness, flagging low-confidence commitments for human review, ranking moments by decision impact, and assessing whether an Ask AI answer actually addressed what was asked. </a:t>
            </a:r>
            <a:endParaRPr sz="9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C"/>
        </a:solidFill>
      </p:bgPr>
    </p:bg>
    <p:spTree>
      <p:nvGrpSpPr>
        <p:cNvPr id="513" name="Shape 513"/>
        <p:cNvGrpSpPr/>
        <p:nvPr/>
      </p:nvGrpSpPr>
      <p:grpSpPr>
        <a:xfrm>
          <a:off x="0" y="0"/>
          <a:ext cx="0" cy="0"/>
          <a:chOff x="0" y="0"/>
          <a:chExt cx="0" cy="0"/>
        </a:xfrm>
      </p:grpSpPr>
      <p:sp>
        <p:nvSpPr>
          <p:cNvPr id="514" name="Google Shape;514;p28"/>
          <p:cNvSpPr/>
          <p:nvPr/>
        </p:nvSpPr>
        <p:spPr>
          <a:xfrm>
            <a:off x="457200" y="528638"/>
            <a:ext cx="9052560" cy="320218"/>
          </a:xfrm>
          <a:prstGeom prst="rect">
            <a:avLst/>
          </a:prstGeom>
          <a:noFill/>
          <a:ln>
            <a:noFill/>
          </a:ln>
        </p:spPr>
        <p:txBody>
          <a:bodyPr anchorCtr="0" anchor="t" bIns="12700" lIns="12700" spcFirstLastPara="1" rIns="12700" wrap="square" tIns="12700">
            <a:noAutofit/>
          </a:bodyPr>
          <a:lstStyle/>
          <a:p>
            <a:pPr indent="0" lvl="0" marL="0" marR="0" rtl="0" algn="l">
              <a:lnSpc>
                <a:spcPct val="84096"/>
              </a:lnSpc>
              <a:spcBef>
                <a:spcPts val="0"/>
              </a:spcBef>
              <a:spcAft>
                <a:spcPts val="0"/>
              </a:spcAft>
              <a:buClr>
                <a:srgbClr val="1F2937"/>
              </a:buClr>
              <a:buSzPts val="2300"/>
              <a:buFont typeface="Inter"/>
              <a:buNone/>
            </a:pPr>
            <a:r>
              <a:rPr b="1" i="0" lang="en" sz="2300" u="none" cap="none" strike="noStrike">
                <a:solidFill>
                  <a:srgbClr val="1F2937"/>
                </a:solidFill>
                <a:latin typeface="Inter"/>
                <a:ea typeface="Inter"/>
                <a:cs typeface="Inter"/>
                <a:sym typeface="Inter"/>
              </a:rPr>
              <a:t>The holes </a:t>
            </a:r>
            <a:r>
              <a:rPr b="1" lang="en" sz="2300">
                <a:solidFill>
                  <a:srgbClr val="1F2937"/>
                </a:solidFill>
                <a:latin typeface="Inter"/>
                <a:ea typeface="Inter"/>
                <a:cs typeface="Inter"/>
                <a:sym typeface="Inter"/>
              </a:rPr>
              <a:t>that were </a:t>
            </a:r>
            <a:r>
              <a:rPr b="1" i="0" lang="en" sz="2300" u="none" cap="none" strike="noStrike">
                <a:solidFill>
                  <a:srgbClr val="1F2937"/>
                </a:solidFill>
                <a:latin typeface="Inter"/>
                <a:ea typeface="Inter"/>
                <a:cs typeface="Inter"/>
                <a:sym typeface="Inter"/>
              </a:rPr>
              <a:t>left unplugged</a:t>
            </a:r>
            <a:endParaRPr b="0" i="0" sz="2300" u="none" cap="none" strike="noStrike">
              <a:solidFill>
                <a:schemeClr val="dk1"/>
              </a:solidFill>
              <a:latin typeface="Calibri"/>
              <a:ea typeface="Calibri"/>
              <a:cs typeface="Calibri"/>
              <a:sym typeface="Calibri"/>
            </a:endParaRPr>
          </a:p>
        </p:txBody>
      </p:sp>
      <p:sp>
        <p:nvSpPr>
          <p:cNvPr id="515" name="Google Shape;515;p28"/>
          <p:cNvSpPr/>
          <p:nvPr/>
        </p:nvSpPr>
        <p:spPr>
          <a:xfrm>
            <a:off x="457200" y="906006"/>
            <a:ext cx="7543800" cy="191691"/>
          </a:xfrm>
          <a:prstGeom prst="rect">
            <a:avLst/>
          </a:prstGeom>
          <a:noFill/>
          <a:ln>
            <a:noFill/>
          </a:ln>
        </p:spPr>
        <p:txBody>
          <a:bodyPr anchorCtr="0" anchor="t" bIns="12700" lIns="12700" spcFirstLastPara="1" rIns="12700" wrap="square" tIns="12700">
            <a:noAutofit/>
          </a:bodyPr>
          <a:lstStyle/>
          <a:p>
            <a:pPr indent="0" lvl="0" marL="0" rtl="0" algn="l">
              <a:lnSpc>
                <a:spcPct val="119243"/>
              </a:lnSpc>
              <a:spcBef>
                <a:spcPts val="0"/>
              </a:spcBef>
              <a:spcAft>
                <a:spcPts val="0"/>
              </a:spcAft>
              <a:buClr>
                <a:srgbClr val="4B5563"/>
              </a:buClr>
              <a:buSzPts val="900"/>
              <a:buFont typeface="Inter"/>
              <a:buNone/>
            </a:pPr>
            <a:r>
              <a:rPr lang="en" sz="900">
                <a:solidFill>
                  <a:srgbClr val="4B5563"/>
                </a:solidFill>
                <a:latin typeface="Inter"/>
                <a:ea typeface="Inter"/>
                <a:cs typeface="Inter"/>
                <a:sym typeface="Inter"/>
              </a:rPr>
              <a:t>Two gaps we saw and chose not to close. Both were deliberate calls, not oversights</a:t>
            </a:r>
            <a:endParaRPr sz="900">
              <a:solidFill>
                <a:schemeClr val="dk1"/>
              </a:solidFill>
              <a:latin typeface="Calibri"/>
              <a:ea typeface="Calibri"/>
              <a:cs typeface="Calibri"/>
              <a:sym typeface="Calibri"/>
            </a:endParaRPr>
          </a:p>
          <a:p>
            <a:pPr indent="0" lvl="0" marL="0" marR="0" rtl="0" algn="l">
              <a:lnSpc>
                <a:spcPct val="119243"/>
              </a:lnSpc>
              <a:spcBef>
                <a:spcPts val="0"/>
              </a:spcBef>
              <a:spcAft>
                <a:spcPts val="0"/>
              </a:spcAft>
              <a:buClr>
                <a:srgbClr val="4B5563"/>
              </a:buClr>
              <a:buSzPts val="900"/>
              <a:buFont typeface="Inter"/>
              <a:buNone/>
            </a:pPr>
            <a:r>
              <a:t/>
            </a:r>
            <a:endParaRPr sz="900">
              <a:solidFill>
                <a:srgbClr val="4B5563"/>
              </a:solidFill>
              <a:latin typeface="Inter"/>
              <a:ea typeface="Inter"/>
              <a:cs typeface="Inter"/>
              <a:sym typeface="Inter"/>
            </a:endParaRPr>
          </a:p>
        </p:txBody>
      </p:sp>
      <p:sp>
        <p:nvSpPr>
          <p:cNvPr id="516" name="Google Shape;516;p28"/>
          <p:cNvSpPr/>
          <p:nvPr/>
        </p:nvSpPr>
        <p:spPr>
          <a:xfrm>
            <a:off x="457200" y="1270750"/>
            <a:ext cx="8229600" cy="3606000"/>
          </a:xfrm>
          <a:prstGeom prst="rect">
            <a:avLst/>
          </a:prstGeom>
          <a:solidFill>
            <a:srgbClr val="F5F3FF"/>
          </a:solidFill>
          <a:ln cap="flat" cmpd="sng" w="9525">
            <a:solidFill>
              <a:srgbClr val="C4B5FD"/>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sz="1500"/>
          </a:p>
        </p:txBody>
      </p:sp>
      <p:sp>
        <p:nvSpPr>
          <p:cNvPr id="517" name="Google Shape;517;p28"/>
          <p:cNvSpPr/>
          <p:nvPr/>
        </p:nvSpPr>
        <p:spPr>
          <a:xfrm>
            <a:off x="584835" y="1451084"/>
            <a:ext cx="8771700" cy="203700"/>
          </a:xfrm>
          <a:prstGeom prst="rect">
            <a:avLst/>
          </a:prstGeom>
          <a:noFill/>
          <a:ln>
            <a:noFill/>
          </a:ln>
        </p:spPr>
        <p:txBody>
          <a:bodyPr anchorCtr="0" anchor="t" bIns="12700" lIns="12700" spcFirstLastPara="1" rIns="12700" wrap="square" tIns="12700">
            <a:noAutofit/>
          </a:bodyPr>
          <a:lstStyle/>
          <a:p>
            <a:pPr indent="0" lvl="0" marL="0" marR="0" rtl="0" algn="l">
              <a:lnSpc>
                <a:spcPct val="75000"/>
              </a:lnSpc>
              <a:spcBef>
                <a:spcPts val="0"/>
              </a:spcBef>
              <a:spcAft>
                <a:spcPts val="0"/>
              </a:spcAft>
              <a:buClr>
                <a:srgbClr val="5B21B6"/>
              </a:buClr>
              <a:buSzPts val="900"/>
              <a:buFont typeface="JetBrains Mono"/>
              <a:buNone/>
            </a:pPr>
            <a:r>
              <a:rPr b="1" lang="en" sz="900">
                <a:solidFill>
                  <a:srgbClr val="5B21B6"/>
                </a:solidFill>
                <a:latin typeface="JetBrains Mono"/>
                <a:ea typeface="JetBrains Mono"/>
                <a:cs typeface="JetBrains Mono"/>
                <a:sym typeface="JetBrains Mono"/>
              </a:rPr>
              <a:t>WHAT COMES NEXT, AND IN WHAT ORDER</a:t>
            </a:r>
            <a:r>
              <a:rPr b="1" i="0" lang="en" sz="900" u="none" cap="none" strike="noStrike">
                <a:solidFill>
                  <a:srgbClr val="5B21B6"/>
                </a:solidFill>
                <a:latin typeface="JetBrains Mono"/>
                <a:ea typeface="JetBrains Mono"/>
                <a:cs typeface="JetBrains Mono"/>
                <a:sym typeface="JetBrains Mono"/>
              </a:rPr>
              <a:t>, AND WHY THAT BEFORE ANYTHING ELSE ?</a:t>
            </a:r>
            <a:endParaRPr b="0" i="0" sz="900" u="none" cap="none" strike="noStrike">
              <a:solidFill>
                <a:schemeClr val="dk1"/>
              </a:solidFill>
              <a:latin typeface="Calibri"/>
              <a:ea typeface="Calibri"/>
              <a:cs typeface="Calibri"/>
              <a:sym typeface="Calibri"/>
            </a:endParaRPr>
          </a:p>
        </p:txBody>
      </p:sp>
      <p:sp>
        <p:nvSpPr>
          <p:cNvPr id="518" name="Google Shape;518;p28"/>
          <p:cNvSpPr txBox="1"/>
          <p:nvPr/>
        </p:nvSpPr>
        <p:spPr>
          <a:xfrm>
            <a:off x="652175" y="1742550"/>
            <a:ext cx="7543800" cy="16584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1"/>
              </a:buClr>
              <a:buSzPts val="1000"/>
              <a:buChar char="●"/>
            </a:pPr>
            <a:r>
              <a:rPr b="1" lang="en" sz="1000">
                <a:solidFill>
                  <a:schemeClr val="dk1"/>
                </a:solidFill>
              </a:rPr>
              <a:t>The Judge hole comes first.</a:t>
            </a:r>
            <a:r>
              <a:rPr lang="en" sz="1000">
                <a:solidFill>
                  <a:schemeClr val="dk1"/>
                </a:solidFill>
              </a:rPr>
              <a:t> Right now MeetIQ surfaces everything it finds and trusts the user to evaluate it. A Judge pass would score each commitment by confidence and completeness, suppress low-signal moments from the Key Moments tab, flag summaries that are too thin relative to transcript length, and return a quality signal on every Ask AI answer before it renders. This transforms MeetIQ from a tool that extracts and displays into one that actively curates. Once the output is trustworthy enough to act on without review, then I will build the Generate AI hole. </a:t>
            </a:r>
            <a:br>
              <a:rPr lang="en" sz="1000">
                <a:solidFill>
                  <a:schemeClr val="dk1"/>
                </a:solidFill>
              </a:rPr>
            </a:br>
            <a:endParaRPr sz="1000">
              <a:solidFill>
                <a:schemeClr val="dk1"/>
              </a:solidFill>
            </a:endParaRPr>
          </a:p>
          <a:p>
            <a:pPr indent="-292100" lvl="0" marL="457200" rtl="0" algn="l">
              <a:spcBef>
                <a:spcPts val="0"/>
              </a:spcBef>
              <a:spcAft>
                <a:spcPts val="0"/>
              </a:spcAft>
              <a:buClr>
                <a:schemeClr val="dk1"/>
              </a:buClr>
              <a:buSzPts val="1000"/>
              <a:buChar char="●"/>
            </a:pPr>
            <a:r>
              <a:rPr b="1" lang="en" sz="1000">
                <a:solidFill>
                  <a:schemeClr val="dk1"/>
                </a:solidFill>
              </a:rPr>
              <a:t>A follow-up generation layer</a:t>
            </a:r>
            <a:r>
              <a:rPr lang="en" sz="1000">
                <a:solidFill>
                  <a:schemeClr val="dk1"/>
                </a:solidFill>
              </a:rPr>
              <a:t> that takes each CONFIRMED or ORPHANED commitment and produces a ready-to-send nudge message for the owner — with the task, due date, and meeting context embedded. This comes next because classification without follow-through is just a better notepad. The real value of an accountability engine is what happens after the meeting ends, not during analysis. A Judge hole would sit alongside this — scoring whether a commitment was actually closed before the next meeting — turning MeetIQ from a one-shot summariser into a loop that runs across meetings over time. </a:t>
            </a:r>
            <a:br>
              <a:rPr lang="en" sz="1000">
                <a:solidFill>
                  <a:schemeClr val="dk1"/>
                </a:solidFill>
              </a:rPr>
            </a:br>
            <a:endParaRPr sz="1000">
              <a:solidFill>
                <a:schemeClr val="dk1"/>
              </a:solidFill>
            </a:endParaRPr>
          </a:p>
          <a:p>
            <a:pPr indent="-292100" lvl="0" marL="457200" rtl="0" algn="l">
              <a:spcBef>
                <a:spcPts val="0"/>
              </a:spcBef>
              <a:spcAft>
                <a:spcPts val="0"/>
              </a:spcAft>
              <a:buClr>
                <a:schemeClr val="dk1"/>
              </a:buClr>
              <a:buSzPts val="1000"/>
              <a:buChar char="●"/>
            </a:pPr>
            <a:r>
              <a:rPr b="1" lang="en" sz="1000">
                <a:solidFill>
                  <a:schemeClr val="dk1"/>
                </a:solidFill>
              </a:rPr>
              <a:t>Enterprise privacy and model control would be the next layer.</a:t>
            </a:r>
            <a:r>
              <a:rPr lang="en" sz="1000">
                <a:solidFill>
                  <a:schemeClr val="dk1"/>
                </a:solidFill>
              </a:rPr>
              <a:t> MeetIQ already avoids storing meeting transcripts, but companies with highly confidential meetings may still require processing within their own approved AI infrastructure. I would add support for customer-managed or self-hosted models so sensitive transcripts can be processed within the company’s security boundary. </a:t>
            </a:r>
            <a:endParaRPr sz="10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2E"/>
        </a:solidFill>
      </p:bgPr>
    </p:bg>
    <p:spTree>
      <p:nvGrpSpPr>
        <p:cNvPr id="523" name="Shape 523"/>
        <p:cNvGrpSpPr/>
        <p:nvPr/>
      </p:nvGrpSpPr>
      <p:grpSpPr>
        <a:xfrm>
          <a:off x="0" y="0"/>
          <a:ext cx="0" cy="0"/>
          <a:chOff x="0" y="0"/>
          <a:chExt cx="0" cy="0"/>
        </a:xfrm>
      </p:grpSpPr>
      <p:sp>
        <p:nvSpPr>
          <p:cNvPr id="524" name="Google Shape;524;p29"/>
          <p:cNvSpPr/>
          <p:nvPr/>
        </p:nvSpPr>
        <p:spPr>
          <a:xfrm>
            <a:off x="457200" y="342900"/>
            <a:ext cx="2145300" cy="138000"/>
          </a:xfrm>
          <a:prstGeom prst="rect">
            <a:avLst/>
          </a:prstGeom>
          <a:noFill/>
          <a:ln>
            <a:noFill/>
          </a:ln>
        </p:spPr>
        <p:txBody>
          <a:bodyPr anchorCtr="0" anchor="t" bIns="12700" lIns="12700" spcFirstLastPara="1" rIns="12700" wrap="square" tIns="12700">
            <a:noAutofit/>
          </a:bodyPr>
          <a:lstStyle/>
          <a:p>
            <a:pPr indent="0" lvl="0" marL="0" marR="0" rtl="0" algn="l">
              <a:lnSpc>
                <a:spcPct val="76220"/>
              </a:lnSpc>
              <a:spcBef>
                <a:spcPts val="0"/>
              </a:spcBef>
              <a:spcAft>
                <a:spcPts val="0"/>
              </a:spcAft>
              <a:buClr>
                <a:srgbClr val="C4B5FD"/>
              </a:buClr>
              <a:buSzPts val="900"/>
              <a:buFont typeface="JetBrains Mono"/>
              <a:buNone/>
            </a:pPr>
            <a:r>
              <a:rPr b="1" i="0" lang="en" sz="900" u="none" cap="none" strike="noStrike">
                <a:solidFill>
                  <a:srgbClr val="C4B5FD"/>
                </a:solidFill>
                <a:latin typeface="JetBrains Mono"/>
                <a:ea typeface="JetBrains Mono"/>
                <a:cs typeface="JetBrains Mono"/>
                <a:sym typeface="JetBrains Mono"/>
              </a:rPr>
              <a:t>WHAT WE BUILT</a:t>
            </a:r>
            <a:endParaRPr b="0" i="0" sz="900" u="none" cap="none" strike="noStrike">
              <a:solidFill>
                <a:schemeClr val="dk1"/>
              </a:solidFill>
              <a:latin typeface="Calibri"/>
              <a:ea typeface="Calibri"/>
              <a:cs typeface="Calibri"/>
              <a:sym typeface="Calibri"/>
            </a:endParaRPr>
          </a:p>
        </p:txBody>
      </p:sp>
      <p:sp>
        <p:nvSpPr>
          <p:cNvPr id="525" name="Google Shape;525;p29"/>
          <p:cNvSpPr/>
          <p:nvPr/>
        </p:nvSpPr>
        <p:spPr>
          <a:xfrm>
            <a:off x="8036719" y="342900"/>
            <a:ext cx="715200" cy="138000"/>
          </a:xfrm>
          <a:prstGeom prst="rect">
            <a:avLst/>
          </a:prstGeom>
          <a:noFill/>
          <a:ln>
            <a:noFill/>
          </a:ln>
        </p:spPr>
        <p:txBody>
          <a:bodyPr anchorCtr="0" anchor="t" bIns="12700" lIns="12700" spcFirstLastPara="1" rIns="12700" wrap="square" tIns="12700">
            <a:noAutofit/>
          </a:bodyPr>
          <a:lstStyle/>
          <a:p>
            <a:pPr indent="0" lvl="0" marL="0" marR="0" rtl="0" algn="l">
              <a:lnSpc>
                <a:spcPct val="76220"/>
              </a:lnSpc>
              <a:spcBef>
                <a:spcPts val="0"/>
              </a:spcBef>
              <a:spcAft>
                <a:spcPts val="0"/>
              </a:spcAft>
              <a:buClr>
                <a:srgbClr val="6B7280"/>
              </a:buClr>
              <a:buSzPts val="900"/>
              <a:buFont typeface="JetBrains Mono"/>
              <a:buNone/>
            </a:pPr>
            <a:r>
              <a:t/>
            </a:r>
            <a:endParaRPr b="0" i="0" sz="900" u="none" cap="none" strike="noStrike">
              <a:solidFill>
                <a:schemeClr val="dk1"/>
              </a:solidFill>
              <a:latin typeface="Calibri"/>
              <a:ea typeface="Calibri"/>
              <a:cs typeface="Calibri"/>
              <a:sym typeface="Calibri"/>
            </a:endParaRPr>
          </a:p>
        </p:txBody>
      </p:sp>
      <p:sp>
        <p:nvSpPr>
          <p:cNvPr id="526" name="Google Shape;526;p29"/>
          <p:cNvSpPr/>
          <p:nvPr/>
        </p:nvSpPr>
        <p:spPr>
          <a:xfrm>
            <a:off x="457200" y="595313"/>
            <a:ext cx="9052500" cy="381000"/>
          </a:xfrm>
          <a:prstGeom prst="rect">
            <a:avLst/>
          </a:prstGeom>
          <a:noFill/>
          <a:ln>
            <a:noFill/>
          </a:ln>
        </p:spPr>
        <p:txBody>
          <a:bodyPr anchorCtr="0" anchor="t" bIns="12700" lIns="12700" spcFirstLastPara="1" rIns="12700" wrap="square" tIns="12700">
            <a:noAutofit/>
          </a:bodyPr>
          <a:lstStyle/>
          <a:p>
            <a:pPr indent="0" lvl="0" marL="0" marR="0" rtl="0" algn="l">
              <a:lnSpc>
                <a:spcPct val="82609"/>
              </a:lnSpc>
              <a:spcBef>
                <a:spcPts val="0"/>
              </a:spcBef>
              <a:spcAft>
                <a:spcPts val="0"/>
              </a:spcAft>
              <a:buClr>
                <a:srgbClr val="FFFFFF"/>
              </a:buClr>
              <a:buSzPts val="2900"/>
              <a:buFont typeface="Inter"/>
              <a:buNone/>
            </a:pPr>
            <a:r>
              <a:rPr b="1" i="0" lang="en" sz="2900" u="none" cap="none" strike="noStrike">
                <a:solidFill>
                  <a:srgbClr val="FFFFFF"/>
                </a:solidFill>
                <a:latin typeface="Inter"/>
                <a:ea typeface="Inter"/>
                <a:cs typeface="Inter"/>
                <a:sym typeface="Inter"/>
              </a:rPr>
              <a:t>MeetIQ — shipped and live</a:t>
            </a:r>
            <a:endParaRPr b="0" i="0" sz="2900" u="none" cap="none" strike="noStrike">
              <a:solidFill>
                <a:schemeClr val="dk1"/>
              </a:solidFill>
              <a:latin typeface="Calibri"/>
              <a:ea typeface="Calibri"/>
              <a:cs typeface="Calibri"/>
              <a:sym typeface="Calibri"/>
            </a:endParaRPr>
          </a:p>
        </p:txBody>
      </p:sp>
      <p:sp>
        <p:nvSpPr>
          <p:cNvPr id="527" name="Google Shape;527;p29"/>
          <p:cNvSpPr/>
          <p:nvPr/>
        </p:nvSpPr>
        <p:spPr>
          <a:xfrm>
            <a:off x="457200" y="1166813"/>
            <a:ext cx="8229600" cy="4800"/>
          </a:xfrm>
          <a:prstGeom prst="rect">
            <a:avLst/>
          </a:prstGeom>
          <a:solidFill>
            <a:srgbClr val="2E2E4A"/>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29"/>
          <p:cNvSpPr/>
          <p:nvPr/>
        </p:nvSpPr>
        <p:spPr>
          <a:xfrm>
            <a:off x="457200" y="1553766"/>
            <a:ext cx="8229600" cy="4800"/>
          </a:xfrm>
          <a:prstGeom prst="rect">
            <a:avLst/>
          </a:prstGeom>
          <a:solidFill>
            <a:srgbClr val="2E2E4A"/>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29"/>
          <p:cNvSpPr/>
          <p:nvPr/>
        </p:nvSpPr>
        <p:spPr>
          <a:xfrm>
            <a:off x="457200" y="1287899"/>
            <a:ext cx="148500" cy="148500"/>
          </a:xfrm>
          <a:prstGeom prst="rect">
            <a:avLst/>
          </a:prstGeom>
          <a:noFill/>
          <a:ln cap="flat" cmpd="sng" w="15225">
            <a:solidFill>
              <a:srgbClr val="7C3AED"/>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1125"/>
              </a:spcAft>
              <a:buClr>
                <a:schemeClr val="dk1"/>
              </a:buClr>
              <a:buSzPts val="1100"/>
              <a:buFont typeface="Arial"/>
              <a:buNone/>
            </a:pPr>
            <a:r>
              <a:rPr b="0" i="0" lang="en" sz="800" u="none" cap="none" strike="noStrike">
                <a:solidFill>
                  <a:srgbClr val="FAFAFC"/>
                </a:solidFill>
                <a:latin typeface="Arial"/>
                <a:ea typeface="Arial"/>
                <a:cs typeface="Arial"/>
                <a:sym typeface="Arial"/>
              </a:rPr>
              <a:t>✔</a:t>
            </a:r>
            <a:endParaRPr b="0" i="0" sz="1400" u="none" cap="none" strike="noStrike">
              <a:solidFill>
                <a:srgbClr val="FAFAFC"/>
              </a:solidFill>
              <a:latin typeface="Arial"/>
              <a:ea typeface="Arial"/>
              <a:cs typeface="Arial"/>
              <a:sym typeface="Arial"/>
            </a:endParaRPr>
          </a:p>
        </p:txBody>
      </p:sp>
      <p:sp>
        <p:nvSpPr>
          <p:cNvPr id="530" name="Google Shape;530;p29"/>
          <p:cNvSpPr/>
          <p:nvPr/>
        </p:nvSpPr>
        <p:spPr>
          <a:xfrm>
            <a:off x="729627" y="1275400"/>
            <a:ext cx="5242500" cy="192600"/>
          </a:xfrm>
          <a:prstGeom prst="rect">
            <a:avLst/>
          </a:prstGeom>
          <a:noFill/>
          <a:ln>
            <a:noFill/>
          </a:ln>
        </p:spPr>
        <p:txBody>
          <a:bodyPr anchorCtr="0" anchor="t" bIns="12700" lIns="12700" spcFirstLastPara="1" rIns="12700" wrap="square" tIns="12700">
            <a:noAutofit/>
          </a:bodyPr>
          <a:lstStyle/>
          <a:p>
            <a:pPr indent="0" lvl="0" marL="0" marR="0" rtl="0" algn="l">
              <a:lnSpc>
                <a:spcPct val="111128"/>
              </a:lnSpc>
              <a:spcBef>
                <a:spcPts val="0"/>
              </a:spcBef>
              <a:spcAft>
                <a:spcPts val="0"/>
              </a:spcAft>
              <a:buClr>
                <a:srgbClr val="EDE9FE"/>
              </a:buClr>
              <a:buSzPts val="1000"/>
              <a:buFont typeface="Inter"/>
              <a:buNone/>
            </a:pPr>
            <a:r>
              <a:rPr lang="en" sz="1000">
                <a:solidFill>
                  <a:srgbClr val="EDE9FE"/>
                </a:solidFill>
                <a:latin typeface="Inter"/>
                <a:ea typeface="Inter"/>
                <a:cs typeface="Inter"/>
                <a:sym typeface="Inter"/>
              </a:rPr>
              <a:t>5 screens, 2 LLM calls, no custom backend — deployed and publicly accessible</a:t>
            </a:r>
            <a:endParaRPr b="0" i="0" sz="1000" u="none" cap="none" strike="noStrike">
              <a:solidFill>
                <a:schemeClr val="dk1"/>
              </a:solidFill>
              <a:latin typeface="Calibri"/>
              <a:ea typeface="Calibri"/>
              <a:cs typeface="Calibri"/>
              <a:sym typeface="Calibri"/>
            </a:endParaRPr>
          </a:p>
        </p:txBody>
      </p:sp>
      <p:sp>
        <p:nvSpPr>
          <p:cNvPr id="531" name="Google Shape;531;p29"/>
          <p:cNvSpPr/>
          <p:nvPr/>
        </p:nvSpPr>
        <p:spPr>
          <a:xfrm>
            <a:off x="457200" y="1940719"/>
            <a:ext cx="8229600" cy="4800"/>
          </a:xfrm>
          <a:prstGeom prst="rect">
            <a:avLst/>
          </a:prstGeom>
          <a:solidFill>
            <a:srgbClr val="2E2E4A"/>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29"/>
          <p:cNvSpPr/>
          <p:nvPr/>
        </p:nvSpPr>
        <p:spPr>
          <a:xfrm>
            <a:off x="457200" y="1674853"/>
            <a:ext cx="148500" cy="148500"/>
          </a:xfrm>
          <a:prstGeom prst="rect">
            <a:avLst/>
          </a:prstGeom>
          <a:noFill/>
          <a:ln cap="flat" cmpd="sng" w="15225">
            <a:solidFill>
              <a:srgbClr val="7C3AED"/>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1125"/>
              </a:spcAft>
              <a:buClr>
                <a:schemeClr val="dk1"/>
              </a:buClr>
              <a:buSzPts val="1100"/>
              <a:buFont typeface="Arial"/>
              <a:buNone/>
            </a:pPr>
            <a:r>
              <a:rPr b="0" i="0" lang="en" sz="800" u="none" cap="none" strike="noStrike">
                <a:solidFill>
                  <a:srgbClr val="FAFAFC"/>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33" name="Google Shape;533;p29"/>
          <p:cNvSpPr/>
          <p:nvPr/>
        </p:nvSpPr>
        <p:spPr>
          <a:xfrm>
            <a:off x="729615" y="1662351"/>
            <a:ext cx="4083300" cy="192600"/>
          </a:xfrm>
          <a:prstGeom prst="rect">
            <a:avLst/>
          </a:prstGeom>
          <a:noFill/>
          <a:ln>
            <a:noFill/>
          </a:ln>
        </p:spPr>
        <p:txBody>
          <a:bodyPr anchorCtr="0" anchor="t" bIns="12700" lIns="12700" spcFirstLastPara="1" rIns="12700" wrap="square" tIns="12700">
            <a:noAutofit/>
          </a:bodyPr>
          <a:lstStyle/>
          <a:p>
            <a:pPr indent="0" lvl="0" marL="0" marR="0" rtl="0" algn="l">
              <a:lnSpc>
                <a:spcPct val="111128"/>
              </a:lnSpc>
              <a:spcBef>
                <a:spcPts val="0"/>
              </a:spcBef>
              <a:spcAft>
                <a:spcPts val="0"/>
              </a:spcAft>
              <a:buClr>
                <a:srgbClr val="EDE9FE"/>
              </a:buClr>
              <a:buSzPts val="1000"/>
              <a:buFont typeface="Inter"/>
              <a:buNone/>
            </a:pPr>
            <a:r>
              <a:rPr b="0" i="0" lang="en" sz="1000" u="none" cap="none" strike="noStrike">
                <a:solidFill>
                  <a:srgbClr val="EDE9FE"/>
                </a:solidFill>
                <a:latin typeface="Inter"/>
                <a:ea typeface="Inter"/>
                <a:cs typeface="Inter"/>
                <a:sym typeface="Inter"/>
              </a:rPr>
              <a:t>AI holes identified before a single line of code was written</a:t>
            </a:r>
            <a:endParaRPr b="0" i="0" sz="1000" u="none" cap="none" strike="noStrike">
              <a:solidFill>
                <a:schemeClr val="dk1"/>
              </a:solidFill>
              <a:latin typeface="Calibri"/>
              <a:ea typeface="Calibri"/>
              <a:cs typeface="Calibri"/>
              <a:sym typeface="Calibri"/>
            </a:endParaRPr>
          </a:p>
        </p:txBody>
      </p:sp>
      <p:sp>
        <p:nvSpPr>
          <p:cNvPr id="534" name="Google Shape;534;p29"/>
          <p:cNvSpPr/>
          <p:nvPr/>
        </p:nvSpPr>
        <p:spPr>
          <a:xfrm>
            <a:off x="457200" y="2327672"/>
            <a:ext cx="8229600" cy="4800"/>
          </a:xfrm>
          <a:prstGeom prst="rect">
            <a:avLst/>
          </a:prstGeom>
          <a:solidFill>
            <a:srgbClr val="2E2E4A"/>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29"/>
          <p:cNvSpPr/>
          <p:nvPr/>
        </p:nvSpPr>
        <p:spPr>
          <a:xfrm>
            <a:off x="457200" y="2061806"/>
            <a:ext cx="148500" cy="148500"/>
          </a:xfrm>
          <a:prstGeom prst="rect">
            <a:avLst/>
          </a:prstGeom>
          <a:noFill/>
          <a:ln cap="flat" cmpd="sng" w="15225">
            <a:solidFill>
              <a:srgbClr val="7C3AED"/>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1125"/>
              </a:spcAft>
              <a:buClr>
                <a:schemeClr val="dk1"/>
              </a:buClr>
              <a:buSzPts val="1100"/>
              <a:buFont typeface="Arial"/>
              <a:buNone/>
            </a:pPr>
            <a:r>
              <a:rPr b="0" i="0" lang="en" sz="800" u="none" cap="none" strike="noStrike">
                <a:solidFill>
                  <a:srgbClr val="FAFAFC"/>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36" name="Google Shape;536;p29"/>
          <p:cNvSpPr/>
          <p:nvPr/>
        </p:nvSpPr>
        <p:spPr>
          <a:xfrm>
            <a:off x="729631" y="2049300"/>
            <a:ext cx="4706700" cy="192600"/>
          </a:xfrm>
          <a:prstGeom prst="rect">
            <a:avLst/>
          </a:prstGeom>
          <a:noFill/>
          <a:ln>
            <a:noFill/>
          </a:ln>
        </p:spPr>
        <p:txBody>
          <a:bodyPr anchorCtr="0" anchor="t" bIns="12700" lIns="12700" spcFirstLastPara="1" rIns="12700" wrap="square" tIns="12700">
            <a:noAutofit/>
          </a:bodyPr>
          <a:lstStyle/>
          <a:p>
            <a:pPr indent="0" lvl="0" marL="0" marR="0" rtl="0" algn="l">
              <a:lnSpc>
                <a:spcPct val="111128"/>
              </a:lnSpc>
              <a:spcBef>
                <a:spcPts val="0"/>
              </a:spcBef>
              <a:spcAft>
                <a:spcPts val="0"/>
              </a:spcAft>
              <a:buClr>
                <a:srgbClr val="EDE9FE"/>
              </a:buClr>
              <a:buSzPts val="1000"/>
              <a:buFont typeface="Inter"/>
              <a:buNone/>
            </a:pPr>
            <a:r>
              <a:rPr b="0" i="0" lang="en" sz="1000" u="none" cap="none" strike="noStrike">
                <a:solidFill>
                  <a:srgbClr val="EDE9FE"/>
                </a:solidFill>
                <a:latin typeface="Inter"/>
                <a:ea typeface="Inter"/>
                <a:cs typeface="Inter"/>
                <a:sym typeface="Inter"/>
              </a:rPr>
              <a:t>8-block system prompts fully specified for both Extract and Converse calls</a:t>
            </a:r>
            <a:endParaRPr b="0" i="0" sz="1000" u="none" cap="none" strike="noStrike">
              <a:solidFill>
                <a:schemeClr val="dk1"/>
              </a:solidFill>
              <a:latin typeface="Calibri"/>
              <a:ea typeface="Calibri"/>
              <a:cs typeface="Calibri"/>
              <a:sym typeface="Calibri"/>
            </a:endParaRPr>
          </a:p>
        </p:txBody>
      </p:sp>
      <p:sp>
        <p:nvSpPr>
          <p:cNvPr id="537" name="Google Shape;537;p29"/>
          <p:cNvSpPr/>
          <p:nvPr/>
        </p:nvSpPr>
        <p:spPr>
          <a:xfrm>
            <a:off x="457200" y="2714625"/>
            <a:ext cx="8229600" cy="4800"/>
          </a:xfrm>
          <a:prstGeom prst="rect">
            <a:avLst/>
          </a:prstGeom>
          <a:solidFill>
            <a:srgbClr val="2E2E4A"/>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29"/>
          <p:cNvSpPr/>
          <p:nvPr/>
        </p:nvSpPr>
        <p:spPr>
          <a:xfrm>
            <a:off x="457200" y="2448759"/>
            <a:ext cx="148500" cy="148500"/>
          </a:xfrm>
          <a:prstGeom prst="rect">
            <a:avLst/>
          </a:prstGeom>
          <a:noFill/>
          <a:ln cap="flat" cmpd="sng" w="15225">
            <a:solidFill>
              <a:srgbClr val="7C3AED"/>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1125"/>
              </a:spcAft>
              <a:buClr>
                <a:schemeClr val="dk1"/>
              </a:buClr>
              <a:buSzPts val="1100"/>
              <a:buFont typeface="Arial"/>
              <a:buNone/>
            </a:pPr>
            <a:r>
              <a:rPr b="0" i="0" lang="en" sz="800" u="none" cap="none" strike="noStrike">
                <a:solidFill>
                  <a:srgbClr val="FAFAFC"/>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39" name="Google Shape;539;p29"/>
          <p:cNvSpPr/>
          <p:nvPr/>
        </p:nvSpPr>
        <p:spPr>
          <a:xfrm>
            <a:off x="729628" y="2436250"/>
            <a:ext cx="4985100" cy="192600"/>
          </a:xfrm>
          <a:prstGeom prst="rect">
            <a:avLst/>
          </a:prstGeom>
          <a:noFill/>
          <a:ln>
            <a:noFill/>
          </a:ln>
        </p:spPr>
        <p:txBody>
          <a:bodyPr anchorCtr="0" anchor="t" bIns="12700" lIns="12700" spcFirstLastPara="1" rIns="12700" wrap="square" tIns="12700">
            <a:noAutofit/>
          </a:bodyPr>
          <a:lstStyle/>
          <a:p>
            <a:pPr indent="0" lvl="0" marL="0" marR="0" rtl="0" algn="l">
              <a:lnSpc>
                <a:spcPct val="111128"/>
              </a:lnSpc>
              <a:spcBef>
                <a:spcPts val="0"/>
              </a:spcBef>
              <a:spcAft>
                <a:spcPts val="0"/>
              </a:spcAft>
              <a:buClr>
                <a:srgbClr val="EDE9FE"/>
              </a:buClr>
              <a:buSzPts val="1000"/>
              <a:buFont typeface="Inter"/>
              <a:buNone/>
            </a:pPr>
            <a:r>
              <a:rPr b="0" i="0" lang="en" sz="1000" u="none" cap="none" strike="noStrike">
                <a:solidFill>
                  <a:srgbClr val="EDE9FE"/>
                </a:solidFill>
                <a:latin typeface="Inter"/>
                <a:ea typeface="Inter"/>
                <a:cs typeface="Inter"/>
                <a:sym typeface="Inter"/>
              </a:rPr>
              <a:t>48 of 50 Lovable credits used — most went to the Accountability Board and PDF</a:t>
            </a:r>
            <a:endParaRPr b="0" i="0" sz="1000" u="none" cap="none" strike="noStrike">
              <a:solidFill>
                <a:schemeClr val="dk1"/>
              </a:solidFill>
              <a:latin typeface="Calibri"/>
              <a:ea typeface="Calibri"/>
              <a:cs typeface="Calibri"/>
              <a:sym typeface="Calibri"/>
            </a:endParaRPr>
          </a:p>
        </p:txBody>
      </p:sp>
      <p:sp>
        <p:nvSpPr>
          <p:cNvPr id="540" name="Google Shape;540;p29"/>
          <p:cNvSpPr/>
          <p:nvPr/>
        </p:nvSpPr>
        <p:spPr>
          <a:xfrm>
            <a:off x="457200" y="3101578"/>
            <a:ext cx="8229600" cy="4800"/>
          </a:xfrm>
          <a:prstGeom prst="rect">
            <a:avLst/>
          </a:prstGeom>
          <a:solidFill>
            <a:srgbClr val="2E2E4A"/>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29"/>
          <p:cNvSpPr/>
          <p:nvPr/>
        </p:nvSpPr>
        <p:spPr>
          <a:xfrm>
            <a:off x="457200" y="2835712"/>
            <a:ext cx="148500" cy="148500"/>
          </a:xfrm>
          <a:prstGeom prst="rect">
            <a:avLst/>
          </a:prstGeom>
          <a:noFill/>
          <a:ln cap="flat" cmpd="sng" w="15225">
            <a:solidFill>
              <a:srgbClr val="7C3AED"/>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1125"/>
              </a:spcAft>
              <a:buClr>
                <a:schemeClr val="dk1"/>
              </a:buClr>
              <a:buSzPts val="1100"/>
              <a:buFont typeface="Arial"/>
              <a:buNone/>
            </a:pPr>
            <a:r>
              <a:rPr b="0" i="0" lang="en" sz="800" u="none" cap="none" strike="noStrike">
                <a:solidFill>
                  <a:srgbClr val="FAFAFC"/>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42" name="Google Shape;542;p29"/>
          <p:cNvSpPr/>
          <p:nvPr/>
        </p:nvSpPr>
        <p:spPr>
          <a:xfrm>
            <a:off x="729615" y="2823210"/>
            <a:ext cx="4624800" cy="192600"/>
          </a:xfrm>
          <a:prstGeom prst="rect">
            <a:avLst/>
          </a:prstGeom>
          <a:noFill/>
          <a:ln>
            <a:noFill/>
          </a:ln>
        </p:spPr>
        <p:txBody>
          <a:bodyPr anchorCtr="0" anchor="t" bIns="12700" lIns="12700" spcFirstLastPara="1" rIns="12700" wrap="square" tIns="12700">
            <a:noAutofit/>
          </a:bodyPr>
          <a:lstStyle/>
          <a:p>
            <a:pPr indent="0" lvl="0" marL="0" marR="0" rtl="0" algn="l">
              <a:lnSpc>
                <a:spcPct val="111128"/>
              </a:lnSpc>
              <a:spcBef>
                <a:spcPts val="0"/>
              </a:spcBef>
              <a:spcAft>
                <a:spcPts val="0"/>
              </a:spcAft>
              <a:buClr>
                <a:srgbClr val="EDE9FE"/>
              </a:buClr>
              <a:buSzPts val="1000"/>
              <a:buFont typeface="Inter"/>
              <a:buNone/>
            </a:pPr>
            <a:r>
              <a:rPr b="0" i="0" lang="en" sz="1000" u="none" cap="none" strike="noStrike">
                <a:solidFill>
                  <a:srgbClr val="EDE9FE"/>
                </a:solidFill>
                <a:latin typeface="Inter"/>
                <a:ea typeface="Inter"/>
                <a:cs typeface="Inter"/>
                <a:sym typeface="Inter"/>
              </a:rPr>
              <a:t>Judge + Generate holes identified and roadmapped for the next iteration</a:t>
            </a:r>
            <a:endParaRPr b="0" i="0" sz="1000" u="none" cap="none" strike="noStrike">
              <a:solidFill>
                <a:schemeClr val="dk1"/>
              </a:solidFill>
              <a:latin typeface="Calibri"/>
              <a:ea typeface="Calibri"/>
              <a:cs typeface="Calibri"/>
              <a:sym typeface="Calibri"/>
            </a:endParaRPr>
          </a:p>
        </p:txBody>
      </p:sp>
      <p:sp>
        <p:nvSpPr>
          <p:cNvPr id="543" name="Google Shape;543;p29"/>
          <p:cNvSpPr/>
          <p:nvPr/>
        </p:nvSpPr>
        <p:spPr>
          <a:xfrm>
            <a:off x="457200" y="3488531"/>
            <a:ext cx="8229600" cy="4800"/>
          </a:xfrm>
          <a:prstGeom prst="rect">
            <a:avLst/>
          </a:prstGeom>
          <a:solidFill>
            <a:srgbClr val="2E2E4A"/>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29"/>
          <p:cNvSpPr/>
          <p:nvPr/>
        </p:nvSpPr>
        <p:spPr>
          <a:xfrm>
            <a:off x="457200" y="3222665"/>
            <a:ext cx="148500" cy="148500"/>
          </a:xfrm>
          <a:prstGeom prst="rect">
            <a:avLst/>
          </a:prstGeom>
          <a:noFill/>
          <a:ln cap="flat" cmpd="sng" w="15225">
            <a:solidFill>
              <a:srgbClr val="7C3AED"/>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1125"/>
              </a:spcAft>
              <a:buClr>
                <a:schemeClr val="dk1"/>
              </a:buClr>
              <a:buSzPts val="1100"/>
              <a:buFont typeface="Arial"/>
              <a:buNone/>
            </a:pPr>
            <a:r>
              <a:rPr b="0" i="0" lang="en" sz="800" u="none" cap="none" strike="noStrike">
                <a:solidFill>
                  <a:srgbClr val="FAFAFC"/>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45" name="Google Shape;545;p29"/>
          <p:cNvSpPr/>
          <p:nvPr/>
        </p:nvSpPr>
        <p:spPr>
          <a:xfrm>
            <a:off x="729630" y="3210175"/>
            <a:ext cx="5242500" cy="192600"/>
          </a:xfrm>
          <a:prstGeom prst="rect">
            <a:avLst/>
          </a:prstGeom>
          <a:noFill/>
          <a:ln>
            <a:noFill/>
          </a:ln>
        </p:spPr>
        <p:txBody>
          <a:bodyPr anchorCtr="0" anchor="t" bIns="12700" lIns="12700" spcFirstLastPara="1" rIns="12700" wrap="square" tIns="12700">
            <a:noAutofit/>
          </a:bodyPr>
          <a:lstStyle/>
          <a:p>
            <a:pPr indent="0" lvl="0" marL="0" marR="0" rtl="0" algn="l">
              <a:lnSpc>
                <a:spcPct val="111128"/>
              </a:lnSpc>
              <a:spcBef>
                <a:spcPts val="0"/>
              </a:spcBef>
              <a:spcAft>
                <a:spcPts val="0"/>
              </a:spcAft>
              <a:buClr>
                <a:srgbClr val="EDE9FE"/>
              </a:buClr>
              <a:buSzPts val="1000"/>
              <a:buFont typeface="Inter"/>
              <a:buNone/>
            </a:pPr>
            <a:r>
              <a:rPr lang="en" sz="1000" u="sng">
                <a:solidFill>
                  <a:schemeClr val="hlink"/>
                </a:solidFill>
                <a:latin typeface="Inter"/>
                <a:ea typeface="Inter"/>
                <a:cs typeface="Inter"/>
                <a:sym typeface="Inter"/>
                <a:hlinkClick r:id="rId3"/>
              </a:rPr>
              <a:t>https://meetiq-summary-buddy.lovable.app/</a:t>
            </a:r>
            <a:r>
              <a:rPr b="0" i="0" lang="en" sz="1000" u="sng" cap="none" strike="noStrike">
                <a:solidFill>
                  <a:schemeClr val="hlink"/>
                </a:solidFill>
                <a:latin typeface="Inter"/>
                <a:ea typeface="Inter"/>
                <a:cs typeface="Inter"/>
                <a:sym typeface="Inter"/>
                <a:hlinkClick r:id="rId4"/>
              </a:rPr>
              <a:t> </a:t>
            </a:r>
            <a:r>
              <a:rPr b="0" i="0" lang="en" sz="1000" u="none" cap="none" strike="noStrike">
                <a:solidFill>
                  <a:srgbClr val="EDE9FE"/>
                </a:solidFill>
                <a:latin typeface="Inter"/>
                <a:ea typeface="Inter"/>
                <a:cs typeface="Inter"/>
                <a:sym typeface="Inter"/>
              </a:rPr>
              <a:t>— open now, no login required</a:t>
            </a:r>
            <a:endParaRPr b="0" i="0" sz="1000" u="none" cap="none" strike="noStrike">
              <a:solidFill>
                <a:schemeClr val="dk1"/>
              </a:solidFill>
              <a:latin typeface="Calibri"/>
              <a:ea typeface="Calibri"/>
              <a:cs typeface="Calibri"/>
              <a:sym typeface="Calibri"/>
            </a:endParaRPr>
          </a:p>
        </p:txBody>
      </p:sp>
      <p:sp>
        <p:nvSpPr>
          <p:cNvPr id="546" name="Google Shape;546;p29"/>
          <p:cNvSpPr/>
          <p:nvPr/>
        </p:nvSpPr>
        <p:spPr>
          <a:xfrm>
            <a:off x="457200" y="4676775"/>
            <a:ext cx="716100" cy="142800"/>
          </a:xfrm>
          <a:prstGeom prst="rect">
            <a:avLst/>
          </a:prstGeom>
          <a:noFill/>
          <a:ln>
            <a:noFill/>
          </a:ln>
        </p:spPr>
        <p:txBody>
          <a:bodyPr anchorCtr="0" anchor="t" bIns="12700" lIns="12700" spcFirstLastPara="1" rIns="12700" wrap="square" tIns="12700">
            <a:noAutofit/>
          </a:bodyPr>
          <a:lstStyle/>
          <a:p>
            <a:pPr indent="0" lvl="0" marL="0" marR="0" rtl="0" algn="l">
              <a:lnSpc>
                <a:spcPct val="83333"/>
              </a:lnSpc>
              <a:spcBef>
                <a:spcPts val="0"/>
              </a:spcBef>
              <a:spcAft>
                <a:spcPts val="0"/>
              </a:spcAft>
              <a:buClr>
                <a:srgbClr val="C4B5FD"/>
              </a:buClr>
              <a:buSzPts val="1000"/>
              <a:buFont typeface="Inter"/>
              <a:buNone/>
            </a:pPr>
            <a:r>
              <a:rPr b="1" i="0" lang="en" sz="1000" u="none" cap="none" strike="noStrike">
                <a:solidFill>
                  <a:srgbClr val="C4B5FD"/>
                </a:solidFill>
                <a:latin typeface="Inter"/>
                <a:ea typeface="Inter"/>
                <a:cs typeface="Inter"/>
                <a:sym typeface="Inter"/>
              </a:rPr>
              <a:t>MeetIQ</a:t>
            </a:r>
            <a:endParaRPr b="0" i="0" sz="1000" u="none" cap="none" strike="noStrike">
              <a:solidFill>
                <a:schemeClr val="dk1"/>
              </a:solidFill>
              <a:latin typeface="Calibri"/>
              <a:ea typeface="Calibri"/>
              <a:cs typeface="Calibri"/>
              <a:sym typeface="Calibri"/>
            </a:endParaRPr>
          </a:p>
        </p:txBody>
      </p:sp>
      <p:sp>
        <p:nvSpPr>
          <p:cNvPr id="547" name="Google Shape;547;p29"/>
          <p:cNvSpPr/>
          <p:nvPr/>
        </p:nvSpPr>
        <p:spPr>
          <a:xfrm>
            <a:off x="5972175" y="4681538"/>
            <a:ext cx="2986200" cy="138000"/>
          </a:xfrm>
          <a:prstGeom prst="rect">
            <a:avLst/>
          </a:prstGeom>
          <a:noFill/>
          <a:ln>
            <a:noFill/>
          </a:ln>
        </p:spPr>
        <p:txBody>
          <a:bodyPr anchorCtr="0" anchor="t" bIns="12700" lIns="12700" spcFirstLastPara="1" rIns="12700" wrap="square" tIns="12700">
            <a:noAutofit/>
          </a:bodyPr>
          <a:lstStyle/>
          <a:p>
            <a:pPr indent="0" lvl="0" marL="0" marR="0" rtl="0" algn="l">
              <a:lnSpc>
                <a:spcPct val="76220"/>
              </a:lnSpc>
              <a:spcBef>
                <a:spcPts val="0"/>
              </a:spcBef>
              <a:spcAft>
                <a:spcPts val="0"/>
              </a:spcAft>
              <a:buClr>
                <a:srgbClr val="6B7280"/>
              </a:buClr>
              <a:buSzPts val="900"/>
              <a:buFont typeface="JetBrains Mono"/>
              <a:buNone/>
            </a:pPr>
            <a:r>
              <a:rPr lang="en" sz="900" u="sng">
                <a:solidFill>
                  <a:schemeClr val="hlink"/>
                </a:solidFill>
                <a:latin typeface="JetBrains Mono"/>
                <a:ea typeface="JetBrains Mono"/>
                <a:cs typeface="JetBrains Mono"/>
                <a:sym typeface="JetBrains Mono"/>
                <a:hlinkClick r:id="rId5"/>
              </a:rPr>
              <a:t>https://meetiq-summary-buddy.lovable.app/</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